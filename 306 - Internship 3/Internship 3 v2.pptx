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76" r:id="rId26"/>
    <p:sldId id="267" r:id="rId17"/>
    <p:sldId id="258" r:id="rId8"/>
    <p:sldId id="270" r:id="rId20"/>
    <p:sldId id="268" r:id="rId18"/>
    <p:sldId id="260" r:id="rId10"/>
    <p:sldId id="272" r:id="rId22"/>
    <p:sldId id="269" r:id="rId19"/>
    <p:sldId id="263" r:id="rId13"/>
    <p:sldId id="271" r:id="rId21"/>
    <p:sldId id="273" r:id="rId23"/>
    <p:sldId id="265" r:id="rId15"/>
  </p:sldIdLst>
  <p:sldSz cx="18288000" cy="10287000"/>
  <p:notesSz cx="6858000" cy="9144000"/>
  <p:embeddedFontLst>
    <p:embeddedFont>
      <p:font typeface="Cormorant Garamond Bold" charset="1" panose="00000800000000000000"/>
      <p:regular r:id="rId28"/>
    </p:embeddedFont>
    <p:embeddedFont>
      <p:font typeface="DM Sans Italics" charset="1" panose="00000000000000000000"/>
      <p:regular r:id="rId29"/>
    </p:embeddedFont>
    <p:embeddedFont>
      <p:font typeface="DM Sans Bold" charset="1" panose="00000000000000000000"/>
      <p:regular r:id="rId30"/>
    </p:embeddedFont>
    <p:embeddedFont>
      <p:font typeface="DM Sans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8" Type="http://schemas.openxmlformats.org/officeDocument/2006/relationships/slide" Target="slides/slide4.xml"/><Relationship Id="rId10" Type="http://schemas.openxmlformats.org/officeDocument/2006/relationships/slide" Target="slides/slide7.xml"/><Relationship Id="rId13" Type="http://schemas.openxmlformats.org/officeDocument/2006/relationships/slide" Target="slides/slide10.xml"/><Relationship Id="rId15" Type="http://schemas.openxmlformats.org/officeDocument/2006/relationships/slide" Target="slides/slide13.xml"/><Relationship Id="rId17" Type="http://schemas.openxmlformats.org/officeDocument/2006/relationships/slide" Target="slides/slide3.xml"/><Relationship Id="rId18" Type="http://schemas.openxmlformats.org/officeDocument/2006/relationships/slide" Target="slides/slide6.xml"/><Relationship Id="rId19" Type="http://schemas.openxmlformats.org/officeDocument/2006/relationships/slide" Target="slides/slide9.xml"/><Relationship Id="rId20" Type="http://schemas.openxmlformats.org/officeDocument/2006/relationships/slide" Target="slides/slide5.xml"/><Relationship Id="rId21" Type="http://schemas.openxmlformats.org/officeDocument/2006/relationships/slide" Target="slides/slide11.xml"/><Relationship Id="rId22" Type="http://schemas.openxmlformats.org/officeDocument/2006/relationships/slide" Target="slides/slide8.xml"/><Relationship Id="rId23" Type="http://schemas.openxmlformats.org/officeDocument/2006/relationships/slide" Target="slides/slide12.xml"/><Relationship Id="rId26" Type="http://schemas.openxmlformats.org/officeDocument/2006/relationships/slide" Target="slides/slide2.xml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Relationship Id="rId31" Type="http://schemas.openxmlformats.org/officeDocument/2006/relationships/font" Target="fonts/font3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15.png"/><Relationship Id="rId11" Type="http://schemas.openxmlformats.org/officeDocument/2006/relationships/image" Target="../media/image16.svg"/><Relationship Id="rId12" Type="http://schemas.openxmlformats.org/officeDocument/2006/relationships/image" Target="../media/image49.png"/><Relationship Id="rId13" Type="http://schemas.openxmlformats.org/officeDocument/2006/relationships/image" Target="../media/image50.svg"/><Relationship Id="rId14" Type="http://schemas.openxmlformats.org/officeDocument/2006/relationships/image" Target="../media/image51.png"/><Relationship Id="rId15" Type="http://schemas.openxmlformats.org/officeDocument/2006/relationships/image" Target="../media/image52.svg"/><Relationship Id="rId16" Type="http://schemas.openxmlformats.org/officeDocument/2006/relationships/image" Target="../media/image53.png"/><Relationship Id="rId17" Type="http://schemas.openxmlformats.org/officeDocument/2006/relationships/image" Target="../media/image54.svg"/><Relationship Id="rId18" Type="http://schemas.openxmlformats.org/officeDocument/2006/relationships/image" Target="../media/image55.png"/><Relationship Id="rId19" Type="http://schemas.openxmlformats.org/officeDocument/2006/relationships/image" Target="../media/image5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15.png"/><Relationship Id="rId9" Type="http://schemas.openxmlformats.org/officeDocument/2006/relationships/image" Target="../media/image16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19.png"/><Relationship Id="rId9" Type="http://schemas.openxmlformats.org/officeDocument/2006/relationships/image" Target="../media/image20.svg"/><Relationship Id="rId10" Type="http://schemas.openxmlformats.org/officeDocument/2006/relationships/image" Target="../media/image15.png"/><Relationship Id="rId11" Type="http://schemas.openxmlformats.org/officeDocument/2006/relationships/image" Target="../media/image16.svg"/><Relationship Id="rId12" Type="http://schemas.openxmlformats.org/officeDocument/2006/relationships/image" Target="../media/image9.png"/><Relationship Id="rId13" Type="http://schemas.openxmlformats.org/officeDocument/2006/relationships/image" Target="../media/image10.svg"/><Relationship Id="rId14" Type="http://schemas.openxmlformats.org/officeDocument/2006/relationships/image" Target="../media/image21.png"/><Relationship Id="rId15" Type="http://schemas.openxmlformats.org/officeDocument/2006/relationships/image" Target="../media/image22.svg"/><Relationship Id="rId16" Type="http://schemas.openxmlformats.org/officeDocument/2006/relationships/image" Target="../media/image23.png"/><Relationship Id="rId17" Type="http://schemas.openxmlformats.org/officeDocument/2006/relationships/image" Target="../media/image24.svg"/><Relationship Id="rId18" Type="http://schemas.openxmlformats.org/officeDocument/2006/relationships/image" Target="../media/image25.png"/><Relationship Id="rId19" Type="http://schemas.openxmlformats.org/officeDocument/2006/relationships/image" Target="../media/image26.svg"/><Relationship Id="rId20" Type="http://schemas.openxmlformats.org/officeDocument/2006/relationships/image" Target="../media/image27.png"/><Relationship Id="rId21" Type="http://schemas.openxmlformats.org/officeDocument/2006/relationships/image" Target="../media/image28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15.png"/><Relationship Id="rId9" Type="http://schemas.openxmlformats.org/officeDocument/2006/relationships/image" Target="../media/image16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15.png"/><Relationship Id="rId9" Type="http://schemas.openxmlformats.org/officeDocument/2006/relationships/image" Target="../media/image16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29.png"/><Relationship Id="rId11" Type="http://schemas.openxmlformats.org/officeDocument/2006/relationships/image" Target="../media/image30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31.png"/><Relationship Id="rId5" Type="http://schemas.openxmlformats.org/officeDocument/2006/relationships/image" Target="../media/image32.svg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33.png"/><Relationship Id="rId11" Type="http://schemas.openxmlformats.org/officeDocument/2006/relationships/image" Target="../media/image34.svg"/><Relationship Id="rId12" Type="http://schemas.openxmlformats.org/officeDocument/2006/relationships/image" Target="../media/image35.png"/><Relationship Id="rId13" Type="http://schemas.openxmlformats.org/officeDocument/2006/relationships/image" Target="../media/image36.svg"/><Relationship Id="rId14" Type="http://schemas.openxmlformats.org/officeDocument/2006/relationships/image" Target="../media/image37.png"/><Relationship Id="rId15" Type="http://schemas.openxmlformats.org/officeDocument/2006/relationships/image" Target="../media/image38.svg"/><Relationship Id="rId16" Type="http://schemas.openxmlformats.org/officeDocument/2006/relationships/image" Target="../media/image39.png"/><Relationship Id="rId17" Type="http://schemas.openxmlformats.org/officeDocument/2006/relationships/image" Target="../media/image40.svg"/><Relationship Id="rId18" Type="http://schemas.openxmlformats.org/officeDocument/2006/relationships/image" Target="../media/image41.png"/><Relationship Id="rId19" Type="http://schemas.openxmlformats.org/officeDocument/2006/relationships/image" Target="../media/image42.svg"/><Relationship Id="rId20" Type="http://schemas.openxmlformats.org/officeDocument/2006/relationships/image" Target="../media/image43.png"/><Relationship Id="rId21" Type="http://schemas.openxmlformats.org/officeDocument/2006/relationships/image" Target="../media/image44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1303" y="6765879"/>
            <a:ext cx="7183644" cy="3905290"/>
          </a:xfrm>
          <a:custGeom>
            <a:avLst/>
            <a:gdLst/>
            <a:ahLst/>
            <a:cxnLst/>
            <a:rect r="r" b="b" t="t" l="l"/>
            <a:pathLst>
              <a:path h="3905290" w="7183644">
                <a:moveTo>
                  <a:pt x="0" y="0"/>
                </a:moveTo>
                <a:lnTo>
                  <a:pt x="7183644" y="0"/>
                </a:lnTo>
                <a:lnTo>
                  <a:pt x="7183644" y="3905290"/>
                </a:lnTo>
                <a:lnTo>
                  <a:pt x="0" y="3905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1282574">
            <a:off x="-5761586" y="614973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2676815" y="790575"/>
            <a:ext cx="11217858" cy="212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60"/>
              </a:lnSpc>
            </a:pPr>
            <a:r>
              <a:rPr lang="en-US" sz="124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INTERNSHIP </a:t>
            </a:r>
            <a:r>
              <a:rPr lang="en-US" b="true" sz="12400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3918093">
            <a:off x="12198120" y="-2779055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6" id="6"/>
          <p:cNvGrpSpPr/>
          <p:nvPr/>
        </p:nvGrpSpPr>
        <p:grpSpPr>
          <a:xfrm rot="2162957">
            <a:off x="15024305" y="4998969"/>
            <a:ext cx="1543050" cy="6739091"/>
            <a:chOff x="0" y="0"/>
            <a:chExt cx="406400" cy="17749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1774905"/>
            </a:xfrm>
            <a:custGeom>
              <a:avLst/>
              <a:gdLst/>
              <a:ahLst/>
              <a:cxnLst/>
              <a:rect r="r" b="b" t="t" l="l"/>
              <a:pathLst>
                <a:path h="177490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1774905"/>
                  </a:lnTo>
                  <a:lnTo>
                    <a:pt x="0" y="17749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C5E0E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182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710300" y="553894"/>
            <a:ext cx="6990947" cy="10280804"/>
          </a:xfrm>
          <a:custGeom>
            <a:avLst/>
            <a:gdLst/>
            <a:ahLst/>
            <a:cxnLst/>
            <a:rect r="r" b="b" t="t" l="l"/>
            <a:pathLst>
              <a:path h="10280804" w="6990947">
                <a:moveTo>
                  <a:pt x="0" y="0"/>
                </a:moveTo>
                <a:lnTo>
                  <a:pt x="6990946" y="0"/>
                </a:lnTo>
                <a:lnTo>
                  <a:pt x="6990946" y="10280804"/>
                </a:lnTo>
                <a:lnTo>
                  <a:pt x="0" y="10280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9495251" y="7312613"/>
            <a:ext cx="1447564" cy="628188"/>
          </a:xfrm>
          <a:custGeom>
            <a:avLst/>
            <a:gdLst/>
            <a:ahLst/>
            <a:cxnLst/>
            <a:rect r="r" b="b" t="t" l="l"/>
            <a:pathLst>
              <a:path h="628188" w="1447564">
                <a:moveTo>
                  <a:pt x="0" y="0"/>
                </a:moveTo>
                <a:lnTo>
                  <a:pt x="1447564" y="0"/>
                </a:lnTo>
                <a:lnTo>
                  <a:pt x="1447564" y="628188"/>
                </a:lnTo>
                <a:lnTo>
                  <a:pt x="0" y="6281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032684" y="1037874"/>
            <a:ext cx="432986" cy="585638"/>
          </a:xfrm>
          <a:custGeom>
            <a:avLst/>
            <a:gdLst/>
            <a:ahLst/>
            <a:cxnLst/>
            <a:rect r="r" b="b" t="t" l="l"/>
            <a:pathLst>
              <a:path h="585638" w="432986">
                <a:moveTo>
                  <a:pt x="0" y="0"/>
                </a:moveTo>
                <a:lnTo>
                  <a:pt x="432987" y="0"/>
                </a:lnTo>
                <a:lnTo>
                  <a:pt x="432987" y="585638"/>
                </a:lnTo>
                <a:lnTo>
                  <a:pt x="0" y="585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21157" b="-4158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2625521" y="2299289"/>
            <a:ext cx="9033485" cy="212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60"/>
              </a:lnSpc>
            </a:pPr>
            <a:r>
              <a:rPr lang="en-US" sz="12400" b="true">
                <a:solidFill>
                  <a:srgbClr val="E61E26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RE</a:t>
            </a:r>
            <a:r>
              <a:rPr lang="en-US" b="true" sz="12400">
                <a:solidFill>
                  <a:srgbClr val="E61E26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PORT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76815" y="4905479"/>
            <a:ext cx="7542218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b="true" sz="3200" spc="2560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PRESENTATION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8082" y="1198060"/>
            <a:ext cx="1535820" cy="26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/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32684" y="1050223"/>
            <a:ext cx="474326" cy="588321"/>
          </a:xfrm>
          <a:custGeom>
            <a:avLst/>
            <a:gdLst/>
            <a:ahLst/>
            <a:cxnLst/>
            <a:rect r="r" b="b" t="t" l="l"/>
            <a:pathLst>
              <a:path h="588321" w="474326">
                <a:moveTo>
                  <a:pt x="0" y="0"/>
                </a:moveTo>
                <a:lnTo>
                  <a:pt x="474326" y="0"/>
                </a:lnTo>
                <a:lnTo>
                  <a:pt x="474326" y="588322"/>
                </a:lnTo>
                <a:lnTo>
                  <a:pt x="0" y="588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099" r="-10598" b="-1584"/>
            </a:stretch>
          </a:blipFill>
        </p:spPr>
        <p:txBody>
          <a:bodyPr/>
          <a:p/>
        </p:txBody>
      </p:sp>
      <p:sp>
        <p:nvSpPr>
          <p:cNvPr name="TextBox 16" id="16"/>
          <p:cNvSpPr txBox="true"/>
          <p:nvPr/>
        </p:nvSpPr>
        <p:spPr>
          <a:xfrm rot="0">
            <a:off x="2676815" y="6521405"/>
            <a:ext cx="6699172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042147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Presented by : Sreetama Ghosh Ray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2676815" y="6376773"/>
            <a:ext cx="857095" cy="0"/>
          </a:xfrm>
          <a:prstGeom prst="line">
            <a:avLst/>
          </a:prstGeom>
          <a:ln cap="flat" w="38100">
            <a:solidFill>
              <a:srgbClr val="E61E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01082">
            <a:off x="8353544" y="7683235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201303" y="6765879"/>
            <a:ext cx="7183644" cy="3905290"/>
          </a:xfrm>
          <a:custGeom>
            <a:avLst/>
            <a:gdLst/>
            <a:ahLst/>
            <a:cxnLst/>
            <a:rect r="r" b="b" t="t" l="l"/>
            <a:pathLst>
              <a:path h="3905290" w="7183644">
                <a:moveTo>
                  <a:pt x="0" y="0"/>
                </a:moveTo>
                <a:lnTo>
                  <a:pt x="7183644" y="0"/>
                </a:lnTo>
                <a:lnTo>
                  <a:pt x="7183644" y="3905290"/>
                </a:lnTo>
                <a:lnTo>
                  <a:pt x="0" y="3905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5238863" y="714606"/>
            <a:ext cx="1447564" cy="628188"/>
          </a:xfrm>
          <a:custGeom>
            <a:avLst/>
            <a:gdLst/>
            <a:ahLst/>
            <a:cxnLst/>
            <a:rect r="r" b="b" t="t" l="l"/>
            <a:pathLst>
              <a:path h="628188" w="1447564">
                <a:moveTo>
                  <a:pt x="0" y="0"/>
                </a:moveTo>
                <a:lnTo>
                  <a:pt x="1447564" y="0"/>
                </a:lnTo>
                <a:lnTo>
                  <a:pt x="1447564" y="628188"/>
                </a:lnTo>
                <a:lnTo>
                  <a:pt x="0" y="6281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1282574">
            <a:off x="-5880789" y="637557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032684" y="1037874"/>
            <a:ext cx="432986" cy="585638"/>
          </a:xfrm>
          <a:custGeom>
            <a:avLst/>
            <a:gdLst/>
            <a:ahLst/>
            <a:cxnLst/>
            <a:rect r="r" b="b" t="t" l="l"/>
            <a:pathLst>
              <a:path h="585638" w="432986">
                <a:moveTo>
                  <a:pt x="0" y="0"/>
                </a:moveTo>
                <a:lnTo>
                  <a:pt x="432987" y="0"/>
                </a:lnTo>
                <a:lnTo>
                  <a:pt x="432987" y="585638"/>
                </a:lnTo>
                <a:lnTo>
                  <a:pt x="0" y="5856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21157" b="-4158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268082" y="1198060"/>
            <a:ext cx="1535820" cy="26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/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32684" y="1050223"/>
            <a:ext cx="474326" cy="588321"/>
          </a:xfrm>
          <a:custGeom>
            <a:avLst/>
            <a:gdLst/>
            <a:ahLst/>
            <a:cxnLst/>
            <a:rect r="r" b="b" t="t" l="l"/>
            <a:pathLst>
              <a:path h="588321" w="474326">
                <a:moveTo>
                  <a:pt x="0" y="0"/>
                </a:moveTo>
                <a:lnTo>
                  <a:pt x="474326" y="0"/>
                </a:lnTo>
                <a:lnTo>
                  <a:pt x="474326" y="588322"/>
                </a:lnTo>
                <a:lnTo>
                  <a:pt x="0" y="5883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099" r="-10598" b="-1584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-5400000">
            <a:off x="15111306" y="5391884"/>
            <a:ext cx="4295988" cy="5956434"/>
          </a:xfrm>
          <a:custGeom>
            <a:avLst/>
            <a:gdLst/>
            <a:ahLst/>
            <a:cxnLst/>
            <a:rect r="r" b="b" t="t" l="l"/>
            <a:pathLst>
              <a:path h="5956434" w="4295988">
                <a:moveTo>
                  <a:pt x="0" y="0"/>
                </a:moveTo>
                <a:lnTo>
                  <a:pt x="4295988" y="0"/>
                </a:lnTo>
                <a:lnTo>
                  <a:pt x="4295988" y="5956434"/>
                </a:lnTo>
                <a:lnTo>
                  <a:pt x="0" y="5956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2675534" y="5308595"/>
            <a:ext cx="802744" cy="516675"/>
          </a:xfrm>
          <a:custGeom>
            <a:avLst/>
            <a:gdLst/>
            <a:ahLst/>
            <a:cxnLst/>
            <a:rect r="r" b="b" t="t" l="l"/>
            <a:pathLst>
              <a:path h="516675" w="802744">
                <a:moveTo>
                  <a:pt x="0" y="0"/>
                </a:moveTo>
                <a:lnTo>
                  <a:pt x="802743" y="0"/>
                </a:lnTo>
                <a:lnTo>
                  <a:pt x="802743" y="516675"/>
                </a:lnTo>
                <a:lnTo>
                  <a:pt x="0" y="5166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2663128" y="4171115"/>
            <a:ext cx="802744" cy="777932"/>
          </a:xfrm>
          <a:custGeom>
            <a:avLst/>
            <a:gdLst/>
            <a:ahLst/>
            <a:cxnLst/>
            <a:rect r="r" b="b" t="t" l="l"/>
            <a:pathLst>
              <a:path h="777932" w="802744">
                <a:moveTo>
                  <a:pt x="0" y="0"/>
                </a:moveTo>
                <a:lnTo>
                  <a:pt x="802743" y="0"/>
                </a:lnTo>
                <a:lnTo>
                  <a:pt x="802743" y="777932"/>
                </a:lnTo>
                <a:lnTo>
                  <a:pt x="0" y="7779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2751418" y="6184819"/>
            <a:ext cx="626163" cy="782704"/>
          </a:xfrm>
          <a:custGeom>
            <a:avLst/>
            <a:gdLst/>
            <a:ahLst/>
            <a:cxnLst/>
            <a:rect r="r" b="b" t="t" l="l"/>
            <a:pathLst>
              <a:path h="782704" w="626163">
                <a:moveTo>
                  <a:pt x="0" y="0"/>
                </a:moveTo>
                <a:lnTo>
                  <a:pt x="626163" y="0"/>
                </a:lnTo>
                <a:lnTo>
                  <a:pt x="626163" y="782704"/>
                </a:lnTo>
                <a:lnTo>
                  <a:pt x="0" y="7827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2687940" y="3033830"/>
            <a:ext cx="777932" cy="777932"/>
          </a:xfrm>
          <a:custGeom>
            <a:avLst/>
            <a:gdLst/>
            <a:ahLst/>
            <a:cxnLst/>
            <a:rect r="r" b="b" t="t" l="l"/>
            <a:pathLst>
              <a:path h="777932" w="777932">
                <a:moveTo>
                  <a:pt x="0" y="0"/>
                </a:moveTo>
                <a:lnTo>
                  <a:pt x="777931" y="0"/>
                </a:lnTo>
                <a:lnTo>
                  <a:pt x="777931" y="777932"/>
                </a:lnTo>
                <a:lnTo>
                  <a:pt x="0" y="77793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4241412" y="866775"/>
            <a:ext cx="9805176" cy="1500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50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Internship Details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94471" y="3141808"/>
            <a:ext cx="477689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Union Bank of India</a:t>
            </a:r>
            <a:r>
              <a:rPr lang="en-US" sz="2999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94471" y="4290841"/>
            <a:ext cx="477689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Regional Office Chennai South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94471" y="5343940"/>
            <a:ext cx="477689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19 Aug - 6 Oct 2026</a:t>
            </a:r>
            <a:r>
              <a:rPr lang="en-US" sz="2999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72856" y="6306931"/>
            <a:ext cx="630655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30 working days, 240 hrs</a:t>
            </a:r>
            <a:r>
              <a:rPr lang="en-US" sz="2999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918093">
            <a:off x="13447981" y="5059311"/>
            <a:ext cx="7928647" cy="8391547"/>
          </a:xfrm>
          <a:custGeom>
            <a:avLst/>
            <a:gdLst/>
            <a:ahLst/>
            <a:cxnLst/>
            <a:rect r="r" b="b" t="t" l="l"/>
            <a:pathLst>
              <a:path h="8391547" w="7928647">
                <a:moveTo>
                  <a:pt x="0" y="0"/>
                </a:moveTo>
                <a:lnTo>
                  <a:pt x="7928647" y="0"/>
                </a:lnTo>
                <a:lnTo>
                  <a:pt x="7928647" y="8391547"/>
                </a:lnTo>
                <a:lnTo>
                  <a:pt x="0" y="8391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-10800000">
            <a:off x="12819770" y="-487885"/>
            <a:ext cx="6035013" cy="3280852"/>
          </a:xfrm>
          <a:custGeom>
            <a:avLst/>
            <a:gdLst/>
            <a:ahLst/>
            <a:cxnLst/>
            <a:rect r="r" b="b" t="t" l="l"/>
            <a:pathLst>
              <a:path h="3280852" w="6035013">
                <a:moveTo>
                  <a:pt x="0" y="0"/>
                </a:moveTo>
                <a:lnTo>
                  <a:pt x="6035013" y="0"/>
                </a:lnTo>
                <a:lnTo>
                  <a:pt x="6035013" y="3280852"/>
                </a:lnTo>
                <a:lnTo>
                  <a:pt x="0" y="32808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4241412" y="866775"/>
            <a:ext cx="9805176" cy="1500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50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Organisation Profile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302619" y="8944206"/>
            <a:ext cx="1447564" cy="628188"/>
          </a:xfrm>
          <a:custGeom>
            <a:avLst/>
            <a:gdLst/>
            <a:ahLst/>
            <a:cxnLst/>
            <a:rect r="r" b="b" t="t" l="l"/>
            <a:pathLst>
              <a:path h="628188" w="1447564">
                <a:moveTo>
                  <a:pt x="0" y="0"/>
                </a:moveTo>
                <a:lnTo>
                  <a:pt x="1447564" y="0"/>
                </a:lnTo>
                <a:lnTo>
                  <a:pt x="1447564" y="628188"/>
                </a:lnTo>
                <a:lnTo>
                  <a:pt x="0" y="6281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1342574">
            <a:off x="-5457186" y="158525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-354911" y="6044306"/>
            <a:ext cx="3158813" cy="4379730"/>
          </a:xfrm>
          <a:custGeom>
            <a:avLst/>
            <a:gdLst/>
            <a:ahLst/>
            <a:cxnLst/>
            <a:rect r="r" b="b" t="t" l="l"/>
            <a:pathLst>
              <a:path h="4379730" w="3158813">
                <a:moveTo>
                  <a:pt x="0" y="0"/>
                </a:moveTo>
                <a:lnTo>
                  <a:pt x="3158814" y="0"/>
                </a:lnTo>
                <a:lnTo>
                  <a:pt x="3158814" y="4379730"/>
                </a:lnTo>
                <a:lnTo>
                  <a:pt x="0" y="43797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032684" y="1037874"/>
            <a:ext cx="432986" cy="585638"/>
          </a:xfrm>
          <a:custGeom>
            <a:avLst/>
            <a:gdLst/>
            <a:ahLst/>
            <a:cxnLst/>
            <a:rect r="r" b="b" t="t" l="l"/>
            <a:pathLst>
              <a:path h="585638" w="432986">
                <a:moveTo>
                  <a:pt x="0" y="0"/>
                </a:moveTo>
                <a:lnTo>
                  <a:pt x="432987" y="0"/>
                </a:lnTo>
                <a:lnTo>
                  <a:pt x="432987" y="585638"/>
                </a:lnTo>
                <a:lnTo>
                  <a:pt x="0" y="585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21157" b="-4158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1268082" y="1198060"/>
            <a:ext cx="1535820" cy="26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/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32684" y="1050223"/>
            <a:ext cx="474326" cy="588321"/>
          </a:xfrm>
          <a:custGeom>
            <a:avLst/>
            <a:gdLst/>
            <a:ahLst/>
            <a:cxnLst/>
            <a:rect r="r" b="b" t="t" l="l"/>
            <a:pathLst>
              <a:path h="588321" w="474326">
                <a:moveTo>
                  <a:pt x="0" y="0"/>
                </a:moveTo>
                <a:lnTo>
                  <a:pt x="474326" y="0"/>
                </a:lnTo>
                <a:lnTo>
                  <a:pt x="474326" y="588322"/>
                </a:lnTo>
                <a:lnTo>
                  <a:pt x="0" y="588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099" r="-10598" b="-1584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2676815" y="3709306"/>
            <a:ext cx="6342025" cy="398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A public-sector bank with Head/Central Office in Mumbai, operating through Zonal, Regional and Branch levels.</a:t>
            </a: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95251" y="3709306"/>
            <a:ext cx="6342025" cy="398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Administers ~75 branches - welfare, attendance, leave, transfers, salary and allowance processing. Its HR desk links Head Office policy to day-to-day branch administration, training, industrial relations and discipline.</a:t>
            </a: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95483" y="2976680"/>
            <a:ext cx="626183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Union Bank of India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35346" y="2976680"/>
            <a:ext cx="626183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Regional Office Chennai South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918093">
            <a:off x="15382268" y="-1274821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241412" y="914400"/>
            <a:ext cx="9805176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Internship Scope</a:t>
            </a:r>
          </a:p>
          <a:p>
            <a:pPr algn="ctr">
              <a:lnSpc>
                <a:spcPts val="84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1282574">
            <a:off x="-3784431" y="3582319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-5400000">
            <a:off x="308903" y="5851351"/>
            <a:ext cx="1447564" cy="628188"/>
          </a:xfrm>
          <a:custGeom>
            <a:avLst/>
            <a:gdLst/>
            <a:ahLst/>
            <a:cxnLst/>
            <a:rect r="r" b="b" t="t" l="l"/>
            <a:pathLst>
              <a:path h="628188" w="1447564">
                <a:moveTo>
                  <a:pt x="0" y="0"/>
                </a:moveTo>
                <a:lnTo>
                  <a:pt x="1447563" y="0"/>
                </a:lnTo>
                <a:lnTo>
                  <a:pt x="1447563" y="628189"/>
                </a:lnTo>
                <a:lnTo>
                  <a:pt x="0" y="628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2939769" y="2967155"/>
            <a:ext cx="13043344" cy="639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42147"/>
                </a:solidFill>
                <a:latin typeface="DM Sans Bold"/>
                <a:ea typeface="DM Sans Bold"/>
                <a:cs typeface="DM Sans Bold"/>
                <a:sym typeface="DM Sans Bold"/>
              </a:rPr>
              <a:t>Object</a:t>
            </a:r>
            <a:r>
              <a:rPr lang="en-US" b="true" sz="3000">
                <a:solidFill>
                  <a:srgbClr val="042147"/>
                </a:solidFill>
                <a:latin typeface="DM Sans Bold"/>
                <a:ea typeface="DM Sans Bold"/>
                <a:cs typeface="DM Sans Bold"/>
                <a:sym typeface="DM Sans Bold"/>
              </a:rPr>
              <a:t>ive</a:t>
            </a:r>
            <a:r>
              <a:rPr lang="en-US" sz="30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: to gain practical exposure to HR operations in a public-sector bank, alongside primary data collection for the dissertation on Hybrid Learning and Training Effectiveness.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42147"/>
                </a:solidFill>
                <a:latin typeface="DM Sans Bold"/>
                <a:ea typeface="DM Sans Bold"/>
                <a:cs typeface="DM Sans Bold"/>
                <a:sym typeface="DM Sans Bold"/>
              </a:rPr>
              <a:t>Divisional Exposure</a:t>
            </a:r>
            <a:r>
              <a:rPr lang="en-US" sz="30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: involved in orientation across the RO's HR desk, the Rural and Agriculture Business Department (RABD), Currency Chest, and the branch network.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031174" y="7270421"/>
            <a:ext cx="5458016" cy="3234380"/>
          </a:xfrm>
          <a:custGeom>
            <a:avLst/>
            <a:gdLst/>
            <a:ahLst/>
            <a:cxnLst/>
            <a:rect r="r" b="b" t="t" l="l"/>
            <a:pathLst>
              <a:path h="3234380" w="5458016">
                <a:moveTo>
                  <a:pt x="0" y="0"/>
                </a:moveTo>
                <a:lnTo>
                  <a:pt x="5458016" y="0"/>
                </a:lnTo>
                <a:lnTo>
                  <a:pt x="5458016" y="3234379"/>
                </a:lnTo>
                <a:lnTo>
                  <a:pt x="0" y="32343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-5400000">
            <a:off x="15579570" y="-717218"/>
            <a:ext cx="2708858" cy="3110380"/>
          </a:xfrm>
          <a:custGeom>
            <a:avLst/>
            <a:gdLst/>
            <a:ahLst/>
            <a:cxnLst/>
            <a:rect r="r" b="b" t="t" l="l"/>
            <a:pathLst>
              <a:path h="3110380" w="2708858">
                <a:moveTo>
                  <a:pt x="0" y="0"/>
                </a:moveTo>
                <a:lnTo>
                  <a:pt x="2708859" y="0"/>
                </a:lnTo>
                <a:lnTo>
                  <a:pt x="2708859" y="3110380"/>
                </a:lnTo>
                <a:lnTo>
                  <a:pt x="0" y="31103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032684" y="1037874"/>
            <a:ext cx="432986" cy="585638"/>
          </a:xfrm>
          <a:custGeom>
            <a:avLst/>
            <a:gdLst/>
            <a:ahLst/>
            <a:cxnLst/>
            <a:rect r="r" b="b" t="t" l="l"/>
            <a:pathLst>
              <a:path h="585638" w="432986">
                <a:moveTo>
                  <a:pt x="0" y="0"/>
                </a:moveTo>
                <a:lnTo>
                  <a:pt x="432987" y="0"/>
                </a:lnTo>
                <a:lnTo>
                  <a:pt x="432987" y="585638"/>
                </a:lnTo>
                <a:lnTo>
                  <a:pt x="0" y="585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21157" b="-4158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032684" y="1050223"/>
            <a:ext cx="474326" cy="588321"/>
          </a:xfrm>
          <a:custGeom>
            <a:avLst/>
            <a:gdLst/>
            <a:ahLst/>
            <a:cxnLst/>
            <a:rect r="r" b="b" t="t" l="l"/>
            <a:pathLst>
              <a:path h="588321" w="474326">
                <a:moveTo>
                  <a:pt x="0" y="0"/>
                </a:moveTo>
                <a:lnTo>
                  <a:pt x="474326" y="0"/>
                </a:lnTo>
                <a:lnTo>
                  <a:pt x="474326" y="588322"/>
                </a:lnTo>
                <a:lnTo>
                  <a:pt x="0" y="588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099" r="-10598" b="-1584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1268082" y="1198060"/>
            <a:ext cx="1535820" cy="26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/>
            </a:r>
          </a:p>
        </p:txBody>
      </p:sp>
      <p:grpSp>
        <p:nvGrpSpPr>
          <p:cNvPr name="Group 12" id="12"/>
          <p:cNvGrpSpPr/>
          <p:nvPr/>
        </p:nvGrpSpPr>
        <p:grpSpPr>
          <a:xfrm rot="2162957">
            <a:off x="72736" y="-2984879"/>
            <a:ext cx="1543050" cy="6739091"/>
            <a:chOff x="0" y="0"/>
            <a:chExt cx="406400" cy="17749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1774905"/>
            </a:xfrm>
            <a:custGeom>
              <a:avLst/>
              <a:gdLst/>
              <a:ahLst/>
              <a:cxnLst/>
              <a:rect r="r" b="b" t="t" l="l"/>
              <a:pathLst>
                <a:path h="177490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1774905"/>
                  </a:lnTo>
                  <a:lnTo>
                    <a:pt x="0" y="17749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61E2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182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2162957">
            <a:off x="-438456" y="-3369546"/>
            <a:ext cx="1543050" cy="6739091"/>
            <a:chOff x="0" y="0"/>
            <a:chExt cx="406400" cy="17749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" cy="1774905"/>
            </a:xfrm>
            <a:custGeom>
              <a:avLst/>
              <a:gdLst/>
              <a:ahLst/>
              <a:cxnLst/>
              <a:rect r="r" b="b" t="t" l="l"/>
              <a:pathLst>
                <a:path h="177490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1774905"/>
                  </a:lnTo>
                  <a:lnTo>
                    <a:pt x="0" y="17749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497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47625"/>
              <a:ext cx="203200" cy="182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6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35647">
            <a:off x="13860940" y="3504858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3055885" y="4821395"/>
            <a:ext cx="2491219" cy="249121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97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0800000">
            <a:off x="-205776" y="-176861"/>
            <a:ext cx="2378312" cy="3497517"/>
          </a:xfrm>
          <a:custGeom>
            <a:avLst/>
            <a:gdLst/>
            <a:ahLst/>
            <a:cxnLst/>
            <a:rect r="r" b="b" t="t" l="l"/>
            <a:pathLst>
              <a:path h="3497517" w="2378312">
                <a:moveTo>
                  <a:pt x="0" y="0"/>
                </a:moveTo>
                <a:lnTo>
                  <a:pt x="2378312" y="0"/>
                </a:lnTo>
                <a:lnTo>
                  <a:pt x="2378312" y="3497517"/>
                </a:lnTo>
                <a:lnTo>
                  <a:pt x="0" y="3497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0359304" y="8944206"/>
            <a:ext cx="1447564" cy="628188"/>
          </a:xfrm>
          <a:custGeom>
            <a:avLst/>
            <a:gdLst/>
            <a:ahLst/>
            <a:cxnLst/>
            <a:rect r="r" b="b" t="t" l="l"/>
            <a:pathLst>
              <a:path h="628188" w="1447564">
                <a:moveTo>
                  <a:pt x="0" y="0"/>
                </a:moveTo>
                <a:lnTo>
                  <a:pt x="1447564" y="0"/>
                </a:lnTo>
                <a:lnTo>
                  <a:pt x="1447564" y="628188"/>
                </a:lnTo>
                <a:lnTo>
                  <a:pt x="0" y="6281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5400000">
            <a:off x="-10051" y="6336638"/>
            <a:ext cx="4045669" cy="4645340"/>
          </a:xfrm>
          <a:custGeom>
            <a:avLst/>
            <a:gdLst/>
            <a:ahLst/>
            <a:cxnLst/>
            <a:rect r="r" b="b" t="t" l="l"/>
            <a:pathLst>
              <a:path h="4645340" w="4045669">
                <a:moveTo>
                  <a:pt x="0" y="0"/>
                </a:moveTo>
                <a:lnTo>
                  <a:pt x="4045669" y="0"/>
                </a:lnTo>
                <a:lnTo>
                  <a:pt x="4045669" y="4645340"/>
                </a:lnTo>
                <a:lnTo>
                  <a:pt x="0" y="4645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-3121238">
            <a:off x="477653" y="6714946"/>
            <a:ext cx="1543050" cy="6739091"/>
            <a:chOff x="0" y="0"/>
            <a:chExt cx="406400" cy="17749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1774905"/>
            </a:xfrm>
            <a:custGeom>
              <a:avLst/>
              <a:gdLst/>
              <a:ahLst/>
              <a:cxnLst/>
              <a:rect r="r" b="b" t="t" l="l"/>
              <a:pathLst>
                <a:path h="177490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1774905"/>
                  </a:lnTo>
                  <a:lnTo>
                    <a:pt x="0" y="17749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C5E0E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182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6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true" rot="5400000">
            <a:off x="15092905" y="-738114"/>
            <a:ext cx="2904200" cy="4026705"/>
          </a:xfrm>
          <a:custGeom>
            <a:avLst/>
            <a:gdLst/>
            <a:ahLst/>
            <a:cxnLst/>
            <a:rect r="r" b="b" t="t" l="l"/>
            <a:pathLst>
              <a:path h="4026705" w="2904200">
                <a:moveTo>
                  <a:pt x="0" y="4026705"/>
                </a:moveTo>
                <a:lnTo>
                  <a:pt x="2904199" y="4026705"/>
                </a:lnTo>
                <a:lnTo>
                  <a:pt x="2904199" y="0"/>
                </a:lnTo>
                <a:lnTo>
                  <a:pt x="0" y="0"/>
                </a:lnTo>
                <a:lnTo>
                  <a:pt x="0" y="4026705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1032684" y="1037874"/>
            <a:ext cx="432986" cy="585638"/>
          </a:xfrm>
          <a:custGeom>
            <a:avLst/>
            <a:gdLst/>
            <a:ahLst/>
            <a:cxnLst/>
            <a:rect r="r" b="b" t="t" l="l"/>
            <a:pathLst>
              <a:path h="585638" w="432986">
                <a:moveTo>
                  <a:pt x="0" y="0"/>
                </a:moveTo>
                <a:lnTo>
                  <a:pt x="432987" y="0"/>
                </a:lnTo>
                <a:lnTo>
                  <a:pt x="432987" y="585638"/>
                </a:lnTo>
                <a:lnTo>
                  <a:pt x="0" y="5856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-21157" b="-4158"/>
            </a:stretch>
          </a:blipFill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1268082" y="1198060"/>
            <a:ext cx="1535820" cy="26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/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32684" y="1050223"/>
            <a:ext cx="474326" cy="588321"/>
          </a:xfrm>
          <a:custGeom>
            <a:avLst/>
            <a:gdLst/>
            <a:ahLst/>
            <a:cxnLst/>
            <a:rect r="r" b="b" t="t" l="l"/>
            <a:pathLst>
              <a:path h="588321" w="474326">
                <a:moveTo>
                  <a:pt x="0" y="0"/>
                </a:moveTo>
                <a:lnTo>
                  <a:pt x="474326" y="0"/>
                </a:lnTo>
                <a:lnTo>
                  <a:pt x="474326" y="588322"/>
                </a:lnTo>
                <a:lnTo>
                  <a:pt x="0" y="5883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2099" r="-10598" b="-1584"/>
            </a:stretch>
          </a:blipFill>
        </p:spPr>
        <p:txBody>
          <a:bodyPr/>
          <a:p/>
        </p:txBody>
      </p:sp>
      <p:grpSp>
        <p:nvGrpSpPr>
          <p:cNvPr name="Group 16" id="16"/>
          <p:cNvGrpSpPr/>
          <p:nvPr/>
        </p:nvGrpSpPr>
        <p:grpSpPr>
          <a:xfrm rot="0">
            <a:off x="2740897" y="4821395"/>
            <a:ext cx="2491219" cy="249121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97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35122" y="4821395"/>
            <a:ext cx="2491219" cy="249121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97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3574808" y="5167157"/>
            <a:ext cx="1533368" cy="1870950"/>
          </a:xfrm>
          <a:custGeom>
            <a:avLst/>
            <a:gdLst/>
            <a:ahLst/>
            <a:cxnLst/>
            <a:rect r="r" b="b" t="t" l="l"/>
            <a:pathLst>
              <a:path h="1870950" w="1533368">
                <a:moveTo>
                  <a:pt x="0" y="0"/>
                </a:moveTo>
                <a:lnTo>
                  <a:pt x="1533368" y="0"/>
                </a:lnTo>
                <a:lnTo>
                  <a:pt x="1533368" y="1870950"/>
                </a:lnTo>
                <a:lnTo>
                  <a:pt x="0" y="1870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3" id="23"/>
          <p:cNvSpPr/>
          <p:nvPr/>
        </p:nvSpPr>
        <p:spPr>
          <a:xfrm flipH="false" flipV="false" rot="0">
            <a:off x="6650865" y="5266686"/>
            <a:ext cx="1659734" cy="1671893"/>
          </a:xfrm>
          <a:custGeom>
            <a:avLst/>
            <a:gdLst/>
            <a:ahLst/>
            <a:cxnLst/>
            <a:rect r="r" b="b" t="t" l="l"/>
            <a:pathLst>
              <a:path h="1671893" w="1659734">
                <a:moveTo>
                  <a:pt x="0" y="0"/>
                </a:moveTo>
                <a:lnTo>
                  <a:pt x="1659734" y="0"/>
                </a:lnTo>
                <a:lnTo>
                  <a:pt x="1659734" y="1671893"/>
                </a:lnTo>
                <a:lnTo>
                  <a:pt x="0" y="167189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4" id="24"/>
          <p:cNvGrpSpPr/>
          <p:nvPr/>
        </p:nvGrpSpPr>
        <p:grpSpPr>
          <a:xfrm rot="0">
            <a:off x="9786291" y="4821395"/>
            <a:ext cx="2491219" cy="249121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97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0268776" y="5167157"/>
            <a:ext cx="1628621" cy="1680566"/>
          </a:xfrm>
          <a:custGeom>
            <a:avLst/>
            <a:gdLst/>
            <a:ahLst/>
            <a:cxnLst/>
            <a:rect r="r" b="b" t="t" l="l"/>
            <a:pathLst>
              <a:path h="1680566" w="1628621">
                <a:moveTo>
                  <a:pt x="0" y="0"/>
                </a:moveTo>
                <a:lnTo>
                  <a:pt x="1628621" y="0"/>
                </a:lnTo>
                <a:lnTo>
                  <a:pt x="1628621" y="1680566"/>
                </a:lnTo>
                <a:lnTo>
                  <a:pt x="0" y="168056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8" id="28"/>
          <p:cNvSpPr/>
          <p:nvPr/>
        </p:nvSpPr>
        <p:spPr>
          <a:xfrm flipH="false" flipV="false" rot="0">
            <a:off x="3131855" y="5216290"/>
            <a:ext cx="1709302" cy="1701427"/>
          </a:xfrm>
          <a:custGeom>
            <a:avLst/>
            <a:gdLst/>
            <a:ahLst/>
            <a:cxnLst/>
            <a:rect r="r" b="b" t="t" l="l"/>
            <a:pathLst>
              <a:path h="1701427" w="1709302">
                <a:moveTo>
                  <a:pt x="0" y="0"/>
                </a:moveTo>
                <a:lnTo>
                  <a:pt x="1709302" y="0"/>
                </a:lnTo>
                <a:lnTo>
                  <a:pt x="1709302" y="1701427"/>
                </a:lnTo>
                <a:lnTo>
                  <a:pt x="0" y="170142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9" id="29"/>
          <p:cNvSpPr txBox="true"/>
          <p:nvPr/>
        </p:nvSpPr>
        <p:spPr>
          <a:xfrm rot="0">
            <a:off x="3369555" y="866775"/>
            <a:ext cx="11548891" cy="1500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50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Work Areas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676815" y="3010261"/>
            <a:ext cx="14457325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The internship covered four main work areas, moving from HR administration through fieldwork to change management.</a:t>
            </a: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379926" y="7723361"/>
            <a:ext cx="3097426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HR Administration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28423" y="7723361"/>
            <a:ext cx="2337266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Branch Visits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63707" y="7723361"/>
            <a:ext cx="3118316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Transfers &amp; Discipline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79179" y="7716027"/>
            <a:ext cx="332889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Change Management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22080">
            <a:off x="7449287" y="8094480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241412" y="866775"/>
            <a:ext cx="9805176" cy="1500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50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HR Administration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92690" y="7305655"/>
            <a:ext cx="7183644" cy="3905290"/>
          </a:xfrm>
          <a:custGeom>
            <a:avLst/>
            <a:gdLst/>
            <a:ahLst/>
            <a:cxnLst/>
            <a:rect r="r" b="b" t="t" l="l"/>
            <a:pathLst>
              <a:path h="3905290" w="7183644">
                <a:moveTo>
                  <a:pt x="0" y="0"/>
                </a:moveTo>
                <a:lnTo>
                  <a:pt x="7183643" y="0"/>
                </a:lnTo>
                <a:lnTo>
                  <a:pt x="7183643" y="3905290"/>
                </a:lnTo>
                <a:lnTo>
                  <a:pt x="0" y="3905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5811736" y="736129"/>
            <a:ext cx="1447564" cy="628188"/>
          </a:xfrm>
          <a:custGeom>
            <a:avLst/>
            <a:gdLst/>
            <a:ahLst/>
            <a:cxnLst/>
            <a:rect r="r" b="b" t="t" l="l"/>
            <a:pathLst>
              <a:path h="628188" w="1447564">
                <a:moveTo>
                  <a:pt x="0" y="0"/>
                </a:moveTo>
                <a:lnTo>
                  <a:pt x="1447564" y="0"/>
                </a:lnTo>
                <a:lnTo>
                  <a:pt x="1447564" y="628188"/>
                </a:lnTo>
                <a:lnTo>
                  <a:pt x="0" y="6281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-5400000">
            <a:off x="14501256" y="6578297"/>
            <a:ext cx="3268163" cy="4531344"/>
          </a:xfrm>
          <a:custGeom>
            <a:avLst/>
            <a:gdLst/>
            <a:ahLst/>
            <a:cxnLst/>
            <a:rect r="r" b="b" t="t" l="l"/>
            <a:pathLst>
              <a:path h="4531344" w="3268163">
                <a:moveTo>
                  <a:pt x="0" y="0"/>
                </a:moveTo>
                <a:lnTo>
                  <a:pt x="3268163" y="0"/>
                </a:lnTo>
                <a:lnTo>
                  <a:pt x="3268163" y="4531345"/>
                </a:lnTo>
                <a:lnTo>
                  <a:pt x="0" y="45313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1282574">
            <a:off x="-5880789" y="637557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032684" y="1037874"/>
            <a:ext cx="432986" cy="585638"/>
          </a:xfrm>
          <a:custGeom>
            <a:avLst/>
            <a:gdLst/>
            <a:ahLst/>
            <a:cxnLst/>
            <a:rect r="r" b="b" t="t" l="l"/>
            <a:pathLst>
              <a:path h="585638" w="432986">
                <a:moveTo>
                  <a:pt x="0" y="0"/>
                </a:moveTo>
                <a:lnTo>
                  <a:pt x="432987" y="0"/>
                </a:lnTo>
                <a:lnTo>
                  <a:pt x="432987" y="585638"/>
                </a:lnTo>
                <a:lnTo>
                  <a:pt x="0" y="585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21157" b="-4158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1268082" y="1198060"/>
            <a:ext cx="1535820" cy="26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/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32684" y="1050223"/>
            <a:ext cx="474326" cy="588321"/>
          </a:xfrm>
          <a:custGeom>
            <a:avLst/>
            <a:gdLst/>
            <a:ahLst/>
            <a:cxnLst/>
            <a:rect r="r" b="b" t="t" l="l"/>
            <a:pathLst>
              <a:path h="588321" w="474326">
                <a:moveTo>
                  <a:pt x="0" y="0"/>
                </a:moveTo>
                <a:lnTo>
                  <a:pt x="474326" y="0"/>
                </a:lnTo>
                <a:lnTo>
                  <a:pt x="474326" y="588322"/>
                </a:lnTo>
                <a:lnTo>
                  <a:pt x="0" y="588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099" r="-10598" b="-1584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2168770" y="3709306"/>
            <a:ext cx="4409232" cy="438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Morning prayer followed by reading of circulars on performance, NPAs, policy updates and training requirements.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66430" y="2976680"/>
            <a:ext cx="401391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Daily Circulars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51971" y="2976680"/>
            <a:ext cx="401391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Leave Sanctioning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37512" y="2976680"/>
            <a:ext cx="401391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Salary &amp; Allowances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39384" y="3709306"/>
            <a:ext cx="4409232" cy="438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Routine leave sanctioned at the RO; maternity, sabbatical and study leave need higher approval.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39852" y="3709306"/>
            <a:ext cx="4409232" cy="438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RO's role in processing pay, permissible allowances, and TA/conveyance claims for official travel between branches.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22080">
            <a:off x="7449287" y="8094480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241412" y="933450"/>
            <a:ext cx="9805176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Transfers, Discipline &amp; RABD</a:t>
            </a:r>
          </a:p>
          <a:p>
            <a:pPr algn="ctr">
              <a:lnSpc>
                <a:spcPts val="70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92690" y="7305655"/>
            <a:ext cx="7183644" cy="3905290"/>
          </a:xfrm>
          <a:custGeom>
            <a:avLst/>
            <a:gdLst/>
            <a:ahLst/>
            <a:cxnLst/>
            <a:rect r="r" b="b" t="t" l="l"/>
            <a:pathLst>
              <a:path h="3905290" w="7183644">
                <a:moveTo>
                  <a:pt x="0" y="0"/>
                </a:moveTo>
                <a:lnTo>
                  <a:pt x="7183643" y="0"/>
                </a:lnTo>
                <a:lnTo>
                  <a:pt x="7183643" y="3905290"/>
                </a:lnTo>
                <a:lnTo>
                  <a:pt x="0" y="3905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5811736" y="736129"/>
            <a:ext cx="1447564" cy="628188"/>
          </a:xfrm>
          <a:custGeom>
            <a:avLst/>
            <a:gdLst/>
            <a:ahLst/>
            <a:cxnLst/>
            <a:rect r="r" b="b" t="t" l="l"/>
            <a:pathLst>
              <a:path h="628188" w="1447564">
                <a:moveTo>
                  <a:pt x="0" y="0"/>
                </a:moveTo>
                <a:lnTo>
                  <a:pt x="1447564" y="0"/>
                </a:lnTo>
                <a:lnTo>
                  <a:pt x="1447564" y="628188"/>
                </a:lnTo>
                <a:lnTo>
                  <a:pt x="0" y="6281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-5400000">
            <a:off x="14501256" y="6578297"/>
            <a:ext cx="3268163" cy="4531344"/>
          </a:xfrm>
          <a:custGeom>
            <a:avLst/>
            <a:gdLst/>
            <a:ahLst/>
            <a:cxnLst/>
            <a:rect r="r" b="b" t="t" l="l"/>
            <a:pathLst>
              <a:path h="4531344" w="3268163">
                <a:moveTo>
                  <a:pt x="0" y="0"/>
                </a:moveTo>
                <a:lnTo>
                  <a:pt x="3268163" y="0"/>
                </a:lnTo>
                <a:lnTo>
                  <a:pt x="3268163" y="4531345"/>
                </a:lnTo>
                <a:lnTo>
                  <a:pt x="0" y="45313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1282574">
            <a:off x="-5880789" y="637557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032684" y="1037874"/>
            <a:ext cx="432986" cy="585638"/>
          </a:xfrm>
          <a:custGeom>
            <a:avLst/>
            <a:gdLst/>
            <a:ahLst/>
            <a:cxnLst/>
            <a:rect r="r" b="b" t="t" l="l"/>
            <a:pathLst>
              <a:path h="585638" w="432986">
                <a:moveTo>
                  <a:pt x="0" y="0"/>
                </a:moveTo>
                <a:lnTo>
                  <a:pt x="432987" y="0"/>
                </a:lnTo>
                <a:lnTo>
                  <a:pt x="432987" y="585638"/>
                </a:lnTo>
                <a:lnTo>
                  <a:pt x="0" y="585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21157" b="-4158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1268082" y="1198060"/>
            <a:ext cx="1535820" cy="26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/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32684" y="1050223"/>
            <a:ext cx="474326" cy="588321"/>
          </a:xfrm>
          <a:custGeom>
            <a:avLst/>
            <a:gdLst/>
            <a:ahLst/>
            <a:cxnLst/>
            <a:rect r="r" b="b" t="t" l="l"/>
            <a:pathLst>
              <a:path h="588321" w="474326">
                <a:moveTo>
                  <a:pt x="0" y="0"/>
                </a:moveTo>
                <a:lnTo>
                  <a:pt x="474326" y="0"/>
                </a:lnTo>
                <a:lnTo>
                  <a:pt x="474326" y="588322"/>
                </a:lnTo>
                <a:lnTo>
                  <a:pt x="0" y="588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099" r="-10598" b="-1584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2168770" y="3709306"/>
            <a:ext cx="4409232" cy="238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inter-state transfers involve management, unions and the Head Office; intra-region transfers are handled directly by the RO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53066" y="2976680"/>
            <a:ext cx="4013913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Tr</a:t>
            </a:r>
            <a:r>
              <a:rPr lang="en-US" b="true" sz="3200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ansfer Policy</a:t>
            </a:r>
          </a:p>
          <a:p>
            <a:pPr algn="ctr">
              <a:lnSpc>
                <a:spcPts val="448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690953" y="2976680"/>
            <a:ext cx="4013913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Discipline</a:t>
            </a:r>
            <a:r>
              <a:rPr lang="en-US" b="true" sz="3199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/>
            </a:r>
          </a:p>
          <a:p>
            <a:pPr algn="ctr">
              <a:lnSpc>
                <a:spcPts val="447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2024891" y="2976680"/>
            <a:ext cx="5451492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RABD &amp; PSL</a:t>
            </a:r>
          </a:p>
          <a:p>
            <a:pPr algn="ctr">
              <a:lnSpc>
                <a:spcPts val="447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939384" y="3709306"/>
            <a:ext cx="4409232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reporting of an issue, examination by the concerned authority, and a formal inquiry where necessary.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024891" y="3709306"/>
            <a:ext cx="4409232" cy="278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agricultural lending, rural development schemes, and mandatory credit to agriculture, MSMEs, education, housing and weaker sections — the bank's role in financial inclusion.</a:t>
            </a:r>
          </a:p>
          <a:p>
            <a:pPr algn="l">
              <a:lnSpc>
                <a:spcPts val="322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918093">
            <a:off x="14718194" y="2189647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241412" y="866775"/>
            <a:ext cx="9805176" cy="1500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50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Branch Visits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4161100" y="-1059901"/>
            <a:ext cx="3433539" cy="5049322"/>
          </a:xfrm>
          <a:custGeom>
            <a:avLst/>
            <a:gdLst/>
            <a:ahLst/>
            <a:cxnLst/>
            <a:rect r="r" b="b" t="t" l="l"/>
            <a:pathLst>
              <a:path h="5049322" w="3433539">
                <a:moveTo>
                  <a:pt x="0" y="0"/>
                </a:moveTo>
                <a:lnTo>
                  <a:pt x="3433538" y="0"/>
                </a:lnTo>
                <a:lnTo>
                  <a:pt x="3433538" y="5049321"/>
                </a:lnTo>
                <a:lnTo>
                  <a:pt x="0" y="50493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4134123" y="8944206"/>
            <a:ext cx="1447564" cy="628188"/>
          </a:xfrm>
          <a:custGeom>
            <a:avLst/>
            <a:gdLst/>
            <a:ahLst/>
            <a:cxnLst/>
            <a:rect r="r" b="b" t="t" l="l"/>
            <a:pathLst>
              <a:path h="628188" w="1447564">
                <a:moveTo>
                  <a:pt x="0" y="0"/>
                </a:moveTo>
                <a:lnTo>
                  <a:pt x="1447564" y="0"/>
                </a:lnTo>
                <a:lnTo>
                  <a:pt x="1447564" y="628188"/>
                </a:lnTo>
                <a:lnTo>
                  <a:pt x="0" y="6281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1282574">
            <a:off x="-4584740" y="1698782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true" flipV="false" rot="0">
            <a:off x="-272803" y="5351007"/>
            <a:ext cx="3559625" cy="5234743"/>
          </a:xfrm>
          <a:custGeom>
            <a:avLst/>
            <a:gdLst/>
            <a:ahLst/>
            <a:cxnLst/>
            <a:rect r="r" b="b" t="t" l="l"/>
            <a:pathLst>
              <a:path h="5234743" w="3559625">
                <a:moveTo>
                  <a:pt x="3559626" y="0"/>
                </a:moveTo>
                <a:lnTo>
                  <a:pt x="0" y="0"/>
                </a:lnTo>
                <a:lnTo>
                  <a:pt x="0" y="5234744"/>
                </a:lnTo>
                <a:lnTo>
                  <a:pt x="3559626" y="5234744"/>
                </a:lnTo>
                <a:lnTo>
                  <a:pt x="355962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032684" y="1037874"/>
            <a:ext cx="432986" cy="585638"/>
          </a:xfrm>
          <a:custGeom>
            <a:avLst/>
            <a:gdLst/>
            <a:ahLst/>
            <a:cxnLst/>
            <a:rect r="r" b="b" t="t" l="l"/>
            <a:pathLst>
              <a:path h="585638" w="432986">
                <a:moveTo>
                  <a:pt x="0" y="0"/>
                </a:moveTo>
                <a:lnTo>
                  <a:pt x="432987" y="0"/>
                </a:lnTo>
                <a:lnTo>
                  <a:pt x="432987" y="585638"/>
                </a:lnTo>
                <a:lnTo>
                  <a:pt x="0" y="5856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21157" b="-4158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1268082" y="1198060"/>
            <a:ext cx="1535820" cy="26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/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32684" y="1050223"/>
            <a:ext cx="474326" cy="588321"/>
          </a:xfrm>
          <a:custGeom>
            <a:avLst/>
            <a:gdLst/>
            <a:ahLst/>
            <a:cxnLst/>
            <a:rect r="r" b="b" t="t" l="l"/>
            <a:pathLst>
              <a:path h="588321" w="474326">
                <a:moveTo>
                  <a:pt x="0" y="0"/>
                </a:moveTo>
                <a:lnTo>
                  <a:pt x="474326" y="0"/>
                </a:lnTo>
                <a:lnTo>
                  <a:pt x="474326" y="588322"/>
                </a:lnTo>
                <a:lnTo>
                  <a:pt x="0" y="5883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099" r="-10598" b="-1584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2895483" y="2976680"/>
            <a:ext cx="626183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What We Did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35346" y="2976680"/>
            <a:ext cx="626183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What We Found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63769" y="3709306"/>
            <a:ext cx="6342025" cy="398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Visited 27 branches across the region plus RO departments (Retail Loans, Currency Chest) to administer a questionnaire on training effectiveness.</a:t>
            </a: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82205" y="3709306"/>
            <a:ext cx="6342025" cy="398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Staffing varied widely (e.g. Triplicane 2 ran on 2 officers and 1 cashier), directly limiting training time. Employees compared classroom, online and live-streamed training and how far they applied it at work.</a:t>
            </a: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51738">
            <a:off x="-474655" y="6127027"/>
            <a:ext cx="19237310" cy="7310178"/>
          </a:xfrm>
          <a:custGeom>
            <a:avLst/>
            <a:gdLst/>
            <a:ahLst/>
            <a:cxnLst/>
            <a:rect r="r" b="b" t="t" l="l"/>
            <a:pathLst>
              <a:path h="7310178" w="19237310">
                <a:moveTo>
                  <a:pt x="0" y="0"/>
                </a:moveTo>
                <a:lnTo>
                  <a:pt x="19237310" y="0"/>
                </a:lnTo>
                <a:lnTo>
                  <a:pt x="19237310" y="7310177"/>
                </a:lnTo>
                <a:lnTo>
                  <a:pt x="0" y="7310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-3918093">
            <a:off x="12198120" y="-2779055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4241412" y="866775"/>
            <a:ext cx="9805176" cy="1500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50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Change Management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16535518" y="3806048"/>
            <a:ext cx="1447564" cy="628188"/>
          </a:xfrm>
          <a:custGeom>
            <a:avLst/>
            <a:gdLst/>
            <a:ahLst/>
            <a:cxnLst/>
            <a:rect r="r" b="b" t="t" l="l"/>
            <a:pathLst>
              <a:path h="628188" w="1447564">
                <a:moveTo>
                  <a:pt x="0" y="0"/>
                </a:moveTo>
                <a:lnTo>
                  <a:pt x="1447564" y="0"/>
                </a:lnTo>
                <a:lnTo>
                  <a:pt x="1447564" y="628188"/>
                </a:lnTo>
                <a:lnTo>
                  <a:pt x="0" y="6281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1282574">
            <a:off x="-5134247" y="-2342996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032684" y="1037874"/>
            <a:ext cx="432986" cy="585638"/>
          </a:xfrm>
          <a:custGeom>
            <a:avLst/>
            <a:gdLst/>
            <a:ahLst/>
            <a:cxnLst/>
            <a:rect r="r" b="b" t="t" l="l"/>
            <a:pathLst>
              <a:path h="585638" w="432986">
                <a:moveTo>
                  <a:pt x="0" y="0"/>
                </a:moveTo>
                <a:lnTo>
                  <a:pt x="432987" y="0"/>
                </a:lnTo>
                <a:lnTo>
                  <a:pt x="432987" y="585638"/>
                </a:lnTo>
                <a:lnTo>
                  <a:pt x="0" y="5856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21157" b="-4158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1268082" y="1198060"/>
            <a:ext cx="1535820" cy="26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/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32684" y="1050223"/>
            <a:ext cx="474326" cy="588321"/>
          </a:xfrm>
          <a:custGeom>
            <a:avLst/>
            <a:gdLst/>
            <a:ahLst/>
            <a:cxnLst/>
            <a:rect r="r" b="b" t="t" l="l"/>
            <a:pathLst>
              <a:path h="588321" w="474326">
                <a:moveTo>
                  <a:pt x="0" y="0"/>
                </a:moveTo>
                <a:lnTo>
                  <a:pt x="474326" y="0"/>
                </a:lnTo>
                <a:lnTo>
                  <a:pt x="474326" y="588322"/>
                </a:lnTo>
                <a:lnTo>
                  <a:pt x="0" y="5883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099" r="-10598" b="-1584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2676815" y="2986205"/>
            <a:ext cx="5465474" cy="518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The Merger: Andhra Bank and Corporation Bank amalgamated with Union Bank of India, bringing employees from different legacy systems together.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67039" y="2976680"/>
            <a:ext cx="401391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SOP Adoption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67039" y="3708874"/>
            <a:ext cx="7665568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Staff had to learn common Standard Operating Procedures for documentation, authorisation levels and customer service.</a:t>
            </a: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67039" y="5420199"/>
            <a:ext cx="401391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Ongoing Training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67039" y="6152394"/>
            <a:ext cx="7665568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Continuous training, not one-time orientation, helped employees adapt with confidence to the merged systems.</a:t>
            </a: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918093">
            <a:off x="15382268" y="-1274821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241412" y="914400"/>
            <a:ext cx="9805176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Key Learnings</a:t>
            </a:r>
          </a:p>
          <a:p>
            <a:pPr algn="ctr">
              <a:lnSpc>
                <a:spcPts val="84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1282574">
            <a:off x="-3784431" y="3582319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-5400000">
            <a:off x="308903" y="5851351"/>
            <a:ext cx="1447564" cy="628188"/>
          </a:xfrm>
          <a:custGeom>
            <a:avLst/>
            <a:gdLst/>
            <a:ahLst/>
            <a:cxnLst/>
            <a:rect r="r" b="b" t="t" l="l"/>
            <a:pathLst>
              <a:path h="628188" w="1447564">
                <a:moveTo>
                  <a:pt x="0" y="0"/>
                </a:moveTo>
                <a:lnTo>
                  <a:pt x="1447563" y="0"/>
                </a:lnTo>
                <a:lnTo>
                  <a:pt x="1447563" y="628189"/>
                </a:lnTo>
                <a:lnTo>
                  <a:pt x="0" y="628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2939769" y="2976680"/>
            <a:ext cx="13043344" cy="741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42147"/>
                </a:solidFill>
                <a:latin typeface="DM Sans Bold"/>
                <a:ea typeface="DM Sans Bold"/>
                <a:cs typeface="DM Sans Bold"/>
                <a:sym typeface="DM Sans Bold"/>
              </a:rPr>
              <a:t>Broad HR Perspectiv</a:t>
            </a:r>
            <a:r>
              <a:rPr lang="en-US" b="true" sz="2800">
                <a:solidFill>
                  <a:srgbClr val="042147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sz="28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: HR in a public-sector bank goes beyond recruitment and salary — it covers welfare, leave, transfers, training, internal communication and industrial relations.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42147"/>
                </a:solidFill>
                <a:latin typeface="DM Sans Bold"/>
                <a:ea typeface="DM Sans Bold"/>
                <a:cs typeface="DM Sans Bold"/>
                <a:sym typeface="DM Sans Bold"/>
              </a:rPr>
              <a:t>Research Skills</a:t>
            </a:r>
            <a:r>
              <a:rPr lang="en-US" sz="28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: developed professional communication, research ethics and respectful data collection in a live banking environment.</a:t>
            </a:r>
          </a:p>
          <a:p>
            <a:pPr algn="just">
              <a:lnSpc>
                <a:spcPts val="392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031174" y="7270421"/>
            <a:ext cx="5458016" cy="3234380"/>
          </a:xfrm>
          <a:custGeom>
            <a:avLst/>
            <a:gdLst/>
            <a:ahLst/>
            <a:cxnLst/>
            <a:rect r="r" b="b" t="t" l="l"/>
            <a:pathLst>
              <a:path h="3234380" w="5458016">
                <a:moveTo>
                  <a:pt x="0" y="0"/>
                </a:moveTo>
                <a:lnTo>
                  <a:pt x="5458016" y="0"/>
                </a:lnTo>
                <a:lnTo>
                  <a:pt x="5458016" y="3234379"/>
                </a:lnTo>
                <a:lnTo>
                  <a:pt x="0" y="32343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-5400000">
            <a:off x="15579570" y="-717218"/>
            <a:ext cx="2708858" cy="3110380"/>
          </a:xfrm>
          <a:custGeom>
            <a:avLst/>
            <a:gdLst/>
            <a:ahLst/>
            <a:cxnLst/>
            <a:rect r="r" b="b" t="t" l="l"/>
            <a:pathLst>
              <a:path h="3110380" w="2708858">
                <a:moveTo>
                  <a:pt x="0" y="0"/>
                </a:moveTo>
                <a:lnTo>
                  <a:pt x="2708859" y="0"/>
                </a:lnTo>
                <a:lnTo>
                  <a:pt x="2708859" y="3110380"/>
                </a:lnTo>
                <a:lnTo>
                  <a:pt x="0" y="31103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032684" y="1037874"/>
            <a:ext cx="432986" cy="585638"/>
          </a:xfrm>
          <a:custGeom>
            <a:avLst/>
            <a:gdLst/>
            <a:ahLst/>
            <a:cxnLst/>
            <a:rect r="r" b="b" t="t" l="l"/>
            <a:pathLst>
              <a:path h="585638" w="432986">
                <a:moveTo>
                  <a:pt x="0" y="0"/>
                </a:moveTo>
                <a:lnTo>
                  <a:pt x="432987" y="0"/>
                </a:lnTo>
                <a:lnTo>
                  <a:pt x="432987" y="585638"/>
                </a:lnTo>
                <a:lnTo>
                  <a:pt x="0" y="585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21157" b="-4158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032684" y="1050223"/>
            <a:ext cx="474326" cy="588321"/>
          </a:xfrm>
          <a:custGeom>
            <a:avLst/>
            <a:gdLst/>
            <a:ahLst/>
            <a:cxnLst/>
            <a:rect r="r" b="b" t="t" l="l"/>
            <a:pathLst>
              <a:path h="588321" w="474326">
                <a:moveTo>
                  <a:pt x="0" y="0"/>
                </a:moveTo>
                <a:lnTo>
                  <a:pt x="474326" y="0"/>
                </a:lnTo>
                <a:lnTo>
                  <a:pt x="474326" y="588322"/>
                </a:lnTo>
                <a:lnTo>
                  <a:pt x="0" y="588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099" r="-10598" b="-1584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1268082" y="1198060"/>
            <a:ext cx="1535820" cy="26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/>
            </a:r>
          </a:p>
        </p:txBody>
      </p:sp>
      <p:grpSp>
        <p:nvGrpSpPr>
          <p:cNvPr name="Group 12" id="12"/>
          <p:cNvGrpSpPr/>
          <p:nvPr/>
        </p:nvGrpSpPr>
        <p:grpSpPr>
          <a:xfrm rot="2162957">
            <a:off x="72736" y="-2984879"/>
            <a:ext cx="1543050" cy="6739091"/>
            <a:chOff x="0" y="0"/>
            <a:chExt cx="406400" cy="17749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1774905"/>
            </a:xfrm>
            <a:custGeom>
              <a:avLst/>
              <a:gdLst/>
              <a:ahLst/>
              <a:cxnLst/>
              <a:rect r="r" b="b" t="t" l="l"/>
              <a:pathLst>
                <a:path h="177490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1774905"/>
                  </a:lnTo>
                  <a:lnTo>
                    <a:pt x="0" y="17749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61E2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182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2162957">
            <a:off x="-438456" y="-3369546"/>
            <a:ext cx="1543050" cy="6739091"/>
            <a:chOff x="0" y="0"/>
            <a:chExt cx="406400" cy="17749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" cy="1774905"/>
            </a:xfrm>
            <a:custGeom>
              <a:avLst/>
              <a:gdLst/>
              <a:ahLst/>
              <a:cxnLst/>
              <a:rect r="r" b="b" t="t" l="l"/>
              <a:pathLst>
                <a:path h="177490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1774905"/>
                  </a:lnTo>
                  <a:lnTo>
                    <a:pt x="0" y="17749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497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47625"/>
              <a:ext cx="203200" cy="1822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6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918093">
            <a:off x="13261552" y="-2571595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241412" y="866775"/>
            <a:ext cx="9805176" cy="1500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50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Core Takeaways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1104356" y="7533948"/>
            <a:ext cx="7183644" cy="3905290"/>
          </a:xfrm>
          <a:custGeom>
            <a:avLst/>
            <a:gdLst/>
            <a:ahLst/>
            <a:cxnLst/>
            <a:rect r="r" b="b" t="t" l="l"/>
            <a:pathLst>
              <a:path h="3905290" w="7183644">
                <a:moveTo>
                  <a:pt x="7183644" y="0"/>
                </a:moveTo>
                <a:lnTo>
                  <a:pt x="0" y="0"/>
                </a:lnTo>
                <a:lnTo>
                  <a:pt x="0" y="3905290"/>
                </a:lnTo>
                <a:lnTo>
                  <a:pt x="7183644" y="3905290"/>
                </a:lnTo>
                <a:lnTo>
                  <a:pt x="718364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-5400000">
            <a:off x="16535518" y="5781697"/>
            <a:ext cx="1447564" cy="628188"/>
          </a:xfrm>
          <a:custGeom>
            <a:avLst/>
            <a:gdLst/>
            <a:ahLst/>
            <a:cxnLst/>
            <a:rect r="r" b="b" t="t" l="l"/>
            <a:pathLst>
              <a:path h="628188" w="1447564">
                <a:moveTo>
                  <a:pt x="0" y="0"/>
                </a:moveTo>
                <a:lnTo>
                  <a:pt x="1447564" y="0"/>
                </a:lnTo>
                <a:lnTo>
                  <a:pt x="1447564" y="628188"/>
                </a:lnTo>
                <a:lnTo>
                  <a:pt x="0" y="6281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-1194190">
            <a:off x="-5221492" y="123017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032684" y="1037874"/>
            <a:ext cx="432986" cy="585638"/>
          </a:xfrm>
          <a:custGeom>
            <a:avLst/>
            <a:gdLst/>
            <a:ahLst/>
            <a:cxnLst/>
            <a:rect r="r" b="b" t="t" l="l"/>
            <a:pathLst>
              <a:path h="585638" w="432986">
                <a:moveTo>
                  <a:pt x="0" y="0"/>
                </a:moveTo>
                <a:lnTo>
                  <a:pt x="432987" y="0"/>
                </a:lnTo>
                <a:lnTo>
                  <a:pt x="432987" y="585638"/>
                </a:lnTo>
                <a:lnTo>
                  <a:pt x="0" y="5856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21157" b="-4158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1268082" y="1198060"/>
            <a:ext cx="1535820" cy="26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/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32684" y="1050223"/>
            <a:ext cx="474326" cy="588321"/>
          </a:xfrm>
          <a:custGeom>
            <a:avLst/>
            <a:gdLst/>
            <a:ahLst/>
            <a:cxnLst/>
            <a:rect r="r" b="b" t="t" l="l"/>
            <a:pathLst>
              <a:path h="588321" w="474326">
                <a:moveTo>
                  <a:pt x="0" y="0"/>
                </a:moveTo>
                <a:lnTo>
                  <a:pt x="474326" y="0"/>
                </a:lnTo>
                <a:lnTo>
                  <a:pt x="474326" y="588322"/>
                </a:lnTo>
                <a:lnTo>
                  <a:pt x="0" y="5883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099" r="-10598" b="-1584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-228600" y="7533948"/>
            <a:ext cx="7183644" cy="3905290"/>
          </a:xfrm>
          <a:custGeom>
            <a:avLst/>
            <a:gdLst/>
            <a:ahLst/>
            <a:cxnLst/>
            <a:rect r="r" b="b" t="t" l="l"/>
            <a:pathLst>
              <a:path h="3905290" w="7183644">
                <a:moveTo>
                  <a:pt x="0" y="0"/>
                </a:moveTo>
                <a:lnTo>
                  <a:pt x="7183644" y="0"/>
                </a:lnTo>
                <a:lnTo>
                  <a:pt x="7183644" y="3905290"/>
                </a:lnTo>
                <a:lnTo>
                  <a:pt x="0" y="39052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2676815" y="2986205"/>
            <a:ext cx="13447675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Confidentiality and controlled access are central to handling employee records.</a:t>
            </a: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76815" y="4374989"/>
            <a:ext cx="13447675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Staffing levels and branch workload directly shape training participation.</a:t>
            </a: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76815" y="5762464"/>
            <a:ext cx="13447675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Hybrid learning (classroom + digital + live) works best when matched to the branch's operating conditions.</a:t>
            </a: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76815" y="7151247"/>
            <a:ext cx="13447675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Training is a key tool of change management during organisational transitions.</a:t>
            </a: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13376033" y="6763973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-3918093">
            <a:off x="13241272" y="-5249286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2161387">
            <a:off x="820408" y="-682944"/>
            <a:ext cx="17754162" cy="15023774"/>
            <a:chOff x="0" y="0"/>
            <a:chExt cx="23672216" cy="20031698"/>
          </a:xfrm>
        </p:grpSpPr>
        <p:sp>
          <p:nvSpPr>
            <p:cNvPr name="Freeform 5" id="5"/>
            <p:cNvSpPr/>
            <p:nvPr/>
          </p:nvSpPr>
          <p:spPr>
            <a:xfrm flipH="false" flipV="false" rot="-4034410">
              <a:off x="721671" y="13508156"/>
              <a:ext cx="5897366" cy="5486400"/>
            </a:xfrm>
            <a:custGeom>
              <a:avLst/>
              <a:gdLst/>
              <a:ahLst/>
              <a:cxnLst/>
              <a:rect r="r" b="b" t="t" l="l"/>
              <a:pathLst>
                <a:path h="5486400" w="5897366">
                  <a:moveTo>
                    <a:pt x="0" y="0"/>
                  </a:moveTo>
                  <a:lnTo>
                    <a:pt x="5897366" y="0"/>
                  </a:lnTo>
                  <a:lnTo>
                    <a:pt x="589736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4758324">
              <a:off x="7096211" y="10403876"/>
              <a:ext cx="5897366" cy="5486400"/>
            </a:xfrm>
            <a:custGeom>
              <a:avLst/>
              <a:gdLst/>
              <a:ahLst/>
              <a:cxnLst/>
              <a:rect r="r" b="b" t="t" l="l"/>
              <a:pathLst>
                <a:path h="5486400" w="5897366">
                  <a:moveTo>
                    <a:pt x="0" y="0"/>
                  </a:moveTo>
                  <a:lnTo>
                    <a:pt x="5897366" y="0"/>
                  </a:lnTo>
                  <a:lnTo>
                    <a:pt x="589736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5422178">
              <a:off x="12766985" y="6085744"/>
              <a:ext cx="5897366" cy="5486400"/>
            </a:xfrm>
            <a:custGeom>
              <a:avLst/>
              <a:gdLst/>
              <a:ahLst/>
              <a:cxnLst/>
              <a:rect r="r" b="b" t="t" l="l"/>
              <a:pathLst>
                <a:path h="5486400" w="5897366">
                  <a:moveTo>
                    <a:pt x="0" y="0"/>
                  </a:moveTo>
                  <a:lnTo>
                    <a:pt x="5897367" y="0"/>
                  </a:lnTo>
                  <a:lnTo>
                    <a:pt x="5897367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6146091">
              <a:off x="17409745" y="727003"/>
              <a:ext cx="5897366" cy="5486400"/>
            </a:xfrm>
            <a:custGeom>
              <a:avLst/>
              <a:gdLst/>
              <a:ahLst/>
              <a:cxnLst/>
              <a:rect r="r" b="b" t="t" l="l"/>
              <a:pathLst>
                <a:path h="5486400" w="5897366">
                  <a:moveTo>
                    <a:pt x="0" y="0"/>
                  </a:moveTo>
                  <a:lnTo>
                    <a:pt x="5897367" y="0"/>
                  </a:lnTo>
                  <a:lnTo>
                    <a:pt x="5897367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533186" y="888298"/>
            <a:ext cx="13924129" cy="1500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8799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Conclusion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307024" y="7669968"/>
            <a:ext cx="5337688" cy="2901761"/>
          </a:xfrm>
          <a:custGeom>
            <a:avLst/>
            <a:gdLst/>
            <a:ahLst/>
            <a:cxnLst/>
            <a:rect r="r" b="b" t="t" l="l"/>
            <a:pathLst>
              <a:path h="2901761" w="5337688">
                <a:moveTo>
                  <a:pt x="0" y="0"/>
                </a:moveTo>
                <a:lnTo>
                  <a:pt x="5337688" y="0"/>
                </a:lnTo>
                <a:lnTo>
                  <a:pt x="5337688" y="2901761"/>
                </a:lnTo>
                <a:lnTo>
                  <a:pt x="0" y="29017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032684" y="1037874"/>
            <a:ext cx="432986" cy="585638"/>
          </a:xfrm>
          <a:custGeom>
            <a:avLst/>
            <a:gdLst/>
            <a:ahLst/>
            <a:cxnLst/>
            <a:rect r="r" b="b" t="t" l="l"/>
            <a:pathLst>
              <a:path h="585638" w="432986">
                <a:moveTo>
                  <a:pt x="0" y="0"/>
                </a:moveTo>
                <a:lnTo>
                  <a:pt x="432987" y="0"/>
                </a:lnTo>
                <a:lnTo>
                  <a:pt x="432987" y="585638"/>
                </a:lnTo>
                <a:lnTo>
                  <a:pt x="0" y="5856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21157" b="-4158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1268082" y="1198060"/>
            <a:ext cx="1535820" cy="26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/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32684" y="1050223"/>
            <a:ext cx="474326" cy="588321"/>
          </a:xfrm>
          <a:custGeom>
            <a:avLst/>
            <a:gdLst/>
            <a:ahLst/>
            <a:cxnLst/>
            <a:rect r="r" b="b" t="t" l="l"/>
            <a:pathLst>
              <a:path h="588321" w="474326">
                <a:moveTo>
                  <a:pt x="0" y="0"/>
                </a:moveTo>
                <a:lnTo>
                  <a:pt x="474326" y="0"/>
                </a:lnTo>
                <a:lnTo>
                  <a:pt x="474326" y="588322"/>
                </a:lnTo>
                <a:lnTo>
                  <a:pt x="0" y="5883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099" r="-10598" b="-1584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2731581" y="5408804"/>
            <a:ext cx="921113" cy="1498852"/>
          </a:xfrm>
          <a:custGeom>
            <a:avLst/>
            <a:gdLst/>
            <a:ahLst/>
            <a:cxnLst/>
            <a:rect r="r" b="b" t="t" l="l"/>
            <a:pathLst>
              <a:path h="1498852" w="921113">
                <a:moveTo>
                  <a:pt x="0" y="0"/>
                </a:moveTo>
                <a:lnTo>
                  <a:pt x="921113" y="0"/>
                </a:lnTo>
                <a:lnTo>
                  <a:pt x="921113" y="1498852"/>
                </a:lnTo>
                <a:lnTo>
                  <a:pt x="0" y="14988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2862013" y="5566571"/>
            <a:ext cx="660249" cy="660249"/>
          </a:xfrm>
          <a:custGeom>
            <a:avLst/>
            <a:gdLst/>
            <a:ahLst/>
            <a:cxnLst/>
            <a:rect r="r" b="b" t="t" l="l"/>
            <a:pathLst>
              <a:path h="660249" w="660249">
                <a:moveTo>
                  <a:pt x="0" y="0"/>
                </a:moveTo>
                <a:lnTo>
                  <a:pt x="660249" y="0"/>
                </a:lnTo>
                <a:lnTo>
                  <a:pt x="660249" y="660249"/>
                </a:lnTo>
                <a:lnTo>
                  <a:pt x="0" y="6602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5904503" y="6697046"/>
            <a:ext cx="921113" cy="1498852"/>
          </a:xfrm>
          <a:custGeom>
            <a:avLst/>
            <a:gdLst/>
            <a:ahLst/>
            <a:cxnLst/>
            <a:rect r="r" b="b" t="t" l="l"/>
            <a:pathLst>
              <a:path h="1498852" w="921113">
                <a:moveTo>
                  <a:pt x="0" y="0"/>
                </a:moveTo>
                <a:lnTo>
                  <a:pt x="921113" y="0"/>
                </a:lnTo>
                <a:lnTo>
                  <a:pt x="921113" y="1498853"/>
                </a:lnTo>
                <a:lnTo>
                  <a:pt x="0" y="14988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0728662" y="6828943"/>
            <a:ext cx="921113" cy="1498852"/>
          </a:xfrm>
          <a:custGeom>
            <a:avLst/>
            <a:gdLst/>
            <a:ahLst/>
            <a:cxnLst/>
            <a:rect r="r" b="b" t="t" l="l"/>
            <a:pathLst>
              <a:path h="1498852" w="921113">
                <a:moveTo>
                  <a:pt x="0" y="0"/>
                </a:moveTo>
                <a:lnTo>
                  <a:pt x="921112" y="0"/>
                </a:lnTo>
                <a:lnTo>
                  <a:pt x="921112" y="1498852"/>
                </a:lnTo>
                <a:lnTo>
                  <a:pt x="0" y="14988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5495268" y="5948646"/>
            <a:ext cx="921113" cy="1498852"/>
          </a:xfrm>
          <a:custGeom>
            <a:avLst/>
            <a:gdLst/>
            <a:ahLst/>
            <a:cxnLst/>
            <a:rect r="r" b="b" t="t" l="l"/>
            <a:pathLst>
              <a:path h="1498852" w="921113">
                <a:moveTo>
                  <a:pt x="0" y="0"/>
                </a:moveTo>
                <a:lnTo>
                  <a:pt x="921113" y="0"/>
                </a:lnTo>
                <a:lnTo>
                  <a:pt x="921113" y="1498852"/>
                </a:lnTo>
                <a:lnTo>
                  <a:pt x="0" y="14988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9" id="19"/>
          <p:cNvSpPr/>
          <p:nvPr/>
        </p:nvSpPr>
        <p:spPr>
          <a:xfrm flipH="false" flipV="false" rot="0">
            <a:off x="6034935" y="6827917"/>
            <a:ext cx="660249" cy="660249"/>
          </a:xfrm>
          <a:custGeom>
            <a:avLst/>
            <a:gdLst/>
            <a:ahLst/>
            <a:cxnLst/>
            <a:rect r="r" b="b" t="t" l="l"/>
            <a:pathLst>
              <a:path h="660249" w="660249">
                <a:moveTo>
                  <a:pt x="0" y="0"/>
                </a:moveTo>
                <a:lnTo>
                  <a:pt x="660249" y="0"/>
                </a:lnTo>
                <a:lnTo>
                  <a:pt x="660249" y="660249"/>
                </a:lnTo>
                <a:lnTo>
                  <a:pt x="0" y="6602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10859094" y="6986002"/>
            <a:ext cx="660249" cy="660249"/>
          </a:xfrm>
          <a:custGeom>
            <a:avLst/>
            <a:gdLst/>
            <a:ahLst/>
            <a:cxnLst/>
            <a:rect r="r" b="b" t="t" l="l"/>
            <a:pathLst>
              <a:path h="660249" w="660249">
                <a:moveTo>
                  <a:pt x="0" y="0"/>
                </a:moveTo>
                <a:lnTo>
                  <a:pt x="660248" y="0"/>
                </a:lnTo>
                <a:lnTo>
                  <a:pt x="660248" y="660249"/>
                </a:lnTo>
                <a:lnTo>
                  <a:pt x="0" y="6602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15625701" y="6079517"/>
            <a:ext cx="660249" cy="660249"/>
          </a:xfrm>
          <a:custGeom>
            <a:avLst/>
            <a:gdLst/>
            <a:ahLst/>
            <a:cxnLst/>
            <a:rect r="r" b="b" t="t" l="l"/>
            <a:pathLst>
              <a:path h="660249" w="660249">
                <a:moveTo>
                  <a:pt x="0" y="0"/>
                </a:moveTo>
                <a:lnTo>
                  <a:pt x="660248" y="0"/>
                </a:lnTo>
                <a:lnTo>
                  <a:pt x="660248" y="660248"/>
                </a:lnTo>
                <a:lnTo>
                  <a:pt x="0" y="6602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2" id="22"/>
          <p:cNvSpPr/>
          <p:nvPr/>
        </p:nvSpPr>
        <p:spPr>
          <a:xfrm flipH="false" flipV="false" rot="0">
            <a:off x="6159011" y="6906630"/>
            <a:ext cx="412096" cy="502822"/>
          </a:xfrm>
          <a:custGeom>
            <a:avLst/>
            <a:gdLst/>
            <a:ahLst/>
            <a:cxnLst/>
            <a:rect r="r" b="b" t="t" l="l"/>
            <a:pathLst>
              <a:path h="502822" w="412096">
                <a:moveTo>
                  <a:pt x="0" y="0"/>
                </a:moveTo>
                <a:lnTo>
                  <a:pt x="412096" y="0"/>
                </a:lnTo>
                <a:lnTo>
                  <a:pt x="412096" y="502822"/>
                </a:lnTo>
                <a:lnTo>
                  <a:pt x="0" y="50282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3" id="23"/>
          <p:cNvSpPr/>
          <p:nvPr/>
        </p:nvSpPr>
        <p:spPr>
          <a:xfrm flipH="false" flipV="false" rot="0">
            <a:off x="10978524" y="7103889"/>
            <a:ext cx="421389" cy="424476"/>
          </a:xfrm>
          <a:custGeom>
            <a:avLst/>
            <a:gdLst/>
            <a:ahLst/>
            <a:cxnLst/>
            <a:rect r="r" b="b" t="t" l="l"/>
            <a:pathLst>
              <a:path h="424476" w="421389">
                <a:moveTo>
                  <a:pt x="0" y="0"/>
                </a:moveTo>
                <a:lnTo>
                  <a:pt x="421388" y="0"/>
                </a:lnTo>
                <a:lnTo>
                  <a:pt x="421388" y="424476"/>
                </a:lnTo>
                <a:lnTo>
                  <a:pt x="0" y="42447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4" id="24"/>
          <p:cNvSpPr/>
          <p:nvPr/>
        </p:nvSpPr>
        <p:spPr>
          <a:xfrm flipH="false" flipV="false" rot="0">
            <a:off x="2893387" y="5599322"/>
            <a:ext cx="597501" cy="594748"/>
          </a:xfrm>
          <a:custGeom>
            <a:avLst/>
            <a:gdLst/>
            <a:ahLst/>
            <a:cxnLst/>
            <a:rect r="r" b="b" t="t" l="l"/>
            <a:pathLst>
              <a:path h="594748" w="597501">
                <a:moveTo>
                  <a:pt x="0" y="0"/>
                </a:moveTo>
                <a:lnTo>
                  <a:pt x="597501" y="0"/>
                </a:lnTo>
                <a:lnTo>
                  <a:pt x="597501" y="594748"/>
                </a:lnTo>
                <a:lnTo>
                  <a:pt x="0" y="59474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5" id="25"/>
          <p:cNvSpPr/>
          <p:nvPr/>
        </p:nvSpPr>
        <p:spPr>
          <a:xfrm flipH="false" flipV="false" rot="0">
            <a:off x="15714161" y="6176765"/>
            <a:ext cx="483328" cy="465753"/>
          </a:xfrm>
          <a:custGeom>
            <a:avLst/>
            <a:gdLst/>
            <a:ahLst/>
            <a:cxnLst/>
            <a:rect r="r" b="b" t="t" l="l"/>
            <a:pathLst>
              <a:path h="465753" w="483328">
                <a:moveTo>
                  <a:pt x="0" y="0"/>
                </a:moveTo>
                <a:lnTo>
                  <a:pt x="483328" y="0"/>
                </a:lnTo>
                <a:lnTo>
                  <a:pt x="483328" y="465752"/>
                </a:lnTo>
                <a:lnTo>
                  <a:pt x="0" y="46575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6" id="26"/>
          <p:cNvSpPr txBox="true"/>
          <p:nvPr/>
        </p:nvSpPr>
        <p:spPr>
          <a:xfrm rot="0">
            <a:off x="9999019" y="6129140"/>
            <a:ext cx="238039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Professional Growth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71730" y="6031892"/>
            <a:ext cx="338665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Operational Grounding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652350" y="5302034"/>
            <a:ext cx="260695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Dissertation Value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27756" y="4839059"/>
            <a:ext cx="192876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Theory to Practice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676815" y="3010261"/>
            <a:ext cx="14457325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>The internship connected classroom learning with practical HR administration, fieldwork and change management, directly informing the dissertation on Hybrid Learning and Training Effectiveness.</a:t>
            </a:r>
            <a:r>
              <a:rPr lang="en-US" sz="2300">
                <a:solidFill>
                  <a:srgbClr val="042147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41412" y="2951702"/>
            <a:ext cx="9805176" cy="2139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99"/>
              </a:lnSpc>
            </a:pPr>
            <a:r>
              <a:rPr lang="en-US" sz="12499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3918093">
            <a:off x="7207283" y="7457070"/>
            <a:ext cx="7195419" cy="7615511"/>
          </a:xfrm>
          <a:custGeom>
            <a:avLst/>
            <a:gdLst/>
            <a:ahLst/>
            <a:cxnLst/>
            <a:rect r="r" b="b" t="t" l="l"/>
            <a:pathLst>
              <a:path h="7615511" w="7195419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-369372" y="6989550"/>
            <a:ext cx="7183644" cy="3905290"/>
          </a:xfrm>
          <a:custGeom>
            <a:avLst/>
            <a:gdLst/>
            <a:ahLst/>
            <a:cxnLst/>
            <a:rect r="r" b="b" t="t" l="l"/>
            <a:pathLst>
              <a:path h="3905290" w="7183644">
                <a:moveTo>
                  <a:pt x="0" y="0"/>
                </a:moveTo>
                <a:lnTo>
                  <a:pt x="7183644" y="0"/>
                </a:lnTo>
                <a:lnTo>
                  <a:pt x="7183644" y="3905290"/>
                </a:lnTo>
                <a:lnTo>
                  <a:pt x="0" y="3905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-5400000">
            <a:off x="304918" y="4761049"/>
            <a:ext cx="1447564" cy="628188"/>
          </a:xfrm>
          <a:custGeom>
            <a:avLst/>
            <a:gdLst/>
            <a:ahLst/>
            <a:cxnLst/>
            <a:rect r="r" b="b" t="t" l="l"/>
            <a:pathLst>
              <a:path h="628188" w="1447564">
                <a:moveTo>
                  <a:pt x="0" y="0"/>
                </a:moveTo>
                <a:lnTo>
                  <a:pt x="1447564" y="0"/>
                </a:lnTo>
                <a:lnTo>
                  <a:pt x="1447564" y="628188"/>
                </a:lnTo>
                <a:lnTo>
                  <a:pt x="0" y="6281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-5400000">
            <a:off x="11136304" y="3113782"/>
            <a:ext cx="10952735" cy="4162039"/>
          </a:xfrm>
          <a:custGeom>
            <a:avLst/>
            <a:gdLst/>
            <a:ahLst/>
            <a:cxnLst/>
            <a:rect r="r" b="b" t="t" l="l"/>
            <a:pathLst>
              <a:path h="4162039" w="10952735">
                <a:moveTo>
                  <a:pt x="0" y="0"/>
                </a:moveTo>
                <a:lnTo>
                  <a:pt x="10952735" y="0"/>
                </a:lnTo>
                <a:lnTo>
                  <a:pt x="10952735" y="4162039"/>
                </a:lnTo>
                <a:lnTo>
                  <a:pt x="0" y="41620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032684" y="1037874"/>
            <a:ext cx="432986" cy="585638"/>
          </a:xfrm>
          <a:custGeom>
            <a:avLst/>
            <a:gdLst/>
            <a:ahLst/>
            <a:cxnLst/>
            <a:rect r="r" b="b" t="t" l="l"/>
            <a:pathLst>
              <a:path h="585638" w="432986">
                <a:moveTo>
                  <a:pt x="0" y="0"/>
                </a:moveTo>
                <a:lnTo>
                  <a:pt x="432987" y="0"/>
                </a:lnTo>
                <a:lnTo>
                  <a:pt x="432987" y="585638"/>
                </a:lnTo>
                <a:lnTo>
                  <a:pt x="0" y="585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21157" b="-4158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1268082" y="1198060"/>
            <a:ext cx="1535820" cy="26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/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32684" y="1050223"/>
            <a:ext cx="474326" cy="588321"/>
          </a:xfrm>
          <a:custGeom>
            <a:avLst/>
            <a:gdLst/>
            <a:ahLst/>
            <a:cxnLst/>
            <a:rect r="r" b="b" t="t" l="l"/>
            <a:pathLst>
              <a:path h="588321" w="474326">
                <a:moveTo>
                  <a:pt x="0" y="0"/>
                </a:moveTo>
                <a:lnTo>
                  <a:pt x="474326" y="0"/>
                </a:lnTo>
                <a:lnTo>
                  <a:pt x="474326" y="588322"/>
                </a:lnTo>
                <a:lnTo>
                  <a:pt x="0" y="588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099" r="-10598" b="-1584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5794414" y="5029226"/>
            <a:ext cx="6699172" cy="105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042147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Presented by Sreetama Ghosh Ray</a:t>
            </a:r>
          </a:p>
          <a:p>
            <a:pPr algn="ctr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DAHWaT3b6c8</dc:identifier>
  <dcterms:modified xsi:type="dcterms:W3CDTF">2011-08-01T06:04:30Z</dcterms:modified>
  <cp:revision>1</cp:revision>
  <dc:title>Internship 3 v1</dc:title>
</cp:coreProperties>
</file>