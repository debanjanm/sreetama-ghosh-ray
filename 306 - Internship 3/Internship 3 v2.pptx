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76" r:id="rId26"/>
    <p:sldId id="267" r:id="rId17"/>
    <p:sldId id="258" r:id="rId8"/>
    <p:sldId id="270" r:id="rId20"/>
    <p:sldId id="268" r:id="rId18"/>
    <p:sldId id="260" r:id="rId10"/>
    <p:sldId id="272" r:id="rId22"/>
    <p:sldId id="269" r:id="rId19"/>
    <p:sldId id="263" r:id="rId13"/>
    <p:sldId id="271" r:id="rId21"/>
    <p:sldId id="273" r:id="rId23"/>
    <p:sldId id="265" r:id="rId15"/>
  </p:sldIdLst>
  <p:sldSz cx="18288000" cy="10287000"/>
  <p:notesSz cx="6858000" cy="9144000"/>
  <p:embeddedFontLst>
    <p:embeddedFont>
      <p:font typeface="Cormorant Garamond Bold" charset="1" panose="00000800000000000000"/>
      <p:regular r:id="rId28"/>
    </p:embeddedFont>
    <p:embeddedFont>
      <p:font typeface="DM Sans Italics" charset="1" panose="00000000000000000000"/>
      <p:regular r:id="rId29"/>
    </p:embeddedFont>
    <p:embeddedFont>
      <p:font typeface="DM Sans Bold" charset="1" panose="00000000000000000000"/>
      <p:regular r:id="rId30"/>
    </p:embeddedFont>
    <p:embeddedFont>
      <p:font typeface="DM Sans" charset="1" panose="0000000000000000000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10" Type="http://schemas.openxmlformats.org/officeDocument/2006/relationships/slide" Target="slides/slide7.xml"/><Relationship Id="rId13" Type="http://schemas.openxmlformats.org/officeDocument/2006/relationships/slide" Target="slides/slide10.xml"/><Relationship Id="rId15" Type="http://schemas.openxmlformats.org/officeDocument/2006/relationships/slide" Target="slides/slide13.xml"/><Relationship Id="rId17" Type="http://schemas.openxmlformats.org/officeDocument/2006/relationships/slide" Target="slides/slide3.xml"/><Relationship Id="rId18" Type="http://schemas.openxmlformats.org/officeDocument/2006/relationships/slide" Target="slides/slide6.xml"/><Relationship Id="rId19" Type="http://schemas.openxmlformats.org/officeDocument/2006/relationships/slide" Target="slides/slide9.xml"/><Relationship Id="rId20" Type="http://schemas.openxmlformats.org/officeDocument/2006/relationships/slide" Target="slides/slide5.xml"/><Relationship Id="rId21" Type="http://schemas.openxmlformats.org/officeDocument/2006/relationships/slide" Target="slides/slide11.xml"/><Relationship Id="rId22" Type="http://schemas.openxmlformats.org/officeDocument/2006/relationships/slide" Target="slides/slide8.xml"/><Relationship Id="rId23" Type="http://schemas.openxmlformats.org/officeDocument/2006/relationships/slide" Target="slides/slide12.xml"/><Relationship Id="rId26" Type="http://schemas.openxmlformats.org/officeDocument/2006/relationships/slide" Target="slides/slide2.xml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1.png"/><Relationship Id="rId15" Type="http://schemas.openxmlformats.org/officeDocument/2006/relationships/image" Target="../media/image52.svg"/><Relationship Id="rId16" Type="http://schemas.openxmlformats.org/officeDocument/2006/relationships/image" Target="../media/image53.png"/><Relationship Id="rId17" Type="http://schemas.openxmlformats.org/officeDocument/2006/relationships/image" Target="../media/image54.svg"/><Relationship Id="rId18" Type="http://schemas.openxmlformats.org/officeDocument/2006/relationships/image" Target="../media/image55.png"/><Relationship Id="rId19" Type="http://schemas.openxmlformats.org/officeDocument/2006/relationships/image" Target="../media/image5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9.png"/><Relationship Id="rId13" Type="http://schemas.openxmlformats.org/officeDocument/2006/relationships/image" Target="../media/image10.svg"/><Relationship Id="rId14" Type="http://schemas.openxmlformats.org/officeDocument/2006/relationships/image" Target="../media/image21.png"/><Relationship Id="rId15" Type="http://schemas.openxmlformats.org/officeDocument/2006/relationships/image" Target="../media/image22.svg"/><Relationship Id="rId16" Type="http://schemas.openxmlformats.org/officeDocument/2006/relationships/image" Target="../media/image23.png"/><Relationship Id="rId17" Type="http://schemas.openxmlformats.org/officeDocument/2006/relationships/image" Target="../media/image24.svg"/><Relationship Id="rId18" Type="http://schemas.openxmlformats.org/officeDocument/2006/relationships/image" Target="../media/image25.png"/><Relationship Id="rId19" Type="http://schemas.openxmlformats.org/officeDocument/2006/relationships/image" Target="../media/image26.svg"/><Relationship Id="rId20" Type="http://schemas.openxmlformats.org/officeDocument/2006/relationships/image" Target="../media/image27.png"/><Relationship Id="rId21" Type="http://schemas.openxmlformats.org/officeDocument/2006/relationships/image" Target="../media/image28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29.png"/><Relationship Id="rId11" Type="http://schemas.openxmlformats.org/officeDocument/2006/relationships/image" Target="../media/image3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31.png"/><Relationship Id="rId5" Type="http://schemas.openxmlformats.org/officeDocument/2006/relationships/image" Target="../media/image32.svg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33.png"/><Relationship Id="rId11" Type="http://schemas.openxmlformats.org/officeDocument/2006/relationships/image" Target="../media/image34.svg"/><Relationship Id="rId12" Type="http://schemas.openxmlformats.org/officeDocument/2006/relationships/image" Target="../media/image35.png"/><Relationship Id="rId13" Type="http://schemas.openxmlformats.org/officeDocument/2006/relationships/image" Target="../media/image36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39.png"/><Relationship Id="rId17" Type="http://schemas.openxmlformats.org/officeDocument/2006/relationships/image" Target="../media/image40.svg"/><Relationship Id="rId18" Type="http://schemas.openxmlformats.org/officeDocument/2006/relationships/image" Target="../media/image41.png"/><Relationship Id="rId19" Type="http://schemas.openxmlformats.org/officeDocument/2006/relationships/image" Target="../media/image42.svg"/><Relationship Id="rId20" Type="http://schemas.openxmlformats.org/officeDocument/2006/relationships/image" Target="../media/image43.png"/><Relationship Id="rId21" Type="http://schemas.openxmlformats.org/officeDocument/2006/relationships/image" Target="../media/image4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7.png"/><Relationship Id="rId9" Type="http://schemas.openxmlformats.org/officeDocument/2006/relationships/image" Target="../media/image1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1282574">
            <a:off x="-5761586" y="614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6815" y="790575"/>
            <a:ext cx="11217858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</a:t>
            </a:r>
            <a:r>
              <a:rPr lang="en-US" b="true" sz="124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 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2162957">
            <a:off x="15024305" y="4998969"/>
            <a:ext cx="1543050" cy="6739091"/>
            <a:chOff x="0" y="0"/>
            <a:chExt cx="406400" cy="17749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1710300" y="553894"/>
            <a:ext cx="6990947" cy="10280804"/>
          </a:xfrm>
          <a:custGeom>
            <a:avLst/>
            <a:gdLst/>
            <a:ahLst/>
            <a:cxnLst/>
            <a:rect r="r" b="b" t="t" l="l"/>
            <a:pathLst>
              <a:path h="10280804" w="6990947">
                <a:moveTo>
                  <a:pt x="0" y="0"/>
                </a:moveTo>
                <a:lnTo>
                  <a:pt x="6990946" y="0"/>
                </a:lnTo>
                <a:lnTo>
                  <a:pt x="6990946" y="10280804"/>
                </a:lnTo>
                <a:lnTo>
                  <a:pt x="0" y="102808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9495251" y="7312613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2625521" y="2299289"/>
            <a:ext cx="9033485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</a:t>
            </a:r>
            <a:r>
              <a:rPr lang="en-US" b="true" sz="12400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PORT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4905479"/>
            <a:ext cx="7542218" cy="537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b="true" sz="3200" spc="256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PRESENTATION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676815" y="6521405"/>
            <a:ext cx="6699172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: Sreetama Ghosh Ray</a:t>
            </a:r>
          </a:p>
        </p:txBody>
      </p:sp>
      <p:sp>
        <p:nvSpPr>
          <p:cNvPr name="AutoShape 17" id="17"/>
          <p:cNvSpPr/>
          <p:nvPr/>
        </p:nvSpPr>
        <p:spPr>
          <a:xfrm flipV="true">
            <a:off x="2676815" y="6376773"/>
            <a:ext cx="857095" cy="0"/>
          </a:xfrm>
          <a:prstGeom prst="line">
            <a:avLst/>
          </a:prstGeom>
          <a:ln cap="flat" w="38100">
            <a:solidFill>
              <a:srgbClr val="E61E2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901082">
            <a:off x="8353544" y="768323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5238863" y="7146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-5400000">
            <a:off x="15111306" y="5391884"/>
            <a:ext cx="4295988" cy="5956434"/>
          </a:xfrm>
          <a:custGeom>
            <a:avLst/>
            <a:gdLst/>
            <a:ahLst/>
            <a:cxnLst/>
            <a:rect r="r" b="b" t="t" l="l"/>
            <a:pathLst>
              <a:path h="5956434" w="4295988">
                <a:moveTo>
                  <a:pt x="0" y="0"/>
                </a:moveTo>
                <a:lnTo>
                  <a:pt x="4295988" y="0"/>
                </a:lnTo>
                <a:lnTo>
                  <a:pt x="4295988" y="5956434"/>
                </a:lnTo>
                <a:lnTo>
                  <a:pt x="0" y="5956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2675534" y="5308595"/>
            <a:ext cx="802744" cy="516675"/>
          </a:xfrm>
          <a:custGeom>
            <a:avLst/>
            <a:gdLst/>
            <a:ahLst/>
            <a:cxnLst/>
            <a:rect r="r" b="b" t="t" l="l"/>
            <a:pathLst>
              <a:path h="516675" w="802744">
                <a:moveTo>
                  <a:pt x="0" y="0"/>
                </a:moveTo>
                <a:lnTo>
                  <a:pt x="802743" y="0"/>
                </a:lnTo>
                <a:lnTo>
                  <a:pt x="802743" y="516675"/>
                </a:lnTo>
                <a:lnTo>
                  <a:pt x="0" y="51667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2663128" y="4171115"/>
            <a:ext cx="802744" cy="777932"/>
          </a:xfrm>
          <a:custGeom>
            <a:avLst/>
            <a:gdLst/>
            <a:ahLst/>
            <a:cxnLst/>
            <a:rect r="r" b="b" t="t" l="l"/>
            <a:pathLst>
              <a:path h="777932" w="802744">
                <a:moveTo>
                  <a:pt x="0" y="0"/>
                </a:moveTo>
                <a:lnTo>
                  <a:pt x="802743" y="0"/>
                </a:lnTo>
                <a:lnTo>
                  <a:pt x="802743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2751418" y="6184819"/>
            <a:ext cx="626163" cy="782704"/>
          </a:xfrm>
          <a:custGeom>
            <a:avLst/>
            <a:gdLst/>
            <a:ahLst/>
            <a:cxnLst/>
            <a:rect r="r" b="b" t="t" l="l"/>
            <a:pathLst>
              <a:path h="782704" w="626163">
                <a:moveTo>
                  <a:pt x="0" y="0"/>
                </a:moveTo>
                <a:lnTo>
                  <a:pt x="626163" y="0"/>
                </a:lnTo>
                <a:lnTo>
                  <a:pt x="626163" y="782704"/>
                </a:lnTo>
                <a:lnTo>
                  <a:pt x="0" y="7827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2687940" y="3033830"/>
            <a:ext cx="777932" cy="777932"/>
          </a:xfrm>
          <a:custGeom>
            <a:avLst/>
            <a:gdLst/>
            <a:ahLst/>
            <a:cxnLst/>
            <a:rect r="r" b="b" t="t" l="l"/>
            <a:pathLst>
              <a:path h="777932" w="777932">
                <a:moveTo>
                  <a:pt x="0" y="0"/>
                </a:moveTo>
                <a:lnTo>
                  <a:pt x="777931" y="0"/>
                </a:lnTo>
                <a:lnTo>
                  <a:pt x="777931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Details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94471" y="3141808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694471" y="4290841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RO Chennai South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94471" y="5343940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19 Aug - 6 Oct 2026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72856" y="6306931"/>
            <a:ext cx="630655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30 working days, 240 hrs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447981" y="5059311"/>
            <a:ext cx="7928647" cy="8391547"/>
          </a:xfrm>
          <a:custGeom>
            <a:avLst/>
            <a:gdLst/>
            <a:ahLst/>
            <a:cxnLst/>
            <a:rect r="r" b="b" t="t" l="l"/>
            <a:pathLst>
              <a:path h="8391547" w="7928647">
                <a:moveTo>
                  <a:pt x="0" y="0"/>
                </a:moveTo>
                <a:lnTo>
                  <a:pt x="7928647" y="0"/>
                </a:lnTo>
                <a:lnTo>
                  <a:pt x="7928647" y="8391547"/>
                </a:lnTo>
                <a:lnTo>
                  <a:pt x="0" y="83915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10800000">
            <a:off x="12819770" y="-487885"/>
            <a:ext cx="6035013" cy="3280852"/>
          </a:xfrm>
          <a:custGeom>
            <a:avLst/>
            <a:gdLst/>
            <a:ahLst/>
            <a:cxnLst/>
            <a:rect r="r" b="b" t="t" l="l"/>
            <a:pathLst>
              <a:path h="3280852" w="6035013">
                <a:moveTo>
                  <a:pt x="0" y="0"/>
                </a:moveTo>
                <a:lnTo>
                  <a:pt x="6035013" y="0"/>
                </a:lnTo>
                <a:lnTo>
                  <a:pt x="6035013" y="3280852"/>
                </a:lnTo>
                <a:lnTo>
                  <a:pt x="0" y="32808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Organisation Profile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5302619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342574">
            <a:off x="-5457186" y="15852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-354911" y="6044306"/>
            <a:ext cx="3158813" cy="4379730"/>
          </a:xfrm>
          <a:custGeom>
            <a:avLst/>
            <a:gdLst/>
            <a:ahLst/>
            <a:cxnLst/>
            <a:rect r="r" b="b" t="t" l="l"/>
            <a:pathLst>
              <a:path h="4379730" w="3158813">
                <a:moveTo>
                  <a:pt x="0" y="0"/>
                </a:moveTo>
                <a:lnTo>
                  <a:pt x="3158814" y="0"/>
                </a:lnTo>
                <a:lnTo>
                  <a:pt x="3158814" y="4379730"/>
                </a:lnTo>
                <a:lnTo>
                  <a:pt x="0" y="43797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 public-sector bank with Head/Central Office in Mumbai, operating through Zonal, Regional and Branch levels.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95251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Administers ~75 branches - welfare, attendance, leave, transfers, salary and allowance processing. Its HR desk links Head Office policy to day-to-day branch administration, training, industrial relations and discipline.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Regional Office Chennai South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Scope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8903" y="5851351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3" y="0"/>
                </a:lnTo>
                <a:lnTo>
                  <a:pt x="1447563" y="628189"/>
                </a:lnTo>
                <a:lnTo>
                  <a:pt x="0" y="6281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67155"/>
            <a:ext cx="13043344" cy="6391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Object</a:t>
            </a: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ive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to gain practical exposure to HR operations in a public-sector bank, alongside primary data collection for the dissertation on Hybrid Learning and Training Effectiveness.</a:t>
            </a:r>
          </a:p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Divisional Exposure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involved in orientation across the RO's HR desk, the Rural and Agriculture Business Department (RABD), Currency Chest, and the branch network.</a:t>
            </a:r>
          </a:p>
          <a:p>
            <a:pPr algn="just">
              <a:lnSpc>
                <a:spcPts val="420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35647">
            <a:off x="13860940" y="3504858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13055885" y="4821395"/>
            <a:ext cx="2491219" cy="2491219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10800000">
            <a:off x="-205776" y="-176861"/>
            <a:ext cx="2378312" cy="3497517"/>
          </a:xfrm>
          <a:custGeom>
            <a:avLst/>
            <a:gdLst/>
            <a:ahLst/>
            <a:cxnLst/>
            <a:rect r="r" b="b" t="t" l="l"/>
            <a:pathLst>
              <a:path h="3497517" w="2378312">
                <a:moveTo>
                  <a:pt x="0" y="0"/>
                </a:moveTo>
                <a:lnTo>
                  <a:pt x="2378312" y="0"/>
                </a:lnTo>
                <a:lnTo>
                  <a:pt x="2378312" y="3497517"/>
                </a:lnTo>
                <a:lnTo>
                  <a:pt x="0" y="34975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59304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5400000">
            <a:off x="-10051" y="6336638"/>
            <a:ext cx="4045669" cy="4645340"/>
          </a:xfrm>
          <a:custGeom>
            <a:avLst/>
            <a:gdLst/>
            <a:ahLst/>
            <a:cxnLst/>
            <a:rect r="r" b="b" t="t" l="l"/>
            <a:pathLst>
              <a:path h="4645340" w="4045669">
                <a:moveTo>
                  <a:pt x="0" y="0"/>
                </a:moveTo>
                <a:lnTo>
                  <a:pt x="4045669" y="0"/>
                </a:lnTo>
                <a:lnTo>
                  <a:pt x="4045669" y="4645340"/>
                </a:lnTo>
                <a:lnTo>
                  <a:pt x="0" y="464534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-3121238">
            <a:off x="477653" y="6714946"/>
            <a:ext cx="1543050" cy="6739091"/>
            <a:chOff x="0" y="0"/>
            <a:chExt cx="406400" cy="17749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true" rot="5400000">
            <a:off x="15092905" y="-738114"/>
            <a:ext cx="2904200" cy="4026705"/>
          </a:xfrm>
          <a:custGeom>
            <a:avLst/>
            <a:gdLst/>
            <a:ahLst/>
            <a:cxnLst/>
            <a:rect r="r" b="b" t="t" l="l"/>
            <a:pathLst>
              <a:path h="4026705" w="2904200">
                <a:moveTo>
                  <a:pt x="0" y="4026705"/>
                </a:moveTo>
                <a:lnTo>
                  <a:pt x="2904199" y="4026705"/>
                </a:lnTo>
                <a:lnTo>
                  <a:pt x="2904199" y="0"/>
                </a:lnTo>
                <a:lnTo>
                  <a:pt x="0" y="0"/>
                </a:lnTo>
                <a:lnTo>
                  <a:pt x="0" y="4026705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grpSp>
        <p:nvGrpSpPr>
          <p:cNvPr name="Group 16" id="16"/>
          <p:cNvGrpSpPr/>
          <p:nvPr/>
        </p:nvGrpSpPr>
        <p:grpSpPr>
          <a:xfrm rot="0">
            <a:off x="2740897" y="4821395"/>
            <a:ext cx="2491219" cy="2491219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235122" y="4821395"/>
            <a:ext cx="2491219" cy="2491219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3574808" y="5167157"/>
            <a:ext cx="1533368" cy="1870950"/>
          </a:xfrm>
          <a:custGeom>
            <a:avLst/>
            <a:gdLst/>
            <a:ahLst/>
            <a:cxnLst/>
            <a:rect r="r" b="b" t="t" l="l"/>
            <a:pathLst>
              <a:path h="1870950" w="1533368">
                <a:moveTo>
                  <a:pt x="0" y="0"/>
                </a:moveTo>
                <a:lnTo>
                  <a:pt x="1533368" y="0"/>
                </a:lnTo>
                <a:lnTo>
                  <a:pt x="1533368" y="1870950"/>
                </a:lnTo>
                <a:lnTo>
                  <a:pt x="0" y="187095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6650865" y="5266686"/>
            <a:ext cx="1659734" cy="1671893"/>
          </a:xfrm>
          <a:custGeom>
            <a:avLst/>
            <a:gdLst/>
            <a:ahLst/>
            <a:cxnLst/>
            <a:rect r="r" b="b" t="t" l="l"/>
            <a:pathLst>
              <a:path h="1671893" w="1659734">
                <a:moveTo>
                  <a:pt x="0" y="0"/>
                </a:moveTo>
                <a:lnTo>
                  <a:pt x="1659734" y="0"/>
                </a:lnTo>
                <a:lnTo>
                  <a:pt x="1659734" y="1671893"/>
                </a:lnTo>
                <a:lnTo>
                  <a:pt x="0" y="167189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24" id="24"/>
          <p:cNvGrpSpPr/>
          <p:nvPr/>
        </p:nvGrpSpPr>
        <p:grpSpPr>
          <a:xfrm rot="0">
            <a:off x="9786291" y="4821395"/>
            <a:ext cx="2491219" cy="249121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0268776" y="5167157"/>
            <a:ext cx="1628621" cy="1680566"/>
          </a:xfrm>
          <a:custGeom>
            <a:avLst/>
            <a:gdLst/>
            <a:ahLst/>
            <a:cxnLst/>
            <a:rect r="r" b="b" t="t" l="l"/>
            <a:pathLst>
              <a:path h="1680566" w="1628621">
                <a:moveTo>
                  <a:pt x="0" y="0"/>
                </a:moveTo>
                <a:lnTo>
                  <a:pt x="1628621" y="0"/>
                </a:lnTo>
                <a:lnTo>
                  <a:pt x="1628621" y="1680566"/>
                </a:lnTo>
                <a:lnTo>
                  <a:pt x="0" y="1680566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8" id="28"/>
          <p:cNvSpPr/>
          <p:nvPr/>
        </p:nvSpPr>
        <p:spPr>
          <a:xfrm flipH="false" flipV="false" rot="0">
            <a:off x="3131855" y="5216290"/>
            <a:ext cx="1709302" cy="1701427"/>
          </a:xfrm>
          <a:custGeom>
            <a:avLst/>
            <a:gdLst/>
            <a:ahLst/>
            <a:cxnLst/>
            <a:rect r="r" b="b" t="t" l="l"/>
            <a:pathLst>
              <a:path h="1701427" w="1709302">
                <a:moveTo>
                  <a:pt x="0" y="0"/>
                </a:moveTo>
                <a:lnTo>
                  <a:pt x="1709302" y="0"/>
                </a:lnTo>
                <a:lnTo>
                  <a:pt x="1709302" y="1701427"/>
                </a:lnTo>
                <a:lnTo>
                  <a:pt x="0" y="170142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9" id="29"/>
          <p:cNvSpPr txBox="true"/>
          <p:nvPr/>
        </p:nvSpPr>
        <p:spPr>
          <a:xfrm rot="0">
            <a:off x="3369555" y="866775"/>
            <a:ext cx="11548891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Work Areas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covered four main work areas, moving from HR administration through fieldwork to change management.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379926" y="7723361"/>
            <a:ext cx="309742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HR Administration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28423" y="7723361"/>
            <a:ext cx="233726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Branch Visits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863707" y="7723361"/>
            <a:ext cx="311831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Transfers &amp; Discipline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579179" y="7716027"/>
            <a:ext cx="3328895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Change Management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HR Administration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5811736" y="73612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Morning prayer followed by reading of circulars on performance, NPAs, policy updates and training requirements.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66430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Daily Circulars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51971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Leave Sanctioning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7512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Salary &amp; Allowances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Routine leave sanctioned at the RO; maternity, sabbatical and study leave need higher approval.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39852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RO's role in processing pay, permissible allowances, and TA/conveyance claims for official travel between branches.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33450"/>
            <a:ext cx="9805176" cy="1739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Transfers, Discipline &amp; RABD</a:t>
            </a:r>
          </a:p>
          <a:p>
            <a:pPr algn="ctr">
              <a:lnSpc>
                <a:spcPts val="70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5811736" y="73612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2389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inter-state transfers involve management, unions and the Head Office; intra-region transfers are handled directly by the RO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53066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</a:t>
            </a:r>
            <a:r>
              <a:rPr lang="en-US" b="true" sz="32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ansfer Policy</a:t>
            </a:r>
          </a:p>
          <a:p>
            <a:pPr algn="ctr">
              <a:lnSpc>
                <a:spcPts val="448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690953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Discipline</a:t>
            </a:r>
            <a:r>
              <a:rPr lang="en-US" b="true" sz="31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2024891" y="2976680"/>
            <a:ext cx="5451492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RABD &amp; PSL</a:t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1989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reporting of an issue, examination by the concerned authority, and a formal inquiry where necessary.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2024891" y="3709306"/>
            <a:ext cx="4409232" cy="2789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agricultural lending, rural development schemes, and mandatory credit to agriculture, MSMEs, education, housing and weaker sections — the bank's role in financial inclusion.</a:t>
            </a:r>
          </a:p>
          <a:p>
            <a:pPr algn="l">
              <a:lnSpc>
                <a:spcPts val="3220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4718194" y="218964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Branch Visits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-5400000">
            <a:off x="14161100" y="-1059901"/>
            <a:ext cx="3433539" cy="5049322"/>
          </a:xfrm>
          <a:custGeom>
            <a:avLst/>
            <a:gdLst/>
            <a:ahLst/>
            <a:cxnLst/>
            <a:rect r="r" b="b" t="t" l="l"/>
            <a:pathLst>
              <a:path h="5049322" w="3433539">
                <a:moveTo>
                  <a:pt x="0" y="0"/>
                </a:moveTo>
                <a:lnTo>
                  <a:pt x="3433538" y="0"/>
                </a:lnTo>
                <a:lnTo>
                  <a:pt x="3433538" y="5049321"/>
                </a:lnTo>
                <a:lnTo>
                  <a:pt x="0" y="50493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4134123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282574">
            <a:off x="-4584740" y="1698782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true" flipV="false" rot="0">
            <a:off x="-272803" y="5351007"/>
            <a:ext cx="3559625" cy="5234743"/>
          </a:xfrm>
          <a:custGeom>
            <a:avLst/>
            <a:gdLst/>
            <a:ahLst/>
            <a:cxnLst/>
            <a:rect r="r" b="b" t="t" l="l"/>
            <a:pathLst>
              <a:path h="5234743" w="3559625">
                <a:moveTo>
                  <a:pt x="3559626" y="0"/>
                </a:moveTo>
                <a:lnTo>
                  <a:pt x="0" y="0"/>
                </a:lnTo>
                <a:lnTo>
                  <a:pt x="0" y="5234744"/>
                </a:lnTo>
                <a:lnTo>
                  <a:pt x="3559626" y="5234744"/>
                </a:lnTo>
                <a:lnTo>
                  <a:pt x="355962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We Did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We Found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563769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Visited 27 branches across the region plus RO departments (Retail Loans, Currency Chest) to administer a questionnaire on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8220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varied widely (e.g. Triplicane 2 ran on 2 officers and 1 cashier), directly limiting training time. Employees compared classroom, online and live-streamed training and how far they applied it at work.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51738">
            <a:off x="-474655" y="6127027"/>
            <a:ext cx="19237310" cy="7310178"/>
          </a:xfrm>
          <a:custGeom>
            <a:avLst/>
            <a:gdLst/>
            <a:ahLst/>
            <a:cxnLst/>
            <a:rect r="r" b="b" t="t" l="l"/>
            <a:pathLst>
              <a:path h="7310178" w="19237310">
                <a:moveTo>
                  <a:pt x="0" y="0"/>
                </a:moveTo>
                <a:lnTo>
                  <a:pt x="19237310" y="0"/>
                </a:lnTo>
                <a:lnTo>
                  <a:pt x="19237310" y="7310177"/>
                </a:lnTo>
                <a:lnTo>
                  <a:pt x="0" y="7310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Change Management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5400000">
            <a:off x="16535518" y="3806048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282574">
            <a:off x="-5134247" y="-234299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2676815" y="2986205"/>
            <a:ext cx="5465474" cy="5189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Merger: Andhra Bank and Corporation Bank amalgamated with Union Bank of India, bringing employees from different legacy systems together.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667039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SOP Adoption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667039" y="370887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 had to learn common Standard Operating Procedures for documentation, authorisation levels and customer service.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667039" y="5420199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Ongoing Training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667039" y="615239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Continuous training, not one-time orientation, helped employees adapt with confidence to the merged systems.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Key Learnings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8903" y="5851351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3" y="0"/>
                </a:lnTo>
                <a:lnTo>
                  <a:pt x="1447563" y="628189"/>
                </a:lnTo>
                <a:lnTo>
                  <a:pt x="0" y="6281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76680"/>
            <a:ext cx="13043344" cy="741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Broad HR Perspectiv</a:t>
            </a: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e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HR in a public-sector bank goes beyond recruitment and salary — it covers welfare, leave, transfers, training, internal communication and industrial relations.</a:t>
            </a:r>
          </a:p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Research Skills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developed professional communication, research ethics and respectful data collection in a live banking environment.</a:t>
            </a:r>
          </a:p>
          <a:p>
            <a:pPr algn="just">
              <a:lnSpc>
                <a:spcPts val="392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261552" y="-257159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Core Takeaways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1104356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7183644" y="0"/>
                </a:moveTo>
                <a:lnTo>
                  <a:pt x="0" y="0"/>
                </a:lnTo>
                <a:lnTo>
                  <a:pt x="0" y="3905290"/>
                </a:lnTo>
                <a:lnTo>
                  <a:pt x="7183644" y="3905290"/>
                </a:lnTo>
                <a:lnTo>
                  <a:pt x="718364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16535518" y="5781697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1194190">
            <a:off x="-5221492" y="12301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-228600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2986205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Confidentiality and controlled access are central to handling employee records.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76815" y="4374989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levels and branch workload directly shape training participation.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5762464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Hybrid learning (classroom + digital + live) works best when matched to the branch's operating conditions.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676815" y="7151247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Training is a key tool of change management during organisational transitions.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700000">
            <a:off x="13376033" y="6763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3241272" y="-524928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" id="4"/>
          <p:cNvGrpSpPr/>
          <p:nvPr/>
        </p:nvGrpSpPr>
        <p:grpSpPr>
          <a:xfrm rot="2161387">
            <a:off x="820408" y="-682944"/>
            <a:ext cx="17754162" cy="15023774"/>
            <a:chOff x="0" y="0"/>
            <a:chExt cx="23672216" cy="20031698"/>
          </a:xfrm>
        </p:grpSpPr>
        <p:sp>
          <p:nvSpPr>
            <p:cNvPr name="Freeform 5" id="5"/>
            <p:cNvSpPr/>
            <p:nvPr/>
          </p:nvSpPr>
          <p:spPr>
            <a:xfrm flipH="false" flipV="false" rot="-4034410">
              <a:off x="721671" y="1350815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-4758324">
              <a:off x="7096211" y="1040387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-5422178">
              <a:off x="12766985" y="6085744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-6146091">
              <a:off x="17409745" y="727003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2533186" y="888298"/>
            <a:ext cx="13924129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Conclusion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307024" y="7669968"/>
            <a:ext cx="5337688" cy="2901761"/>
          </a:xfrm>
          <a:custGeom>
            <a:avLst/>
            <a:gdLst/>
            <a:ahLst/>
            <a:cxnLst/>
            <a:rect r="r" b="b" t="t" l="l"/>
            <a:pathLst>
              <a:path h="2901761" w="5337688">
                <a:moveTo>
                  <a:pt x="0" y="0"/>
                </a:moveTo>
                <a:lnTo>
                  <a:pt x="5337688" y="0"/>
                </a:lnTo>
                <a:lnTo>
                  <a:pt x="5337688" y="2901761"/>
                </a:lnTo>
                <a:lnTo>
                  <a:pt x="0" y="29017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2731581" y="5408804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2862013" y="5566571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5904503" y="66970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3"/>
                </a:lnTo>
                <a:lnTo>
                  <a:pt x="0" y="149885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10728662" y="6828943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2" y="0"/>
                </a:lnTo>
                <a:lnTo>
                  <a:pt x="921112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8" id="18"/>
          <p:cNvSpPr/>
          <p:nvPr/>
        </p:nvSpPr>
        <p:spPr>
          <a:xfrm flipH="false" flipV="false" rot="0">
            <a:off x="15495268" y="59486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9" id="19"/>
          <p:cNvSpPr/>
          <p:nvPr/>
        </p:nvSpPr>
        <p:spPr>
          <a:xfrm flipH="false" flipV="false" rot="0">
            <a:off x="6034935" y="68279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10859094" y="6986002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15625701" y="60795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8"/>
                </a:lnTo>
                <a:lnTo>
                  <a:pt x="0" y="66024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6159011" y="6906630"/>
            <a:ext cx="412096" cy="502822"/>
          </a:xfrm>
          <a:custGeom>
            <a:avLst/>
            <a:gdLst/>
            <a:ahLst/>
            <a:cxnLst/>
            <a:rect r="r" b="b" t="t" l="l"/>
            <a:pathLst>
              <a:path h="502822" w="412096">
                <a:moveTo>
                  <a:pt x="0" y="0"/>
                </a:moveTo>
                <a:lnTo>
                  <a:pt x="412096" y="0"/>
                </a:lnTo>
                <a:lnTo>
                  <a:pt x="412096" y="502822"/>
                </a:lnTo>
                <a:lnTo>
                  <a:pt x="0" y="50282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10978524" y="7103889"/>
            <a:ext cx="421389" cy="424476"/>
          </a:xfrm>
          <a:custGeom>
            <a:avLst/>
            <a:gdLst/>
            <a:ahLst/>
            <a:cxnLst/>
            <a:rect r="r" b="b" t="t" l="l"/>
            <a:pathLst>
              <a:path h="424476" w="421389">
                <a:moveTo>
                  <a:pt x="0" y="0"/>
                </a:moveTo>
                <a:lnTo>
                  <a:pt x="421388" y="0"/>
                </a:lnTo>
                <a:lnTo>
                  <a:pt x="421388" y="424476"/>
                </a:lnTo>
                <a:lnTo>
                  <a:pt x="0" y="4244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4"/>
          <p:cNvSpPr/>
          <p:nvPr/>
        </p:nvSpPr>
        <p:spPr>
          <a:xfrm flipH="false" flipV="false" rot="0">
            <a:off x="2893387" y="5599322"/>
            <a:ext cx="597501" cy="594748"/>
          </a:xfrm>
          <a:custGeom>
            <a:avLst/>
            <a:gdLst/>
            <a:ahLst/>
            <a:cxnLst/>
            <a:rect r="r" b="b" t="t" l="l"/>
            <a:pathLst>
              <a:path h="594748" w="597501">
                <a:moveTo>
                  <a:pt x="0" y="0"/>
                </a:moveTo>
                <a:lnTo>
                  <a:pt x="597501" y="0"/>
                </a:lnTo>
                <a:lnTo>
                  <a:pt x="597501" y="594748"/>
                </a:lnTo>
                <a:lnTo>
                  <a:pt x="0" y="594748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5" id="25"/>
          <p:cNvSpPr/>
          <p:nvPr/>
        </p:nvSpPr>
        <p:spPr>
          <a:xfrm flipH="false" flipV="false" rot="0">
            <a:off x="15714161" y="6176765"/>
            <a:ext cx="483328" cy="465753"/>
          </a:xfrm>
          <a:custGeom>
            <a:avLst/>
            <a:gdLst/>
            <a:ahLst/>
            <a:cxnLst/>
            <a:rect r="r" b="b" t="t" l="l"/>
            <a:pathLst>
              <a:path h="465753" w="483328">
                <a:moveTo>
                  <a:pt x="0" y="0"/>
                </a:moveTo>
                <a:lnTo>
                  <a:pt x="483328" y="0"/>
                </a:lnTo>
                <a:lnTo>
                  <a:pt x="483328" y="465752"/>
                </a:lnTo>
                <a:lnTo>
                  <a:pt x="0" y="465752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9999019" y="6129140"/>
            <a:ext cx="2380397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Professional Growth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671730" y="6031892"/>
            <a:ext cx="3386659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Operational Grounding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652350" y="5302034"/>
            <a:ext cx="26069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Dissertation Value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227756" y="4839059"/>
            <a:ext cx="1928762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Theory to Practice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connected classroom learning with practical HR administration, fieldwork and change management, directly informing the dissertation on Hybrid Learning and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41412" y="2951702"/>
            <a:ext cx="9805176" cy="2139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499"/>
              </a:lnSpc>
            </a:pPr>
            <a:r>
              <a:rPr lang="en-US" sz="124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Thank You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3918093">
            <a:off x="7207283" y="745707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-369372" y="6989550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4918" y="476104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1136304" y="3113782"/>
            <a:ext cx="10952735" cy="4162039"/>
          </a:xfrm>
          <a:custGeom>
            <a:avLst/>
            <a:gdLst/>
            <a:ahLst/>
            <a:cxnLst/>
            <a:rect r="r" b="b" t="t" l="l"/>
            <a:pathLst>
              <a:path h="4162039" w="10952735">
                <a:moveTo>
                  <a:pt x="0" y="0"/>
                </a:moveTo>
                <a:lnTo>
                  <a:pt x="10952735" y="0"/>
                </a:lnTo>
                <a:lnTo>
                  <a:pt x="10952735" y="4162039"/>
                </a:lnTo>
                <a:lnTo>
                  <a:pt x="0" y="416203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794414" y="5029226"/>
            <a:ext cx="6699172" cy="1057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Sreetama Ghosh Ray</a:t>
            </a:r>
          </a:p>
          <a:p>
            <a:pPr algn="ctr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DAHWaT3b6c8</dc:identifier>
  <dcterms:modified xsi:type="dcterms:W3CDTF">2011-08-01T06:04:30Z</dcterms:modified>
  <cp:revision>1</cp:revision>
  <dc:title>Internship 3 v1</dc:title>
</cp:coreProperties>
</file>