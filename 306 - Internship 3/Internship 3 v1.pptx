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ormorant Garamond Bold" charset="1" panose="00000800000000000000"/>
      <p:regular r:id="rId28"/>
    </p:embeddedFont>
    <p:embeddedFont>
      <p:font typeface="DM Sans Italics" charset="1" panose="00000000000000000000"/>
      <p:regular r:id="rId29"/>
    </p:embeddedFont>
    <p:embeddedFont>
      <p:font typeface="DM Sans Bold" charset="1" panose="00000000000000000000"/>
      <p:regular r:id="rId30"/>
    </p:embeddedFont>
    <p:embeddedFont>
      <p:font typeface="DM Sans"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25.png" Type="http://schemas.openxmlformats.org/officeDocument/2006/relationships/image"/><Relationship Id="rId19" Target="../media/image26.svg" Type="http://schemas.openxmlformats.org/officeDocument/2006/relationships/image"/><Relationship Id="rId2" Target="../media/image3.png" Type="http://schemas.openxmlformats.org/officeDocument/2006/relationships/image"/><Relationship Id="rId20" Target="../media/image27.png" Type="http://schemas.openxmlformats.org/officeDocument/2006/relationships/image"/><Relationship Id="rId21" Target="../media/image28.sv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3.png" Type="http://schemas.openxmlformats.org/officeDocument/2006/relationships/image"/><Relationship Id="rId20" Target="../media/image43.png" Type="http://schemas.openxmlformats.org/officeDocument/2006/relationships/image"/><Relationship Id="rId21" Target="../media/image44.svg" Type="http://schemas.openxmlformats.org/officeDocument/2006/relationships/image"/><Relationship Id="rId3" Target="../media/image4.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5.jpeg" Type="http://schemas.openxmlformats.org/officeDocument/2006/relationships/image"/><Relationship Id="rId15" Target="../media/image46.jpeg" Type="http://schemas.openxmlformats.org/officeDocument/2006/relationships/image"/><Relationship Id="rId16" Target="../media/image47.jpeg" Type="http://schemas.openxmlformats.org/officeDocument/2006/relationships/image"/><Relationship Id="rId17" Target="../media/image48.jpe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14" Target="../media/image51.png" Type="http://schemas.openxmlformats.org/officeDocument/2006/relationships/image"/><Relationship Id="rId15" Target="../media/image52.svg" Type="http://schemas.openxmlformats.org/officeDocument/2006/relationships/image"/><Relationship Id="rId16" Target="../media/image53.png" Type="http://schemas.openxmlformats.org/officeDocument/2006/relationships/image"/><Relationship Id="rId17" Target="../media/image54.svg" Type="http://schemas.openxmlformats.org/officeDocument/2006/relationships/image"/><Relationship Id="rId18" Target="../media/image55.png" Type="http://schemas.openxmlformats.org/officeDocument/2006/relationships/image"/><Relationship Id="rId19" Target="../media/image5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303" y="6765879"/>
            <a:ext cx="7183644" cy="3905290"/>
          </a:xfrm>
          <a:custGeom>
            <a:avLst/>
            <a:gdLst/>
            <a:ahLst/>
            <a:cxnLst/>
            <a:rect r="r" b="b" t="t" l="l"/>
            <a:pathLst>
              <a:path h="3905290" w="7183644">
                <a:moveTo>
                  <a:pt x="0" y="0"/>
                </a:moveTo>
                <a:lnTo>
                  <a:pt x="7183644" y="0"/>
                </a:lnTo>
                <a:lnTo>
                  <a:pt x="7183644" y="3905290"/>
                </a:lnTo>
                <a:lnTo>
                  <a:pt x="0" y="39052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282574">
            <a:off x="-5761586" y="614973"/>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676815" y="790575"/>
            <a:ext cx="11217858" cy="2123439"/>
          </a:xfrm>
          <a:prstGeom prst="rect">
            <a:avLst/>
          </a:prstGeom>
        </p:spPr>
        <p:txBody>
          <a:bodyPr anchor="t" rtlCol="false" tIns="0" lIns="0" bIns="0" rIns="0">
            <a:spAutoFit/>
          </a:bodyPr>
          <a:lstStyle/>
          <a:p>
            <a:pPr algn="l">
              <a:lnSpc>
                <a:spcPts val="17360"/>
              </a:lnSpc>
            </a:pPr>
            <a:r>
              <a:rPr lang="en-US" sz="12400" b="true">
                <a:solidFill>
                  <a:srgbClr val="042147"/>
                </a:solidFill>
                <a:latin typeface="Cormorant Garamond Bold"/>
                <a:ea typeface="Cormorant Garamond Bold"/>
                <a:cs typeface="Cormorant Garamond Bold"/>
                <a:sym typeface="Cormorant Garamond Bold"/>
              </a:rPr>
              <a:t>INTERNSHIP </a:t>
            </a:r>
            <a:r>
              <a:rPr lang="en-US" b="true" sz="12400">
                <a:solidFill>
                  <a:srgbClr val="042147"/>
                </a:solidFill>
                <a:latin typeface="Cormorant Garamond Bold"/>
                <a:ea typeface="Cormorant Garamond Bold"/>
                <a:cs typeface="Cormorant Garamond Bold"/>
                <a:sym typeface="Cormorant Garamond Bold"/>
              </a:rPr>
              <a:t> </a:t>
            </a:r>
          </a:p>
        </p:txBody>
      </p:sp>
      <p:sp>
        <p:nvSpPr>
          <p:cNvPr name="Freeform 5" id="5"/>
          <p:cNvSpPr/>
          <p:nvPr/>
        </p:nvSpPr>
        <p:spPr>
          <a:xfrm flipH="false" flipV="false" rot="-3918093">
            <a:off x="12198120" y="-2779055"/>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2162957">
            <a:off x="15024305" y="4998969"/>
            <a:ext cx="1543050" cy="6739091"/>
            <a:chOff x="0" y="0"/>
            <a:chExt cx="406400" cy="1774905"/>
          </a:xfrm>
        </p:grpSpPr>
        <p:sp>
          <p:nvSpPr>
            <p:cNvPr name="Freeform 7" id="7"/>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C5E0EF"/>
            </a:solidFill>
          </p:spPr>
        </p:sp>
        <p:sp>
          <p:nvSpPr>
            <p:cNvPr name="TextBox 8" id="8"/>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
        <p:nvSpPr>
          <p:cNvPr name="Freeform 9" id="9"/>
          <p:cNvSpPr/>
          <p:nvPr/>
        </p:nvSpPr>
        <p:spPr>
          <a:xfrm flipH="false" flipV="false" rot="0">
            <a:off x="11710300" y="553894"/>
            <a:ext cx="6990947" cy="10280804"/>
          </a:xfrm>
          <a:custGeom>
            <a:avLst/>
            <a:gdLst/>
            <a:ahLst/>
            <a:cxnLst/>
            <a:rect r="r" b="b" t="t" l="l"/>
            <a:pathLst>
              <a:path h="10280804" w="6990947">
                <a:moveTo>
                  <a:pt x="0" y="0"/>
                </a:moveTo>
                <a:lnTo>
                  <a:pt x="6990946" y="0"/>
                </a:lnTo>
                <a:lnTo>
                  <a:pt x="6990946" y="10280804"/>
                </a:lnTo>
                <a:lnTo>
                  <a:pt x="0" y="102808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495251" y="7312613"/>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12" id="12"/>
          <p:cNvSpPr txBox="true"/>
          <p:nvPr/>
        </p:nvSpPr>
        <p:spPr>
          <a:xfrm rot="0">
            <a:off x="2625521" y="2299289"/>
            <a:ext cx="9033485" cy="2123439"/>
          </a:xfrm>
          <a:prstGeom prst="rect">
            <a:avLst/>
          </a:prstGeom>
        </p:spPr>
        <p:txBody>
          <a:bodyPr anchor="t" rtlCol="false" tIns="0" lIns="0" bIns="0" rIns="0">
            <a:spAutoFit/>
          </a:bodyPr>
          <a:lstStyle/>
          <a:p>
            <a:pPr algn="l">
              <a:lnSpc>
                <a:spcPts val="17360"/>
              </a:lnSpc>
            </a:pPr>
            <a:r>
              <a:rPr lang="en-US" sz="12400" b="true">
                <a:solidFill>
                  <a:srgbClr val="E61E26"/>
                </a:solidFill>
                <a:latin typeface="Cormorant Garamond Bold"/>
                <a:ea typeface="Cormorant Garamond Bold"/>
                <a:cs typeface="Cormorant Garamond Bold"/>
                <a:sym typeface="Cormorant Garamond Bold"/>
              </a:rPr>
              <a:t>RE</a:t>
            </a:r>
            <a:r>
              <a:rPr lang="en-US" b="true" sz="12400">
                <a:solidFill>
                  <a:srgbClr val="E61E26"/>
                </a:solidFill>
                <a:latin typeface="Cormorant Garamond Bold"/>
                <a:ea typeface="Cormorant Garamond Bold"/>
                <a:cs typeface="Cormorant Garamond Bold"/>
                <a:sym typeface="Cormorant Garamond Bold"/>
              </a:rPr>
              <a:t>PORT</a:t>
            </a:r>
          </a:p>
        </p:txBody>
      </p:sp>
      <p:sp>
        <p:nvSpPr>
          <p:cNvPr name="TextBox 13" id="13"/>
          <p:cNvSpPr txBox="true"/>
          <p:nvPr/>
        </p:nvSpPr>
        <p:spPr>
          <a:xfrm rot="0">
            <a:off x="2676815" y="4905479"/>
            <a:ext cx="7542218" cy="537844"/>
          </a:xfrm>
          <a:prstGeom prst="rect">
            <a:avLst/>
          </a:prstGeom>
        </p:spPr>
        <p:txBody>
          <a:bodyPr anchor="t" rtlCol="false" tIns="0" lIns="0" bIns="0" rIns="0">
            <a:spAutoFit/>
          </a:bodyPr>
          <a:lstStyle/>
          <a:p>
            <a:pPr algn="just">
              <a:lnSpc>
                <a:spcPts val="4480"/>
              </a:lnSpc>
            </a:pPr>
            <a:r>
              <a:rPr lang="en-US" b="true" sz="3200" spc="2560">
                <a:solidFill>
                  <a:srgbClr val="042147"/>
                </a:solidFill>
                <a:latin typeface="Cormorant Garamond Bold"/>
                <a:ea typeface="Cormorant Garamond Bold"/>
                <a:cs typeface="Cormorant Garamond Bold"/>
                <a:sym typeface="Cormorant Garamond Bold"/>
              </a:rPr>
              <a:t>PRESENTATION</a:t>
            </a:r>
          </a:p>
        </p:txBody>
      </p:sp>
      <p:sp>
        <p:nvSpPr>
          <p:cNvPr name="TextBox 14" id="14"/>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5" id="15"/>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6" id="16"/>
          <p:cNvSpPr txBox="true"/>
          <p:nvPr/>
        </p:nvSpPr>
        <p:spPr>
          <a:xfrm rot="0">
            <a:off x="2676815" y="6521405"/>
            <a:ext cx="6699172" cy="431799"/>
          </a:xfrm>
          <a:prstGeom prst="rect">
            <a:avLst/>
          </a:prstGeom>
        </p:spPr>
        <p:txBody>
          <a:bodyPr anchor="t" rtlCol="false" tIns="0" lIns="0" bIns="0" rIns="0">
            <a:spAutoFit/>
          </a:bodyPr>
          <a:lstStyle/>
          <a:p>
            <a:pPr algn="l">
              <a:lnSpc>
                <a:spcPts val="3500"/>
              </a:lnSpc>
            </a:pPr>
            <a:r>
              <a:rPr lang="en-US" sz="2500" i="true">
                <a:solidFill>
                  <a:srgbClr val="042147"/>
                </a:solidFill>
                <a:latin typeface="DM Sans Italics"/>
                <a:ea typeface="DM Sans Italics"/>
                <a:cs typeface="DM Sans Italics"/>
                <a:sym typeface="DM Sans Italics"/>
              </a:rPr>
              <a:t>Presented by : Sreetama Ghosh Ray</a:t>
            </a:r>
          </a:p>
        </p:txBody>
      </p:sp>
      <p:sp>
        <p:nvSpPr>
          <p:cNvPr name="AutoShape 17" id="17"/>
          <p:cNvSpPr/>
          <p:nvPr/>
        </p:nvSpPr>
        <p:spPr>
          <a:xfrm flipV="true">
            <a:off x="2676815" y="6376773"/>
            <a:ext cx="857095" cy="0"/>
          </a:xfrm>
          <a:prstGeom prst="line">
            <a:avLst/>
          </a:prstGeom>
          <a:ln cap="flat" w="38100">
            <a:solidFill>
              <a:srgbClr val="E61E26"/>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5382268" y="-127482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14400"/>
            <a:ext cx="9805176" cy="2095500"/>
          </a:xfrm>
          <a:prstGeom prst="rect">
            <a:avLst/>
          </a:prstGeom>
        </p:spPr>
        <p:txBody>
          <a:bodyPr anchor="t" rtlCol="false" tIns="0" lIns="0" bIns="0" rIns="0">
            <a:spAutoFit/>
          </a:bodyPr>
          <a:lstStyle/>
          <a:p>
            <a:pPr algn="ctr">
              <a:lnSpc>
                <a:spcPts val="8400"/>
              </a:lnSpc>
            </a:pPr>
            <a:r>
              <a:rPr lang="en-US" sz="6000" b="true">
                <a:solidFill>
                  <a:srgbClr val="042147"/>
                </a:solidFill>
                <a:latin typeface="Cormorant Garamond Bold"/>
                <a:ea typeface="Cormorant Garamond Bold"/>
                <a:cs typeface="Cormorant Garamond Bold"/>
                <a:sym typeface="Cormorant Garamond Bold"/>
              </a:rPr>
              <a:t>Organisation and Office Profile</a:t>
            </a:r>
          </a:p>
          <a:p>
            <a:pPr algn="ctr">
              <a:lnSpc>
                <a:spcPts val="8400"/>
              </a:lnSpc>
            </a:pPr>
          </a:p>
        </p:txBody>
      </p:sp>
      <p:sp>
        <p:nvSpPr>
          <p:cNvPr name="Freeform 4" id="4"/>
          <p:cNvSpPr/>
          <p:nvPr/>
        </p:nvSpPr>
        <p:spPr>
          <a:xfrm flipH="false" flipV="false" rot="1282574">
            <a:off x="-3784431" y="3582319"/>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08903" y="5851351"/>
            <a:ext cx="1447564" cy="628188"/>
          </a:xfrm>
          <a:custGeom>
            <a:avLst/>
            <a:gdLst/>
            <a:ahLst/>
            <a:cxnLst/>
            <a:rect r="r" b="b" t="t" l="l"/>
            <a:pathLst>
              <a:path h="628188" w="1447564">
                <a:moveTo>
                  <a:pt x="0" y="0"/>
                </a:moveTo>
                <a:lnTo>
                  <a:pt x="1447563" y="0"/>
                </a:lnTo>
                <a:lnTo>
                  <a:pt x="1447563" y="628189"/>
                </a:lnTo>
                <a:lnTo>
                  <a:pt x="0" y="62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39769" y="2967155"/>
            <a:ext cx="13043344" cy="42576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Union Bank of India</a:t>
            </a:r>
            <a:r>
              <a:rPr lang="en-US" sz="3000">
                <a:solidFill>
                  <a:srgbClr val="042147"/>
                </a:solidFill>
                <a:latin typeface="DM Sans"/>
                <a:ea typeface="DM Sans"/>
                <a:cs typeface="DM Sans"/>
                <a:sym typeface="DM Sans"/>
              </a:rPr>
              <a:t>: a public-sector bank with Head/Central Office in Mumbai, operating through Zonal, Regional and Branch levels.</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Regional Office Chennai South, Royapettah</a:t>
            </a:r>
            <a:r>
              <a:rPr lang="en-US" sz="3000">
                <a:solidFill>
                  <a:srgbClr val="042147"/>
                </a:solidFill>
                <a:latin typeface="DM Sans"/>
                <a:ea typeface="DM Sans"/>
                <a:cs typeface="DM Sans"/>
                <a:sym typeface="DM Sans"/>
              </a:rPr>
              <a:t>: administers approximately 75 branches — welfare, attendance, leave, transfers, salary and allowance processing.</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HR Department at the RO</a:t>
            </a:r>
            <a:r>
              <a:rPr lang="en-US" sz="3000">
                <a:solidFill>
                  <a:srgbClr val="042147"/>
                </a:solidFill>
                <a:latin typeface="DM Sans"/>
                <a:ea typeface="DM Sans"/>
                <a:cs typeface="DM Sans"/>
                <a:sym typeface="DM Sans"/>
              </a:rPr>
              <a:t>: the link between Head Office policy and day-to-day branch administration; also supports training, industrial relations and disciplinary matters.</a:t>
            </a:r>
          </a:p>
        </p:txBody>
      </p:sp>
      <p:sp>
        <p:nvSpPr>
          <p:cNvPr name="Freeform 7" id="7"/>
          <p:cNvSpPr/>
          <p:nvPr/>
        </p:nvSpPr>
        <p:spPr>
          <a:xfrm flipH="false" flipV="false" rot="0">
            <a:off x="13031174" y="7270421"/>
            <a:ext cx="5458016" cy="3234380"/>
          </a:xfrm>
          <a:custGeom>
            <a:avLst/>
            <a:gdLst/>
            <a:ahLst/>
            <a:cxnLst/>
            <a:rect r="r" b="b" t="t" l="l"/>
            <a:pathLst>
              <a:path h="3234380" w="5458016">
                <a:moveTo>
                  <a:pt x="0" y="0"/>
                </a:moveTo>
                <a:lnTo>
                  <a:pt x="5458016" y="0"/>
                </a:lnTo>
                <a:lnTo>
                  <a:pt x="5458016" y="3234379"/>
                </a:lnTo>
                <a:lnTo>
                  <a:pt x="0" y="3234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5579570" y="-717218"/>
            <a:ext cx="2708858" cy="3110380"/>
          </a:xfrm>
          <a:custGeom>
            <a:avLst/>
            <a:gdLst/>
            <a:ahLst/>
            <a:cxnLst/>
            <a:rect r="r" b="b" t="t" l="l"/>
            <a:pathLst>
              <a:path h="3110380" w="2708858">
                <a:moveTo>
                  <a:pt x="0" y="0"/>
                </a:moveTo>
                <a:lnTo>
                  <a:pt x="2708859" y="0"/>
                </a:lnTo>
                <a:lnTo>
                  <a:pt x="2708859" y="3110380"/>
                </a:lnTo>
                <a:lnTo>
                  <a:pt x="0" y="311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grpSp>
        <p:nvGrpSpPr>
          <p:cNvPr name="Group 12" id="12"/>
          <p:cNvGrpSpPr/>
          <p:nvPr/>
        </p:nvGrpSpPr>
        <p:grpSpPr>
          <a:xfrm rot="2162957">
            <a:off x="72736" y="-2984879"/>
            <a:ext cx="1543050" cy="6739091"/>
            <a:chOff x="0" y="0"/>
            <a:chExt cx="406400" cy="1774905"/>
          </a:xfrm>
        </p:grpSpPr>
        <p:sp>
          <p:nvSpPr>
            <p:cNvPr name="Freeform 13" id="13"/>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E61E26"/>
            </a:solidFill>
          </p:spPr>
        </p:sp>
        <p:sp>
          <p:nvSpPr>
            <p:cNvPr name="TextBox 14" id="14"/>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grpSp>
        <p:nvGrpSpPr>
          <p:cNvPr name="Group 15" id="15"/>
          <p:cNvGrpSpPr/>
          <p:nvPr/>
        </p:nvGrpSpPr>
        <p:grpSpPr>
          <a:xfrm rot="2162957">
            <a:off x="-438456" y="-3369546"/>
            <a:ext cx="1543050" cy="6739091"/>
            <a:chOff x="0" y="0"/>
            <a:chExt cx="406400" cy="1774905"/>
          </a:xfrm>
        </p:grpSpPr>
        <p:sp>
          <p:nvSpPr>
            <p:cNvPr name="Freeform 16" id="16"/>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00497E"/>
            </a:solidFill>
          </p:spPr>
        </p:sp>
        <p:sp>
          <p:nvSpPr>
            <p:cNvPr name="TextBox 17" id="17"/>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5382268" y="-127482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14400"/>
            <a:ext cx="9805176" cy="2095500"/>
          </a:xfrm>
          <a:prstGeom prst="rect">
            <a:avLst/>
          </a:prstGeom>
        </p:spPr>
        <p:txBody>
          <a:bodyPr anchor="t" rtlCol="false" tIns="0" lIns="0" bIns="0" rIns="0">
            <a:spAutoFit/>
          </a:bodyPr>
          <a:lstStyle/>
          <a:p>
            <a:pPr algn="ctr">
              <a:lnSpc>
                <a:spcPts val="8400"/>
              </a:lnSpc>
            </a:pPr>
            <a:r>
              <a:rPr lang="en-US" sz="6000" b="true">
                <a:solidFill>
                  <a:srgbClr val="042147"/>
                </a:solidFill>
                <a:latin typeface="Cormorant Garamond Bold"/>
                <a:ea typeface="Cormorant Garamond Bold"/>
                <a:cs typeface="Cormorant Garamond Bold"/>
                <a:sym typeface="Cormorant Garamond Bold"/>
              </a:rPr>
              <a:t>Internship Scope</a:t>
            </a:r>
          </a:p>
          <a:p>
            <a:pPr algn="ctr">
              <a:lnSpc>
                <a:spcPts val="8400"/>
              </a:lnSpc>
            </a:pPr>
          </a:p>
        </p:txBody>
      </p:sp>
      <p:sp>
        <p:nvSpPr>
          <p:cNvPr name="Freeform 4" id="4"/>
          <p:cNvSpPr/>
          <p:nvPr/>
        </p:nvSpPr>
        <p:spPr>
          <a:xfrm flipH="false" flipV="false" rot="1282574">
            <a:off x="-3784431" y="3582319"/>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08903" y="5851351"/>
            <a:ext cx="1447564" cy="628188"/>
          </a:xfrm>
          <a:custGeom>
            <a:avLst/>
            <a:gdLst/>
            <a:ahLst/>
            <a:cxnLst/>
            <a:rect r="r" b="b" t="t" l="l"/>
            <a:pathLst>
              <a:path h="628188" w="1447564">
                <a:moveTo>
                  <a:pt x="0" y="0"/>
                </a:moveTo>
                <a:lnTo>
                  <a:pt x="1447563" y="0"/>
                </a:lnTo>
                <a:lnTo>
                  <a:pt x="1447563" y="628189"/>
                </a:lnTo>
                <a:lnTo>
                  <a:pt x="0" y="62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39769" y="2967155"/>
            <a:ext cx="13043344" cy="63912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Object</a:t>
            </a:r>
            <a:r>
              <a:rPr lang="en-US" b="true" sz="3000">
                <a:solidFill>
                  <a:srgbClr val="042147"/>
                </a:solidFill>
                <a:latin typeface="DM Sans Bold"/>
                <a:ea typeface="DM Sans Bold"/>
                <a:cs typeface="DM Sans Bold"/>
                <a:sym typeface="DM Sans Bold"/>
              </a:rPr>
              <a:t>ive</a:t>
            </a:r>
            <a:r>
              <a:rPr lang="en-US" sz="3000">
                <a:solidFill>
                  <a:srgbClr val="042147"/>
                </a:solidFill>
                <a:latin typeface="DM Sans"/>
                <a:ea typeface="DM Sans"/>
                <a:cs typeface="DM Sans"/>
                <a:sym typeface="DM Sans"/>
              </a:rPr>
              <a:t>: to gain practical exposure to HR operations in a public-sector bank, alongside primary data collection for the dissertation on Hybrid Learning and Training Effectiveness.</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Divisional Exposure</a:t>
            </a:r>
            <a:r>
              <a:rPr lang="en-US" sz="3000">
                <a:solidFill>
                  <a:srgbClr val="042147"/>
                </a:solidFill>
                <a:latin typeface="DM Sans"/>
                <a:ea typeface="DM Sans"/>
                <a:cs typeface="DM Sans"/>
                <a:sym typeface="DM Sans"/>
              </a:rPr>
              <a:t>: involved in orientation across the RO's HR desk, the Rural and Agriculture Business Department (RABD), Currency Chest, and the branch network.</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Four Main Work Areas</a:t>
            </a:r>
            <a:r>
              <a:rPr lang="en-US" sz="3000">
                <a:solidFill>
                  <a:srgbClr val="042147"/>
                </a:solidFill>
                <a:latin typeface="DM Sans"/>
                <a:ea typeface="DM Sans"/>
                <a:cs typeface="DM Sans"/>
                <a:sym typeface="DM Sans"/>
              </a:rPr>
              <a:t>:</a:t>
            </a:r>
          </a:p>
          <a:p>
            <a:pPr algn="l" marL="1295400" indent="-431800" lvl="2">
              <a:lnSpc>
                <a:spcPts val="4200"/>
              </a:lnSpc>
              <a:buFont typeface="Arial"/>
              <a:buChar char="⚬"/>
            </a:pPr>
            <a:r>
              <a:rPr lang="en-US" sz="3000">
                <a:solidFill>
                  <a:srgbClr val="042147"/>
                </a:solidFill>
                <a:latin typeface="DM Sans"/>
                <a:ea typeface="DM Sans"/>
                <a:cs typeface="DM Sans"/>
                <a:sym typeface="DM Sans"/>
              </a:rPr>
              <a:t> HR administration and leave management</a:t>
            </a:r>
          </a:p>
          <a:p>
            <a:pPr algn="l" marL="1295400" indent="-431800" lvl="2">
              <a:lnSpc>
                <a:spcPts val="4200"/>
              </a:lnSpc>
              <a:buFont typeface="Arial"/>
              <a:buChar char="⚬"/>
            </a:pPr>
            <a:r>
              <a:rPr lang="en-US" sz="3000">
                <a:solidFill>
                  <a:srgbClr val="042147"/>
                </a:solidFill>
                <a:latin typeface="DM Sans"/>
                <a:ea typeface="DM Sans"/>
                <a:cs typeface="DM Sans"/>
                <a:sym typeface="DM Sans"/>
              </a:rPr>
              <a:t> Transfers and disciplinary procedure</a:t>
            </a:r>
          </a:p>
          <a:p>
            <a:pPr algn="l" marL="1295400" indent="-431800" lvl="2">
              <a:lnSpc>
                <a:spcPts val="4200"/>
              </a:lnSpc>
              <a:buFont typeface="Arial"/>
              <a:buChar char="⚬"/>
            </a:pPr>
            <a:r>
              <a:rPr lang="en-US" sz="3000">
                <a:solidFill>
                  <a:srgbClr val="042147"/>
                </a:solidFill>
                <a:latin typeface="DM Sans"/>
                <a:ea typeface="DM Sans"/>
                <a:cs typeface="DM Sans"/>
                <a:sym typeface="DM Sans"/>
              </a:rPr>
              <a:t> Branch visits and primary data collection</a:t>
            </a:r>
          </a:p>
          <a:p>
            <a:pPr algn="l" marL="1295400" indent="-431800" lvl="2">
              <a:lnSpc>
                <a:spcPts val="4200"/>
              </a:lnSpc>
              <a:buFont typeface="Arial"/>
              <a:buChar char="⚬"/>
            </a:pPr>
            <a:r>
              <a:rPr lang="en-US" sz="3000">
                <a:solidFill>
                  <a:srgbClr val="042147"/>
                </a:solidFill>
                <a:latin typeface="DM Sans"/>
                <a:ea typeface="DM Sans"/>
                <a:cs typeface="DM Sans"/>
                <a:sym typeface="DM Sans"/>
              </a:rPr>
              <a:t> Understanding change management after the bank amalgamation</a:t>
            </a:r>
          </a:p>
          <a:p>
            <a:pPr algn="just">
              <a:lnSpc>
                <a:spcPts val="4200"/>
              </a:lnSpc>
            </a:pPr>
          </a:p>
        </p:txBody>
      </p:sp>
      <p:sp>
        <p:nvSpPr>
          <p:cNvPr name="Freeform 7" id="7"/>
          <p:cNvSpPr/>
          <p:nvPr/>
        </p:nvSpPr>
        <p:spPr>
          <a:xfrm flipH="false" flipV="false" rot="0">
            <a:off x="13031174" y="7270421"/>
            <a:ext cx="5458016" cy="3234380"/>
          </a:xfrm>
          <a:custGeom>
            <a:avLst/>
            <a:gdLst/>
            <a:ahLst/>
            <a:cxnLst/>
            <a:rect r="r" b="b" t="t" l="l"/>
            <a:pathLst>
              <a:path h="3234380" w="5458016">
                <a:moveTo>
                  <a:pt x="0" y="0"/>
                </a:moveTo>
                <a:lnTo>
                  <a:pt x="5458016" y="0"/>
                </a:lnTo>
                <a:lnTo>
                  <a:pt x="5458016" y="3234379"/>
                </a:lnTo>
                <a:lnTo>
                  <a:pt x="0" y="3234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5579570" y="-717218"/>
            <a:ext cx="2708858" cy="3110380"/>
          </a:xfrm>
          <a:custGeom>
            <a:avLst/>
            <a:gdLst/>
            <a:ahLst/>
            <a:cxnLst/>
            <a:rect r="r" b="b" t="t" l="l"/>
            <a:pathLst>
              <a:path h="3110380" w="2708858">
                <a:moveTo>
                  <a:pt x="0" y="0"/>
                </a:moveTo>
                <a:lnTo>
                  <a:pt x="2708859" y="0"/>
                </a:lnTo>
                <a:lnTo>
                  <a:pt x="2708859" y="3110380"/>
                </a:lnTo>
                <a:lnTo>
                  <a:pt x="0" y="311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grpSp>
        <p:nvGrpSpPr>
          <p:cNvPr name="Group 12" id="12"/>
          <p:cNvGrpSpPr/>
          <p:nvPr/>
        </p:nvGrpSpPr>
        <p:grpSpPr>
          <a:xfrm rot="2162957">
            <a:off x="72736" y="-2984879"/>
            <a:ext cx="1543050" cy="6739091"/>
            <a:chOff x="0" y="0"/>
            <a:chExt cx="406400" cy="1774905"/>
          </a:xfrm>
        </p:grpSpPr>
        <p:sp>
          <p:nvSpPr>
            <p:cNvPr name="Freeform 13" id="13"/>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E61E26"/>
            </a:solidFill>
          </p:spPr>
        </p:sp>
        <p:sp>
          <p:nvSpPr>
            <p:cNvPr name="TextBox 14" id="14"/>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grpSp>
        <p:nvGrpSpPr>
          <p:cNvPr name="Group 15" id="15"/>
          <p:cNvGrpSpPr/>
          <p:nvPr/>
        </p:nvGrpSpPr>
        <p:grpSpPr>
          <a:xfrm rot="2162957">
            <a:off x="-438456" y="-3369546"/>
            <a:ext cx="1543050" cy="6739091"/>
            <a:chOff x="0" y="0"/>
            <a:chExt cx="406400" cy="1774905"/>
          </a:xfrm>
        </p:grpSpPr>
        <p:sp>
          <p:nvSpPr>
            <p:cNvPr name="Freeform 16" id="16"/>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00497E"/>
            </a:solidFill>
          </p:spPr>
        </p:sp>
        <p:sp>
          <p:nvSpPr>
            <p:cNvPr name="TextBox 17" id="17"/>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822080">
            <a:off x="7449287" y="8094480"/>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33450"/>
            <a:ext cx="9805176" cy="2625725"/>
          </a:xfrm>
          <a:prstGeom prst="rect">
            <a:avLst/>
          </a:prstGeom>
        </p:spPr>
        <p:txBody>
          <a:bodyPr anchor="t" rtlCol="false" tIns="0" lIns="0" bIns="0" rIns="0">
            <a:spAutoFit/>
          </a:bodyPr>
          <a:lstStyle/>
          <a:p>
            <a:pPr algn="ctr">
              <a:lnSpc>
                <a:spcPts val="7000"/>
              </a:lnSpc>
            </a:pPr>
            <a:r>
              <a:rPr lang="en-US" sz="5000" b="true">
                <a:solidFill>
                  <a:srgbClr val="042147"/>
                </a:solidFill>
                <a:latin typeface="Cormorant Garamond Bold"/>
                <a:ea typeface="Cormorant Garamond Bold"/>
                <a:cs typeface="Cormorant Garamond Bold"/>
                <a:sym typeface="Cormorant Garamond Bold"/>
              </a:rPr>
              <a:t>HR Administration at the Regional Office</a:t>
            </a:r>
          </a:p>
          <a:p>
            <a:pPr algn="ctr">
              <a:lnSpc>
                <a:spcPts val="7000"/>
              </a:lnSpc>
            </a:pPr>
          </a:p>
        </p:txBody>
      </p:sp>
      <p:sp>
        <p:nvSpPr>
          <p:cNvPr name="Freeform 4" id="4"/>
          <p:cNvSpPr/>
          <p:nvPr/>
        </p:nvSpPr>
        <p:spPr>
          <a:xfrm flipH="false" flipV="false" rot="0">
            <a:off x="-492690" y="7305655"/>
            <a:ext cx="7183644" cy="3905290"/>
          </a:xfrm>
          <a:custGeom>
            <a:avLst/>
            <a:gdLst/>
            <a:ahLst/>
            <a:cxnLst/>
            <a:rect r="r" b="b" t="t" l="l"/>
            <a:pathLst>
              <a:path h="3905290" w="7183644">
                <a:moveTo>
                  <a:pt x="0" y="0"/>
                </a:moveTo>
                <a:lnTo>
                  <a:pt x="7183643" y="0"/>
                </a:lnTo>
                <a:lnTo>
                  <a:pt x="7183643"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811736" y="736129"/>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4501256" y="6578297"/>
            <a:ext cx="3268163" cy="4531344"/>
          </a:xfrm>
          <a:custGeom>
            <a:avLst/>
            <a:gdLst/>
            <a:ahLst/>
            <a:cxnLst/>
            <a:rect r="r" b="b" t="t" l="l"/>
            <a:pathLst>
              <a:path h="4531344" w="3268163">
                <a:moveTo>
                  <a:pt x="0" y="0"/>
                </a:moveTo>
                <a:lnTo>
                  <a:pt x="3268163" y="0"/>
                </a:lnTo>
                <a:lnTo>
                  <a:pt x="3268163" y="4531345"/>
                </a:lnTo>
                <a:lnTo>
                  <a:pt x="0" y="4531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282574">
            <a:off x="-5880789" y="63755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9" id="9"/>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2168770" y="3709306"/>
            <a:ext cx="4409232" cy="238950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morning prayer followed by reading of circulars on performance, NPAs, policy updates and training requirements</a:t>
            </a:r>
          </a:p>
          <a:p>
            <a:pPr algn="l">
              <a:lnSpc>
                <a:spcPts val="3220"/>
              </a:lnSpc>
            </a:pPr>
          </a:p>
        </p:txBody>
      </p:sp>
      <p:sp>
        <p:nvSpPr>
          <p:cNvPr name="TextBox 12" id="12"/>
          <p:cNvSpPr txBox="true"/>
          <p:nvPr/>
        </p:nvSpPr>
        <p:spPr>
          <a:xfrm rot="0">
            <a:off x="1269847" y="3017320"/>
            <a:ext cx="4013913" cy="1099820"/>
          </a:xfrm>
          <a:prstGeom prst="rect">
            <a:avLst/>
          </a:prstGeom>
        </p:spPr>
        <p:txBody>
          <a:bodyPr anchor="t" rtlCol="false" tIns="0" lIns="0" bIns="0" rIns="0">
            <a:spAutoFit/>
          </a:bodyPr>
          <a:lstStyle/>
          <a:p>
            <a:pPr algn="ctr">
              <a:lnSpc>
                <a:spcPts val="4480"/>
              </a:lnSpc>
            </a:pPr>
            <a:r>
              <a:rPr lang="en-US" sz="3200" b="true">
                <a:solidFill>
                  <a:srgbClr val="042147"/>
                </a:solidFill>
                <a:latin typeface="Cormorant Garamond Bold"/>
                <a:ea typeface="Cormorant Garamond Bold"/>
                <a:cs typeface="Cormorant Garamond Bold"/>
                <a:sym typeface="Cormorant Garamond Bold"/>
              </a:rPr>
              <a:t>D</a:t>
            </a:r>
            <a:r>
              <a:rPr lang="en-US" b="true" sz="3200">
                <a:solidFill>
                  <a:srgbClr val="042147"/>
                </a:solidFill>
                <a:latin typeface="Cormorant Garamond Bold"/>
                <a:ea typeface="Cormorant Garamond Bold"/>
                <a:cs typeface="Cormorant Garamond Bold"/>
                <a:sym typeface="Cormorant Garamond Bold"/>
              </a:rPr>
              <a:t>aily Circulars</a:t>
            </a:r>
          </a:p>
          <a:p>
            <a:pPr algn="ctr">
              <a:lnSpc>
                <a:spcPts val="4480"/>
              </a:lnSpc>
            </a:pPr>
          </a:p>
        </p:txBody>
      </p:sp>
      <p:sp>
        <p:nvSpPr>
          <p:cNvPr name="TextBox 13" id="13"/>
          <p:cNvSpPr txBox="true"/>
          <p:nvPr/>
        </p:nvSpPr>
        <p:spPr>
          <a:xfrm rot="0">
            <a:off x="6374487" y="2976680"/>
            <a:ext cx="4013913" cy="1099820"/>
          </a:xfrm>
          <a:prstGeom prst="rect">
            <a:avLst/>
          </a:prstGeom>
        </p:spPr>
        <p:txBody>
          <a:bodyPr anchor="t" rtlCol="false" tIns="0" lIns="0" bIns="0" rIns="0">
            <a:spAutoFit/>
          </a:bodyPr>
          <a:lstStyle/>
          <a:p>
            <a:pPr algn="ctr">
              <a:lnSpc>
                <a:spcPts val="4479"/>
              </a:lnSpc>
            </a:pPr>
            <a:r>
              <a:rPr lang="en-US" sz="3199" b="true">
                <a:solidFill>
                  <a:srgbClr val="042147"/>
                </a:solidFill>
                <a:latin typeface="Cormorant Garamond Bold"/>
                <a:ea typeface="Cormorant Garamond Bold"/>
                <a:cs typeface="Cormorant Garamond Bold"/>
                <a:sym typeface="Cormorant Garamond Bold"/>
              </a:rPr>
              <a:t>L</a:t>
            </a:r>
            <a:r>
              <a:rPr lang="en-US" b="true" sz="3199">
                <a:solidFill>
                  <a:srgbClr val="042147"/>
                </a:solidFill>
                <a:latin typeface="Cormorant Garamond Bold"/>
                <a:ea typeface="Cormorant Garamond Bold"/>
                <a:cs typeface="Cormorant Garamond Bold"/>
                <a:sym typeface="Cormorant Garamond Bold"/>
              </a:rPr>
              <a:t>eave Sanctioning</a:t>
            </a:r>
          </a:p>
          <a:p>
            <a:pPr algn="ctr">
              <a:lnSpc>
                <a:spcPts val="4479"/>
              </a:lnSpc>
            </a:pPr>
          </a:p>
        </p:txBody>
      </p:sp>
      <p:sp>
        <p:nvSpPr>
          <p:cNvPr name="TextBox 14" id="14"/>
          <p:cNvSpPr txBox="true"/>
          <p:nvPr/>
        </p:nvSpPr>
        <p:spPr>
          <a:xfrm rot="0">
            <a:off x="10831647" y="3017320"/>
            <a:ext cx="7281138" cy="537845"/>
          </a:xfrm>
          <a:prstGeom prst="rect">
            <a:avLst/>
          </a:prstGeom>
        </p:spPr>
        <p:txBody>
          <a:bodyPr anchor="t" rtlCol="false" tIns="0" lIns="0" bIns="0" rIns="0">
            <a:spAutoFit/>
          </a:bodyPr>
          <a:lstStyle/>
          <a:p>
            <a:pPr algn="ctr">
              <a:lnSpc>
                <a:spcPts val="4479"/>
              </a:lnSpc>
            </a:pPr>
            <a:r>
              <a:rPr lang="en-US" sz="3199" b="true">
                <a:solidFill>
                  <a:srgbClr val="042147"/>
                </a:solidFill>
                <a:latin typeface="Cormorant Garamond Bold"/>
                <a:ea typeface="Cormorant Garamond Bold"/>
                <a:cs typeface="Cormorant Garamond Bold"/>
                <a:sym typeface="Cormorant Garamond Bold"/>
              </a:rPr>
              <a:t>Salary &amp; Allowance Processing</a:t>
            </a:r>
          </a:p>
        </p:txBody>
      </p:sp>
      <p:sp>
        <p:nvSpPr>
          <p:cNvPr name="TextBox 15" id="15"/>
          <p:cNvSpPr txBox="true"/>
          <p:nvPr/>
        </p:nvSpPr>
        <p:spPr>
          <a:xfrm rot="0">
            <a:off x="6939384" y="3709306"/>
            <a:ext cx="4409232" cy="27895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routine leave sanctioned at the RO; maternity, sabbatical and study leave need higher approval. Leave calculation and salary processing demonstrated via a temporary access ID</a:t>
            </a:r>
          </a:p>
          <a:p>
            <a:pPr algn="l">
              <a:lnSpc>
                <a:spcPts val="3220"/>
              </a:lnSpc>
            </a:pPr>
          </a:p>
        </p:txBody>
      </p:sp>
      <p:sp>
        <p:nvSpPr>
          <p:cNvPr name="TextBox 16" id="16"/>
          <p:cNvSpPr txBox="true"/>
          <p:nvPr/>
        </p:nvSpPr>
        <p:spPr>
          <a:xfrm rot="0">
            <a:off x="12024891" y="3709306"/>
            <a:ext cx="4409232" cy="19894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RO's role in processing pay, permissible allowances, and TA/conveyance claims for official travel between branches</a:t>
            </a:r>
          </a:p>
          <a:p>
            <a:pPr algn="l">
              <a:lnSpc>
                <a:spcPts val="32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822080">
            <a:off x="7449287" y="8094480"/>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33450"/>
            <a:ext cx="9805176" cy="1739900"/>
          </a:xfrm>
          <a:prstGeom prst="rect">
            <a:avLst/>
          </a:prstGeom>
        </p:spPr>
        <p:txBody>
          <a:bodyPr anchor="t" rtlCol="false" tIns="0" lIns="0" bIns="0" rIns="0">
            <a:spAutoFit/>
          </a:bodyPr>
          <a:lstStyle/>
          <a:p>
            <a:pPr algn="ctr">
              <a:lnSpc>
                <a:spcPts val="7000"/>
              </a:lnSpc>
            </a:pPr>
            <a:r>
              <a:rPr lang="en-US" sz="5000" b="true">
                <a:solidFill>
                  <a:srgbClr val="042147"/>
                </a:solidFill>
                <a:latin typeface="Cormorant Garamond Bold"/>
                <a:ea typeface="Cormorant Garamond Bold"/>
                <a:cs typeface="Cormorant Garamond Bold"/>
                <a:sym typeface="Cormorant Garamond Bold"/>
              </a:rPr>
              <a:t>Transfers, Discipline &amp; RABD</a:t>
            </a:r>
          </a:p>
          <a:p>
            <a:pPr algn="ctr">
              <a:lnSpc>
                <a:spcPts val="7000"/>
              </a:lnSpc>
            </a:pPr>
          </a:p>
        </p:txBody>
      </p:sp>
      <p:sp>
        <p:nvSpPr>
          <p:cNvPr name="Freeform 4" id="4"/>
          <p:cNvSpPr/>
          <p:nvPr/>
        </p:nvSpPr>
        <p:spPr>
          <a:xfrm flipH="false" flipV="false" rot="0">
            <a:off x="-492690" y="7305655"/>
            <a:ext cx="7183644" cy="3905290"/>
          </a:xfrm>
          <a:custGeom>
            <a:avLst/>
            <a:gdLst/>
            <a:ahLst/>
            <a:cxnLst/>
            <a:rect r="r" b="b" t="t" l="l"/>
            <a:pathLst>
              <a:path h="3905290" w="7183644">
                <a:moveTo>
                  <a:pt x="0" y="0"/>
                </a:moveTo>
                <a:lnTo>
                  <a:pt x="7183643" y="0"/>
                </a:lnTo>
                <a:lnTo>
                  <a:pt x="7183643"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811736" y="736129"/>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4501256" y="6578297"/>
            <a:ext cx="3268163" cy="4531344"/>
          </a:xfrm>
          <a:custGeom>
            <a:avLst/>
            <a:gdLst/>
            <a:ahLst/>
            <a:cxnLst/>
            <a:rect r="r" b="b" t="t" l="l"/>
            <a:pathLst>
              <a:path h="4531344" w="3268163">
                <a:moveTo>
                  <a:pt x="0" y="0"/>
                </a:moveTo>
                <a:lnTo>
                  <a:pt x="3268163" y="0"/>
                </a:lnTo>
                <a:lnTo>
                  <a:pt x="3268163" y="4531345"/>
                </a:lnTo>
                <a:lnTo>
                  <a:pt x="0" y="4531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282574">
            <a:off x="-5880789" y="63755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9" id="9"/>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2168770" y="3709306"/>
            <a:ext cx="4409232" cy="238950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inter-state transfers involve management, unions and the Head Office; intra-region transfers are handled directly by the RO</a:t>
            </a:r>
          </a:p>
          <a:p>
            <a:pPr algn="l">
              <a:lnSpc>
                <a:spcPts val="3220"/>
              </a:lnSpc>
            </a:pPr>
          </a:p>
        </p:txBody>
      </p:sp>
      <p:sp>
        <p:nvSpPr>
          <p:cNvPr name="TextBox 12" id="12"/>
          <p:cNvSpPr txBox="true"/>
          <p:nvPr/>
        </p:nvSpPr>
        <p:spPr>
          <a:xfrm rot="0">
            <a:off x="1353066" y="2976680"/>
            <a:ext cx="4013913" cy="1099820"/>
          </a:xfrm>
          <a:prstGeom prst="rect">
            <a:avLst/>
          </a:prstGeom>
        </p:spPr>
        <p:txBody>
          <a:bodyPr anchor="t" rtlCol="false" tIns="0" lIns="0" bIns="0" rIns="0">
            <a:spAutoFit/>
          </a:bodyPr>
          <a:lstStyle/>
          <a:p>
            <a:pPr algn="ctr">
              <a:lnSpc>
                <a:spcPts val="4480"/>
              </a:lnSpc>
            </a:pPr>
            <a:r>
              <a:rPr lang="en-US" sz="3200" b="true">
                <a:solidFill>
                  <a:srgbClr val="042147"/>
                </a:solidFill>
                <a:latin typeface="Cormorant Garamond Bold"/>
                <a:ea typeface="Cormorant Garamond Bold"/>
                <a:cs typeface="Cormorant Garamond Bold"/>
                <a:sym typeface="Cormorant Garamond Bold"/>
              </a:rPr>
              <a:t>Tr</a:t>
            </a:r>
            <a:r>
              <a:rPr lang="en-US" b="true" sz="3200">
                <a:solidFill>
                  <a:srgbClr val="042147"/>
                </a:solidFill>
                <a:latin typeface="Cormorant Garamond Bold"/>
                <a:ea typeface="Cormorant Garamond Bold"/>
                <a:cs typeface="Cormorant Garamond Bold"/>
                <a:sym typeface="Cormorant Garamond Bold"/>
              </a:rPr>
              <a:t>ansfer Policy</a:t>
            </a:r>
          </a:p>
          <a:p>
            <a:pPr algn="ctr">
              <a:lnSpc>
                <a:spcPts val="4480"/>
              </a:lnSpc>
            </a:pPr>
          </a:p>
        </p:txBody>
      </p:sp>
      <p:sp>
        <p:nvSpPr>
          <p:cNvPr name="TextBox 13" id="13"/>
          <p:cNvSpPr txBox="true"/>
          <p:nvPr/>
        </p:nvSpPr>
        <p:spPr>
          <a:xfrm rot="0">
            <a:off x="6690953" y="2976680"/>
            <a:ext cx="4013913" cy="1099820"/>
          </a:xfrm>
          <a:prstGeom prst="rect">
            <a:avLst/>
          </a:prstGeom>
        </p:spPr>
        <p:txBody>
          <a:bodyPr anchor="t" rtlCol="false" tIns="0" lIns="0" bIns="0" rIns="0">
            <a:spAutoFit/>
          </a:bodyPr>
          <a:lstStyle/>
          <a:p>
            <a:pPr algn="ctr">
              <a:lnSpc>
                <a:spcPts val="4479"/>
              </a:lnSpc>
            </a:pPr>
            <a:r>
              <a:rPr lang="en-US" sz="3199" b="true">
                <a:solidFill>
                  <a:srgbClr val="042147"/>
                </a:solidFill>
                <a:latin typeface="Cormorant Garamond Bold"/>
                <a:ea typeface="Cormorant Garamond Bold"/>
                <a:cs typeface="Cormorant Garamond Bold"/>
                <a:sym typeface="Cormorant Garamond Bold"/>
              </a:rPr>
              <a:t>Dis</a:t>
            </a:r>
            <a:r>
              <a:rPr lang="en-US" b="true" sz="3199">
                <a:solidFill>
                  <a:srgbClr val="042147"/>
                </a:solidFill>
                <a:latin typeface="Cormorant Garamond Bold"/>
                <a:ea typeface="Cormorant Garamond Bold"/>
                <a:cs typeface="Cormorant Garamond Bold"/>
                <a:sym typeface="Cormorant Garamond Bold"/>
              </a:rPr>
              <a:t>ciplinary Procedure</a:t>
            </a:r>
          </a:p>
          <a:p>
            <a:pPr algn="ctr">
              <a:lnSpc>
                <a:spcPts val="4479"/>
              </a:lnSpc>
            </a:pPr>
          </a:p>
        </p:txBody>
      </p:sp>
      <p:sp>
        <p:nvSpPr>
          <p:cNvPr name="TextBox 14" id="14"/>
          <p:cNvSpPr txBox="true"/>
          <p:nvPr/>
        </p:nvSpPr>
        <p:spPr>
          <a:xfrm rot="0">
            <a:off x="12024891" y="2976680"/>
            <a:ext cx="5451492" cy="1099820"/>
          </a:xfrm>
          <a:prstGeom prst="rect">
            <a:avLst/>
          </a:prstGeom>
        </p:spPr>
        <p:txBody>
          <a:bodyPr anchor="t" rtlCol="false" tIns="0" lIns="0" bIns="0" rIns="0">
            <a:spAutoFit/>
          </a:bodyPr>
          <a:lstStyle/>
          <a:p>
            <a:pPr algn="ctr">
              <a:lnSpc>
                <a:spcPts val="4479"/>
              </a:lnSpc>
            </a:pPr>
            <a:r>
              <a:rPr lang="en-US" sz="3199" b="true">
                <a:solidFill>
                  <a:srgbClr val="042147"/>
                </a:solidFill>
                <a:latin typeface="Cormorant Garamond Bold"/>
                <a:ea typeface="Cormorant Garamond Bold"/>
                <a:cs typeface="Cormorant Garamond Bold"/>
                <a:sym typeface="Cormorant Garamond Bold"/>
              </a:rPr>
              <a:t>RABD &amp; Priority Sector Lending</a:t>
            </a:r>
          </a:p>
          <a:p>
            <a:pPr algn="ctr">
              <a:lnSpc>
                <a:spcPts val="4479"/>
              </a:lnSpc>
            </a:pPr>
          </a:p>
        </p:txBody>
      </p:sp>
      <p:sp>
        <p:nvSpPr>
          <p:cNvPr name="TextBox 15" id="15"/>
          <p:cNvSpPr txBox="true"/>
          <p:nvPr/>
        </p:nvSpPr>
        <p:spPr>
          <a:xfrm rot="0">
            <a:off x="6939384" y="3709306"/>
            <a:ext cx="4409232" cy="19894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reporting of an issue, examination by the concerned authority, and a formal inquiry where necessary.</a:t>
            </a:r>
          </a:p>
          <a:p>
            <a:pPr algn="l">
              <a:lnSpc>
                <a:spcPts val="3220"/>
              </a:lnSpc>
            </a:pPr>
          </a:p>
        </p:txBody>
      </p:sp>
      <p:sp>
        <p:nvSpPr>
          <p:cNvPr name="TextBox 16" id="16"/>
          <p:cNvSpPr txBox="true"/>
          <p:nvPr/>
        </p:nvSpPr>
        <p:spPr>
          <a:xfrm rot="0">
            <a:off x="12024891" y="3709306"/>
            <a:ext cx="4409232" cy="27895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agricultural lending, rural development schemes, and mandatory credit to agriculture, MSMEs, education, housing and weaker sections — the bank's role in financial inclusion.</a:t>
            </a:r>
          </a:p>
          <a:p>
            <a:pPr algn="l">
              <a:lnSpc>
                <a:spcPts val="32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5382268" y="-127482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14400"/>
            <a:ext cx="9805176" cy="2095500"/>
          </a:xfrm>
          <a:prstGeom prst="rect">
            <a:avLst/>
          </a:prstGeom>
        </p:spPr>
        <p:txBody>
          <a:bodyPr anchor="t" rtlCol="false" tIns="0" lIns="0" bIns="0" rIns="0">
            <a:spAutoFit/>
          </a:bodyPr>
          <a:lstStyle/>
          <a:p>
            <a:pPr algn="ctr">
              <a:lnSpc>
                <a:spcPts val="8400"/>
              </a:lnSpc>
            </a:pPr>
            <a:r>
              <a:rPr lang="en-US" sz="6000" b="true">
                <a:solidFill>
                  <a:srgbClr val="042147"/>
                </a:solidFill>
                <a:latin typeface="Cormorant Garamond Bold"/>
                <a:ea typeface="Cormorant Garamond Bold"/>
                <a:cs typeface="Cormorant Garamond Bold"/>
                <a:sym typeface="Cormorant Garamond Bold"/>
              </a:rPr>
              <a:t>Branch Visits &amp; Data Collection</a:t>
            </a:r>
          </a:p>
          <a:p>
            <a:pPr algn="ctr">
              <a:lnSpc>
                <a:spcPts val="8400"/>
              </a:lnSpc>
            </a:pPr>
          </a:p>
        </p:txBody>
      </p:sp>
      <p:sp>
        <p:nvSpPr>
          <p:cNvPr name="Freeform 4" id="4"/>
          <p:cNvSpPr/>
          <p:nvPr/>
        </p:nvSpPr>
        <p:spPr>
          <a:xfrm flipH="false" flipV="false" rot="1282574">
            <a:off x="-3784431" y="3582319"/>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08903" y="5851351"/>
            <a:ext cx="1447564" cy="628188"/>
          </a:xfrm>
          <a:custGeom>
            <a:avLst/>
            <a:gdLst/>
            <a:ahLst/>
            <a:cxnLst/>
            <a:rect r="r" b="b" t="t" l="l"/>
            <a:pathLst>
              <a:path h="628188" w="1447564">
                <a:moveTo>
                  <a:pt x="0" y="0"/>
                </a:moveTo>
                <a:lnTo>
                  <a:pt x="1447563" y="0"/>
                </a:lnTo>
                <a:lnTo>
                  <a:pt x="1447563" y="628189"/>
                </a:lnTo>
                <a:lnTo>
                  <a:pt x="0" y="62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39769" y="2967155"/>
            <a:ext cx="13043344" cy="53244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Fieldwork Scop</a:t>
            </a:r>
            <a:r>
              <a:rPr lang="en-US" b="true" sz="3000">
                <a:solidFill>
                  <a:srgbClr val="042147"/>
                </a:solidFill>
                <a:latin typeface="DM Sans Bold"/>
                <a:ea typeface="DM Sans Bold"/>
                <a:cs typeface="DM Sans Bold"/>
                <a:sym typeface="DM Sans Bold"/>
              </a:rPr>
              <a:t>e:</a:t>
            </a:r>
            <a:r>
              <a:rPr lang="en-US" sz="3000">
                <a:solidFill>
                  <a:srgbClr val="042147"/>
                </a:solidFill>
                <a:latin typeface="DM Sans"/>
                <a:ea typeface="DM Sans"/>
                <a:cs typeface="DM Sans"/>
                <a:sym typeface="DM Sans"/>
              </a:rPr>
              <a:t> visited 27 branches across the region plus RO departments (Retail Loans, Currency Chest) to administer a questionnaire on training effectiveness.</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Staffing Observations:</a:t>
            </a:r>
            <a:r>
              <a:rPr lang="en-US" sz="3000">
                <a:solidFill>
                  <a:srgbClr val="042147"/>
                </a:solidFill>
                <a:latin typeface="DM Sans"/>
                <a:ea typeface="DM Sans"/>
                <a:cs typeface="DM Sans"/>
                <a:sym typeface="DM Sans"/>
              </a:rPr>
              <a:t> branch strength varied widely — e.g. Triplicane 2 operated with just two officers and one cashier, directly limiting time available for training.</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Training Perceptions:</a:t>
            </a:r>
            <a:r>
              <a:rPr lang="en-US" sz="3000">
                <a:solidFill>
                  <a:srgbClr val="042147"/>
                </a:solidFill>
                <a:latin typeface="DM Sans"/>
                <a:ea typeface="DM Sans"/>
                <a:cs typeface="DM Sans"/>
                <a:sym typeface="DM Sans"/>
              </a:rPr>
              <a:t> employees compared classroom, online and live-streamed training, and how far they could apply what they learned at work.</a:t>
            </a:r>
          </a:p>
          <a:p>
            <a:pPr algn="just">
              <a:lnSpc>
                <a:spcPts val="4200"/>
              </a:lnSpc>
            </a:pPr>
          </a:p>
        </p:txBody>
      </p:sp>
      <p:sp>
        <p:nvSpPr>
          <p:cNvPr name="Freeform 7" id="7"/>
          <p:cNvSpPr/>
          <p:nvPr/>
        </p:nvSpPr>
        <p:spPr>
          <a:xfrm flipH="false" flipV="false" rot="0">
            <a:off x="13031174" y="7270421"/>
            <a:ext cx="5458016" cy="3234380"/>
          </a:xfrm>
          <a:custGeom>
            <a:avLst/>
            <a:gdLst/>
            <a:ahLst/>
            <a:cxnLst/>
            <a:rect r="r" b="b" t="t" l="l"/>
            <a:pathLst>
              <a:path h="3234380" w="5458016">
                <a:moveTo>
                  <a:pt x="0" y="0"/>
                </a:moveTo>
                <a:lnTo>
                  <a:pt x="5458016" y="0"/>
                </a:lnTo>
                <a:lnTo>
                  <a:pt x="5458016" y="3234379"/>
                </a:lnTo>
                <a:lnTo>
                  <a:pt x="0" y="3234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5579570" y="-717218"/>
            <a:ext cx="2708858" cy="3110380"/>
          </a:xfrm>
          <a:custGeom>
            <a:avLst/>
            <a:gdLst/>
            <a:ahLst/>
            <a:cxnLst/>
            <a:rect r="r" b="b" t="t" l="l"/>
            <a:pathLst>
              <a:path h="3110380" w="2708858">
                <a:moveTo>
                  <a:pt x="0" y="0"/>
                </a:moveTo>
                <a:lnTo>
                  <a:pt x="2708859" y="0"/>
                </a:lnTo>
                <a:lnTo>
                  <a:pt x="2708859" y="3110380"/>
                </a:lnTo>
                <a:lnTo>
                  <a:pt x="0" y="311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grpSp>
        <p:nvGrpSpPr>
          <p:cNvPr name="Group 12" id="12"/>
          <p:cNvGrpSpPr/>
          <p:nvPr/>
        </p:nvGrpSpPr>
        <p:grpSpPr>
          <a:xfrm rot="2162957">
            <a:off x="72736" y="-2984879"/>
            <a:ext cx="1543050" cy="6739091"/>
            <a:chOff x="0" y="0"/>
            <a:chExt cx="406400" cy="1774905"/>
          </a:xfrm>
        </p:grpSpPr>
        <p:sp>
          <p:nvSpPr>
            <p:cNvPr name="Freeform 13" id="13"/>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E61E26"/>
            </a:solidFill>
          </p:spPr>
        </p:sp>
        <p:sp>
          <p:nvSpPr>
            <p:cNvPr name="TextBox 14" id="14"/>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grpSp>
        <p:nvGrpSpPr>
          <p:cNvPr name="Group 15" id="15"/>
          <p:cNvGrpSpPr/>
          <p:nvPr/>
        </p:nvGrpSpPr>
        <p:grpSpPr>
          <a:xfrm rot="2162957">
            <a:off x="-438456" y="-3369546"/>
            <a:ext cx="1543050" cy="6739091"/>
            <a:chOff x="0" y="0"/>
            <a:chExt cx="406400" cy="1774905"/>
          </a:xfrm>
        </p:grpSpPr>
        <p:sp>
          <p:nvSpPr>
            <p:cNvPr name="Freeform 16" id="16"/>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00497E"/>
            </a:solidFill>
          </p:spPr>
        </p:sp>
        <p:sp>
          <p:nvSpPr>
            <p:cNvPr name="TextBox 17" id="17"/>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5382268" y="-127482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14400"/>
            <a:ext cx="9805176" cy="3162300"/>
          </a:xfrm>
          <a:prstGeom prst="rect">
            <a:avLst/>
          </a:prstGeom>
        </p:spPr>
        <p:txBody>
          <a:bodyPr anchor="t" rtlCol="false" tIns="0" lIns="0" bIns="0" rIns="0">
            <a:spAutoFit/>
          </a:bodyPr>
          <a:lstStyle/>
          <a:p>
            <a:pPr algn="ctr">
              <a:lnSpc>
                <a:spcPts val="8400"/>
              </a:lnSpc>
            </a:pPr>
            <a:r>
              <a:rPr lang="en-US" sz="6000" b="true">
                <a:solidFill>
                  <a:srgbClr val="042147"/>
                </a:solidFill>
                <a:latin typeface="Cormorant Garamond Bold"/>
                <a:ea typeface="Cormorant Garamond Bold"/>
                <a:cs typeface="Cormorant Garamond Bold"/>
                <a:sym typeface="Cormorant Garamond Bold"/>
              </a:rPr>
              <a:t>Post-Amalgamation Change Management</a:t>
            </a:r>
          </a:p>
          <a:p>
            <a:pPr algn="ctr">
              <a:lnSpc>
                <a:spcPts val="8400"/>
              </a:lnSpc>
            </a:pPr>
          </a:p>
        </p:txBody>
      </p:sp>
      <p:sp>
        <p:nvSpPr>
          <p:cNvPr name="Freeform 4" id="4"/>
          <p:cNvSpPr/>
          <p:nvPr/>
        </p:nvSpPr>
        <p:spPr>
          <a:xfrm flipH="false" flipV="false" rot="1282574">
            <a:off x="-3784431" y="3582319"/>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08903" y="5851351"/>
            <a:ext cx="1447564" cy="628188"/>
          </a:xfrm>
          <a:custGeom>
            <a:avLst/>
            <a:gdLst/>
            <a:ahLst/>
            <a:cxnLst/>
            <a:rect r="r" b="b" t="t" l="l"/>
            <a:pathLst>
              <a:path h="628188" w="1447564">
                <a:moveTo>
                  <a:pt x="0" y="0"/>
                </a:moveTo>
                <a:lnTo>
                  <a:pt x="1447563" y="0"/>
                </a:lnTo>
                <a:lnTo>
                  <a:pt x="1447563" y="628189"/>
                </a:lnTo>
                <a:lnTo>
                  <a:pt x="0" y="62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39769" y="2967155"/>
            <a:ext cx="13043344" cy="53244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The Merg</a:t>
            </a:r>
            <a:r>
              <a:rPr lang="en-US" b="true" sz="3000">
                <a:solidFill>
                  <a:srgbClr val="042147"/>
                </a:solidFill>
                <a:latin typeface="DM Sans Bold"/>
                <a:ea typeface="DM Sans Bold"/>
                <a:cs typeface="DM Sans Bold"/>
                <a:sym typeface="DM Sans Bold"/>
              </a:rPr>
              <a:t>er:</a:t>
            </a:r>
            <a:r>
              <a:rPr lang="en-US" sz="3000">
                <a:solidFill>
                  <a:srgbClr val="042147"/>
                </a:solidFill>
                <a:latin typeface="DM Sans"/>
                <a:ea typeface="DM Sans"/>
                <a:cs typeface="DM Sans"/>
                <a:sym typeface="DM Sans"/>
              </a:rPr>
              <a:t> Andhra Bank and Corporation Bank amalgamated with Union Bank of India, bringing employees from different legacy systems together.</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SOP Adoption:</a:t>
            </a:r>
            <a:r>
              <a:rPr lang="en-US" sz="3000">
                <a:solidFill>
                  <a:srgbClr val="042147"/>
                </a:solidFill>
                <a:latin typeface="DM Sans"/>
                <a:ea typeface="DM Sans"/>
                <a:cs typeface="DM Sans"/>
                <a:sym typeface="DM Sans"/>
              </a:rPr>
              <a:t> staff had to learn common Standard Operating Procedures for documentation, authorisation levels and customer service.</a:t>
            </a:r>
          </a:p>
          <a:p>
            <a:pPr algn="l" marL="647700" indent="-323850" lvl="1">
              <a:lnSpc>
                <a:spcPts val="4200"/>
              </a:lnSpc>
              <a:buFont typeface="Arial"/>
              <a:buChar char="•"/>
            </a:pPr>
            <a:r>
              <a:rPr lang="en-US" b="true" sz="3000">
                <a:solidFill>
                  <a:srgbClr val="042147"/>
                </a:solidFill>
                <a:latin typeface="DM Sans Bold"/>
                <a:ea typeface="DM Sans Bold"/>
                <a:cs typeface="DM Sans Bold"/>
                <a:sym typeface="DM Sans Bold"/>
              </a:rPr>
              <a:t>Training as Change Management:</a:t>
            </a:r>
            <a:r>
              <a:rPr lang="en-US" sz="3000">
                <a:solidFill>
                  <a:srgbClr val="042147"/>
                </a:solidFill>
                <a:latin typeface="DM Sans"/>
                <a:ea typeface="DM Sans"/>
                <a:cs typeface="DM Sans"/>
                <a:sym typeface="DM Sans"/>
              </a:rPr>
              <a:t> continuous training, not one-time orientation, helped employees adapt with confidence to the merged organisation's systems.</a:t>
            </a:r>
          </a:p>
          <a:p>
            <a:pPr algn="just">
              <a:lnSpc>
                <a:spcPts val="4200"/>
              </a:lnSpc>
            </a:pPr>
          </a:p>
        </p:txBody>
      </p:sp>
      <p:sp>
        <p:nvSpPr>
          <p:cNvPr name="Freeform 7" id="7"/>
          <p:cNvSpPr/>
          <p:nvPr/>
        </p:nvSpPr>
        <p:spPr>
          <a:xfrm flipH="false" flipV="false" rot="0">
            <a:off x="13031174" y="7270421"/>
            <a:ext cx="5458016" cy="3234380"/>
          </a:xfrm>
          <a:custGeom>
            <a:avLst/>
            <a:gdLst/>
            <a:ahLst/>
            <a:cxnLst/>
            <a:rect r="r" b="b" t="t" l="l"/>
            <a:pathLst>
              <a:path h="3234380" w="5458016">
                <a:moveTo>
                  <a:pt x="0" y="0"/>
                </a:moveTo>
                <a:lnTo>
                  <a:pt x="5458016" y="0"/>
                </a:lnTo>
                <a:lnTo>
                  <a:pt x="5458016" y="3234379"/>
                </a:lnTo>
                <a:lnTo>
                  <a:pt x="0" y="3234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5579570" y="-717218"/>
            <a:ext cx="2708858" cy="3110380"/>
          </a:xfrm>
          <a:custGeom>
            <a:avLst/>
            <a:gdLst/>
            <a:ahLst/>
            <a:cxnLst/>
            <a:rect r="r" b="b" t="t" l="l"/>
            <a:pathLst>
              <a:path h="3110380" w="2708858">
                <a:moveTo>
                  <a:pt x="0" y="0"/>
                </a:moveTo>
                <a:lnTo>
                  <a:pt x="2708859" y="0"/>
                </a:lnTo>
                <a:lnTo>
                  <a:pt x="2708859" y="3110380"/>
                </a:lnTo>
                <a:lnTo>
                  <a:pt x="0" y="311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grpSp>
        <p:nvGrpSpPr>
          <p:cNvPr name="Group 12" id="12"/>
          <p:cNvGrpSpPr/>
          <p:nvPr/>
        </p:nvGrpSpPr>
        <p:grpSpPr>
          <a:xfrm rot="2162957">
            <a:off x="72736" y="-2984879"/>
            <a:ext cx="1543050" cy="6739091"/>
            <a:chOff x="0" y="0"/>
            <a:chExt cx="406400" cy="1774905"/>
          </a:xfrm>
        </p:grpSpPr>
        <p:sp>
          <p:nvSpPr>
            <p:cNvPr name="Freeform 13" id="13"/>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E61E26"/>
            </a:solidFill>
          </p:spPr>
        </p:sp>
        <p:sp>
          <p:nvSpPr>
            <p:cNvPr name="TextBox 14" id="14"/>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grpSp>
        <p:nvGrpSpPr>
          <p:cNvPr name="Group 15" id="15"/>
          <p:cNvGrpSpPr/>
          <p:nvPr/>
        </p:nvGrpSpPr>
        <p:grpSpPr>
          <a:xfrm rot="2162957">
            <a:off x="-438456" y="-3369546"/>
            <a:ext cx="1543050" cy="6739091"/>
            <a:chOff x="0" y="0"/>
            <a:chExt cx="406400" cy="1774905"/>
          </a:xfrm>
        </p:grpSpPr>
        <p:sp>
          <p:nvSpPr>
            <p:cNvPr name="Freeform 16" id="16"/>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00497E"/>
            </a:solidFill>
          </p:spPr>
        </p:sp>
        <p:sp>
          <p:nvSpPr>
            <p:cNvPr name="TextBox 17" id="17"/>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5382268" y="-127482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14400"/>
            <a:ext cx="9805176" cy="2095500"/>
          </a:xfrm>
          <a:prstGeom prst="rect">
            <a:avLst/>
          </a:prstGeom>
        </p:spPr>
        <p:txBody>
          <a:bodyPr anchor="t" rtlCol="false" tIns="0" lIns="0" bIns="0" rIns="0">
            <a:spAutoFit/>
          </a:bodyPr>
          <a:lstStyle/>
          <a:p>
            <a:pPr algn="ctr">
              <a:lnSpc>
                <a:spcPts val="8400"/>
              </a:lnSpc>
            </a:pPr>
            <a:r>
              <a:rPr lang="en-US" sz="6000" b="true">
                <a:solidFill>
                  <a:srgbClr val="042147"/>
                </a:solidFill>
                <a:latin typeface="Cormorant Garamond Bold"/>
                <a:ea typeface="Cormorant Garamond Bold"/>
                <a:cs typeface="Cormorant Garamond Bold"/>
                <a:sym typeface="Cormorant Garamond Bold"/>
              </a:rPr>
              <a:t>Key Learnings</a:t>
            </a:r>
          </a:p>
          <a:p>
            <a:pPr algn="ctr">
              <a:lnSpc>
                <a:spcPts val="8400"/>
              </a:lnSpc>
            </a:pPr>
          </a:p>
        </p:txBody>
      </p:sp>
      <p:sp>
        <p:nvSpPr>
          <p:cNvPr name="Freeform 4" id="4"/>
          <p:cNvSpPr/>
          <p:nvPr/>
        </p:nvSpPr>
        <p:spPr>
          <a:xfrm flipH="false" flipV="false" rot="1282574">
            <a:off x="-3784431" y="3582319"/>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08903" y="5851351"/>
            <a:ext cx="1447564" cy="628188"/>
          </a:xfrm>
          <a:custGeom>
            <a:avLst/>
            <a:gdLst/>
            <a:ahLst/>
            <a:cxnLst/>
            <a:rect r="r" b="b" t="t" l="l"/>
            <a:pathLst>
              <a:path h="628188" w="1447564">
                <a:moveTo>
                  <a:pt x="0" y="0"/>
                </a:moveTo>
                <a:lnTo>
                  <a:pt x="1447563" y="0"/>
                </a:lnTo>
                <a:lnTo>
                  <a:pt x="1447563" y="628189"/>
                </a:lnTo>
                <a:lnTo>
                  <a:pt x="0" y="62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39769" y="2976680"/>
            <a:ext cx="13043344" cy="7415530"/>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Broad HR Perspectiv</a:t>
            </a:r>
            <a:r>
              <a:rPr lang="en-US" b="true" sz="2800">
                <a:solidFill>
                  <a:srgbClr val="042147"/>
                </a:solidFill>
                <a:latin typeface="DM Sans Bold"/>
                <a:ea typeface="DM Sans Bold"/>
                <a:cs typeface="DM Sans Bold"/>
                <a:sym typeface="DM Sans Bold"/>
              </a:rPr>
              <a:t>e</a:t>
            </a:r>
            <a:r>
              <a:rPr lang="en-US" sz="2800">
                <a:solidFill>
                  <a:srgbClr val="042147"/>
                </a:solidFill>
                <a:latin typeface="DM Sans"/>
                <a:ea typeface="DM Sans"/>
                <a:cs typeface="DM Sans"/>
                <a:sym typeface="DM Sans"/>
              </a:rPr>
              <a:t>: HR in a public-sector bank goes beyond recruitment and salary — it covers welfare, leave, transfers, training, internal communication and industrial relations.</a:t>
            </a:r>
          </a:p>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Core Practical Takeaways</a:t>
            </a:r>
            <a:r>
              <a:rPr lang="en-US" sz="2800">
                <a:solidFill>
                  <a:srgbClr val="042147"/>
                </a:solidFill>
                <a:latin typeface="DM Sans"/>
                <a:ea typeface="DM Sans"/>
                <a:cs typeface="DM Sans"/>
                <a:sym typeface="DM Sans"/>
              </a:rPr>
              <a:t>:</a:t>
            </a:r>
          </a:p>
          <a:p>
            <a:pPr algn="l" marL="1209042" indent="-403014" lvl="2">
              <a:lnSpc>
                <a:spcPts val="3920"/>
              </a:lnSpc>
              <a:buFont typeface="Arial"/>
              <a:buChar char="⚬"/>
            </a:pPr>
            <a:r>
              <a:rPr lang="en-US" sz="2800">
                <a:solidFill>
                  <a:srgbClr val="042147"/>
                </a:solidFill>
                <a:latin typeface="DM Sans"/>
                <a:ea typeface="DM Sans"/>
                <a:cs typeface="DM Sans"/>
                <a:sym typeface="DM Sans"/>
              </a:rPr>
              <a:t> Confidentiality and controlled access are central to handling employee records.</a:t>
            </a:r>
          </a:p>
          <a:p>
            <a:pPr algn="l" marL="1209042" indent="-403014" lvl="2">
              <a:lnSpc>
                <a:spcPts val="3920"/>
              </a:lnSpc>
              <a:buFont typeface="Arial"/>
              <a:buChar char="⚬"/>
            </a:pPr>
            <a:r>
              <a:rPr lang="en-US" sz="2800">
                <a:solidFill>
                  <a:srgbClr val="042147"/>
                </a:solidFill>
                <a:latin typeface="DM Sans"/>
                <a:ea typeface="DM Sans"/>
                <a:cs typeface="DM Sans"/>
                <a:sym typeface="DM Sans"/>
              </a:rPr>
              <a:t> Staffing levels and branch workload directly shape training participation.</a:t>
            </a:r>
          </a:p>
          <a:p>
            <a:pPr algn="l" marL="1209042" indent="-403014" lvl="2">
              <a:lnSpc>
                <a:spcPts val="3920"/>
              </a:lnSpc>
              <a:buFont typeface="Arial"/>
              <a:buChar char="⚬"/>
            </a:pPr>
            <a:r>
              <a:rPr lang="en-US" sz="2800">
                <a:solidFill>
                  <a:srgbClr val="042147"/>
                </a:solidFill>
                <a:latin typeface="DM Sans"/>
                <a:ea typeface="DM Sans"/>
                <a:cs typeface="DM Sans"/>
                <a:sym typeface="DM Sans"/>
              </a:rPr>
              <a:t> Hybrid learning (classroom + digital + live) works best when matched to the branch's operating conditions.</a:t>
            </a:r>
          </a:p>
          <a:p>
            <a:pPr algn="l" marL="1209042" indent="-403014" lvl="2">
              <a:lnSpc>
                <a:spcPts val="3920"/>
              </a:lnSpc>
              <a:buFont typeface="Arial"/>
              <a:buChar char="⚬"/>
            </a:pPr>
            <a:r>
              <a:rPr lang="en-US" sz="2800">
                <a:solidFill>
                  <a:srgbClr val="042147"/>
                </a:solidFill>
                <a:latin typeface="DM Sans"/>
                <a:ea typeface="DM Sans"/>
                <a:cs typeface="DM Sans"/>
                <a:sym typeface="DM Sans"/>
              </a:rPr>
              <a:t> Training is a key tool of change management during organisational transitions.</a:t>
            </a:r>
          </a:p>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Research Skills</a:t>
            </a:r>
            <a:r>
              <a:rPr lang="en-US" sz="2800">
                <a:solidFill>
                  <a:srgbClr val="042147"/>
                </a:solidFill>
                <a:latin typeface="DM Sans"/>
                <a:ea typeface="DM Sans"/>
                <a:cs typeface="DM Sans"/>
                <a:sym typeface="DM Sans"/>
              </a:rPr>
              <a:t>: developed professional communication, research ethics and respectful data collection in a live banking environment.</a:t>
            </a:r>
          </a:p>
          <a:p>
            <a:pPr algn="just">
              <a:lnSpc>
                <a:spcPts val="3920"/>
              </a:lnSpc>
            </a:pPr>
          </a:p>
        </p:txBody>
      </p:sp>
      <p:sp>
        <p:nvSpPr>
          <p:cNvPr name="Freeform 7" id="7"/>
          <p:cNvSpPr/>
          <p:nvPr/>
        </p:nvSpPr>
        <p:spPr>
          <a:xfrm flipH="false" flipV="false" rot="0">
            <a:off x="13031174" y="7270421"/>
            <a:ext cx="5458016" cy="3234380"/>
          </a:xfrm>
          <a:custGeom>
            <a:avLst/>
            <a:gdLst/>
            <a:ahLst/>
            <a:cxnLst/>
            <a:rect r="r" b="b" t="t" l="l"/>
            <a:pathLst>
              <a:path h="3234380" w="5458016">
                <a:moveTo>
                  <a:pt x="0" y="0"/>
                </a:moveTo>
                <a:lnTo>
                  <a:pt x="5458016" y="0"/>
                </a:lnTo>
                <a:lnTo>
                  <a:pt x="5458016" y="3234379"/>
                </a:lnTo>
                <a:lnTo>
                  <a:pt x="0" y="3234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5579570" y="-717218"/>
            <a:ext cx="2708858" cy="3110380"/>
          </a:xfrm>
          <a:custGeom>
            <a:avLst/>
            <a:gdLst/>
            <a:ahLst/>
            <a:cxnLst/>
            <a:rect r="r" b="b" t="t" l="l"/>
            <a:pathLst>
              <a:path h="3110380" w="2708858">
                <a:moveTo>
                  <a:pt x="0" y="0"/>
                </a:moveTo>
                <a:lnTo>
                  <a:pt x="2708859" y="0"/>
                </a:lnTo>
                <a:lnTo>
                  <a:pt x="2708859" y="3110380"/>
                </a:lnTo>
                <a:lnTo>
                  <a:pt x="0" y="311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grpSp>
        <p:nvGrpSpPr>
          <p:cNvPr name="Group 12" id="12"/>
          <p:cNvGrpSpPr/>
          <p:nvPr/>
        </p:nvGrpSpPr>
        <p:grpSpPr>
          <a:xfrm rot="2162957">
            <a:off x="72736" y="-2984879"/>
            <a:ext cx="1543050" cy="6739091"/>
            <a:chOff x="0" y="0"/>
            <a:chExt cx="406400" cy="1774905"/>
          </a:xfrm>
        </p:grpSpPr>
        <p:sp>
          <p:nvSpPr>
            <p:cNvPr name="Freeform 13" id="13"/>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E61E26"/>
            </a:solidFill>
          </p:spPr>
        </p:sp>
        <p:sp>
          <p:nvSpPr>
            <p:cNvPr name="TextBox 14" id="14"/>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grpSp>
        <p:nvGrpSpPr>
          <p:cNvPr name="Group 15" id="15"/>
          <p:cNvGrpSpPr/>
          <p:nvPr/>
        </p:nvGrpSpPr>
        <p:grpSpPr>
          <a:xfrm rot="2162957">
            <a:off x="-438456" y="-3369546"/>
            <a:ext cx="1543050" cy="6739091"/>
            <a:chOff x="0" y="0"/>
            <a:chExt cx="406400" cy="1774905"/>
          </a:xfrm>
        </p:grpSpPr>
        <p:sp>
          <p:nvSpPr>
            <p:cNvPr name="Freeform 16" id="16"/>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00497E"/>
            </a:solidFill>
          </p:spPr>
        </p:sp>
        <p:sp>
          <p:nvSpPr>
            <p:cNvPr name="TextBox 17" id="17"/>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5382268" y="-127482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14400"/>
            <a:ext cx="9805176" cy="2095500"/>
          </a:xfrm>
          <a:prstGeom prst="rect">
            <a:avLst/>
          </a:prstGeom>
        </p:spPr>
        <p:txBody>
          <a:bodyPr anchor="t" rtlCol="false" tIns="0" lIns="0" bIns="0" rIns="0">
            <a:spAutoFit/>
          </a:bodyPr>
          <a:lstStyle/>
          <a:p>
            <a:pPr algn="ctr">
              <a:lnSpc>
                <a:spcPts val="8400"/>
              </a:lnSpc>
            </a:pPr>
            <a:r>
              <a:rPr lang="en-US" sz="6000" b="true">
                <a:solidFill>
                  <a:srgbClr val="042147"/>
                </a:solidFill>
                <a:latin typeface="Cormorant Garamond Bold"/>
                <a:ea typeface="Cormorant Garamond Bold"/>
                <a:cs typeface="Cormorant Garamond Bold"/>
                <a:sym typeface="Cormorant Garamond Bold"/>
              </a:rPr>
              <a:t>Conclusion</a:t>
            </a:r>
          </a:p>
          <a:p>
            <a:pPr algn="ctr">
              <a:lnSpc>
                <a:spcPts val="8400"/>
              </a:lnSpc>
            </a:pPr>
          </a:p>
        </p:txBody>
      </p:sp>
      <p:sp>
        <p:nvSpPr>
          <p:cNvPr name="Freeform 4" id="4"/>
          <p:cNvSpPr/>
          <p:nvPr/>
        </p:nvSpPr>
        <p:spPr>
          <a:xfrm flipH="false" flipV="false" rot="1282574">
            <a:off x="-3784431" y="3582319"/>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08903" y="5851351"/>
            <a:ext cx="1447564" cy="628188"/>
          </a:xfrm>
          <a:custGeom>
            <a:avLst/>
            <a:gdLst/>
            <a:ahLst/>
            <a:cxnLst/>
            <a:rect r="r" b="b" t="t" l="l"/>
            <a:pathLst>
              <a:path h="628188" w="1447564">
                <a:moveTo>
                  <a:pt x="0" y="0"/>
                </a:moveTo>
                <a:lnTo>
                  <a:pt x="1447563" y="0"/>
                </a:lnTo>
                <a:lnTo>
                  <a:pt x="1447563" y="628189"/>
                </a:lnTo>
                <a:lnTo>
                  <a:pt x="0" y="62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39769" y="2976680"/>
            <a:ext cx="13043344" cy="4939030"/>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Theory to Practic</a:t>
            </a:r>
            <a:r>
              <a:rPr lang="en-US" b="true" sz="2800">
                <a:solidFill>
                  <a:srgbClr val="042147"/>
                </a:solidFill>
                <a:latin typeface="DM Sans Bold"/>
                <a:ea typeface="DM Sans Bold"/>
                <a:cs typeface="DM Sans Bold"/>
                <a:sym typeface="DM Sans Bold"/>
              </a:rPr>
              <a:t>e</a:t>
            </a:r>
            <a:r>
              <a:rPr lang="en-US" sz="2800">
                <a:solidFill>
                  <a:srgbClr val="042147"/>
                </a:solidFill>
                <a:latin typeface="DM Sans"/>
                <a:ea typeface="DM Sans"/>
                <a:cs typeface="DM Sans"/>
                <a:sym typeface="DM Sans"/>
              </a:rPr>
              <a:t>: connected classroom learning at MSSW with practical HR administration and field research at a public-sector bank.</a:t>
            </a:r>
          </a:p>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Operational Grounding</a:t>
            </a:r>
            <a:r>
              <a:rPr lang="en-US" sz="2800">
                <a:solidFill>
                  <a:srgbClr val="042147"/>
                </a:solidFill>
                <a:latin typeface="DM Sans"/>
                <a:ea typeface="DM Sans"/>
                <a:cs typeface="DM Sans"/>
                <a:sym typeface="DM Sans"/>
              </a:rPr>
              <a:t>: gained exposure to HR functions, branch-level operations, RABD, currency chest and security functions.</a:t>
            </a:r>
          </a:p>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Professional Growth</a:t>
            </a:r>
            <a:r>
              <a:rPr lang="en-US" sz="2800">
                <a:solidFill>
                  <a:srgbClr val="042147"/>
                </a:solidFill>
                <a:latin typeface="DM Sans"/>
                <a:ea typeface="DM Sans"/>
                <a:cs typeface="DM Sans"/>
                <a:sym typeface="DM Sans"/>
              </a:rPr>
              <a:t>: improved understanding of confidentiality, professional conduct, and how HR supports the smooth functioning of a large organisation.</a:t>
            </a:r>
          </a:p>
          <a:p>
            <a:pPr algn="l" marL="604521" indent="-302261" lvl="1">
              <a:lnSpc>
                <a:spcPts val="3920"/>
              </a:lnSpc>
              <a:buFont typeface="Arial"/>
              <a:buChar char="•"/>
            </a:pPr>
            <a:r>
              <a:rPr lang="en-US" b="true" sz="2800">
                <a:solidFill>
                  <a:srgbClr val="042147"/>
                </a:solidFill>
                <a:latin typeface="DM Sans Bold"/>
                <a:ea typeface="DM Sans Bold"/>
                <a:cs typeface="DM Sans Bold"/>
                <a:sym typeface="DM Sans Bold"/>
              </a:rPr>
              <a:t>Dissertation Value</a:t>
            </a:r>
            <a:r>
              <a:rPr lang="en-US" sz="2800">
                <a:solidFill>
                  <a:srgbClr val="042147"/>
                </a:solidFill>
                <a:latin typeface="DM Sans"/>
                <a:ea typeface="DM Sans"/>
                <a:cs typeface="DM Sans"/>
                <a:sym typeface="DM Sans"/>
              </a:rPr>
              <a:t>: the fieldwork directly informed the dissertation on Hybrid Learning and Training Effectiveness.</a:t>
            </a:r>
          </a:p>
          <a:p>
            <a:pPr algn="just">
              <a:lnSpc>
                <a:spcPts val="3920"/>
              </a:lnSpc>
            </a:pPr>
          </a:p>
        </p:txBody>
      </p:sp>
      <p:sp>
        <p:nvSpPr>
          <p:cNvPr name="Freeform 7" id="7"/>
          <p:cNvSpPr/>
          <p:nvPr/>
        </p:nvSpPr>
        <p:spPr>
          <a:xfrm flipH="false" flipV="false" rot="0">
            <a:off x="13031174" y="7270421"/>
            <a:ext cx="5458016" cy="3234380"/>
          </a:xfrm>
          <a:custGeom>
            <a:avLst/>
            <a:gdLst/>
            <a:ahLst/>
            <a:cxnLst/>
            <a:rect r="r" b="b" t="t" l="l"/>
            <a:pathLst>
              <a:path h="3234380" w="5458016">
                <a:moveTo>
                  <a:pt x="0" y="0"/>
                </a:moveTo>
                <a:lnTo>
                  <a:pt x="5458016" y="0"/>
                </a:lnTo>
                <a:lnTo>
                  <a:pt x="5458016" y="3234379"/>
                </a:lnTo>
                <a:lnTo>
                  <a:pt x="0" y="3234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5579570" y="-717218"/>
            <a:ext cx="2708858" cy="3110380"/>
          </a:xfrm>
          <a:custGeom>
            <a:avLst/>
            <a:gdLst/>
            <a:ahLst/>
            <a:cxnLst/>
            <a:rect r="r" b="b" t="t" l="l"/>
            <a:pathLst>
              <a:path h="3110380" w="2708858">
                <a:moveTo>
                  <a:pt x="0" y="0"/>
                </a:moveTo>
                <a:lnTo>
                  <a:pt x="2708859" y="0"/>
                </a:lnTo>
                <a:lnTo>
                  <a:pt x="2708859" y="3110380"/>
                </a:lnTo>
                <a:lnTo>
                  <a:pt x="0" y="311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grpSp>
        <p:nvGrpSpPr>
          <p:cNvPr name="Group 12" id="12"/>
          <p:cNvGrpSpPr/>
          <p:nvPr/>
        </p:nvGrpSpPr>
        <p:grpSpPr>
          <a:xfrm rot="2162957">
            <a:off x="72736" y="-2984879"/>
            <a:ext cx="1543050" cy="6739091"/>
            <a:chOff x="0" y="0"/>
            <a:chExt cx="406400" cy="1774905"/>
          </a:xfrm>
        </p:grpSpPr>
        <p:sp>
          <p:nvSpPr>
            <p:cNvPr name="Freeform 13" id="13"/>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E61E26"/>
            </a:solidFill>
          </p:spPr>
        </p:sp>
        <p:sp>
          <p:nvSpPr>
            <p:cNvPr name="TextBox 14" id="14"/>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grpSp>
        <p:nvGrpSpPr>
          <p:cNvPr name="Group 15" id="15"/>
          <p:cNvGrpSpPr/>
          <p:nvPr/>
        </p:nvGrpSpPr>
        <p:grpSpPr>
          <a:xfrm rot="2162957">
            <a:off x="-438456" y="-3369546"/>
            <a:ext cx="1543050" cy="6739091"/>
            <a:chOff x="0" y="0"/>
            <a:chExt cx="406400" cy="1774905"/>
          </a:xfrm>
        </p:grpSpPr>
        <p:sp>
          <p:nvSpPr>
            <p:cNvPr name="Freeform 16" id="16"/>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00497E"/>
            </a:solidFill>
          </p:spPr>
        </p:sp>
        <p:sp>
          <p:nvSpPr>
            <p:cNvPr name="TextBox 17" id="17"/>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41412" y="2951702"/>
            <a:ext cx="9805176" cy="2139951"/>
          </a:xfrm>
          <a:prstGeom prst="rect">
            <a:avLst/>
          </a:prstGeom>
        </p:spPr>
        <p:txBody>
          <a:bodyPr anchor="t" rtlCol="false" tIns="0" lIns="0" bIns="0" rIns="0">
            <a:spAutoFit/>
          </a:bodyPr>
          <a:lstStyle/>
          <a:p>
            <a:pPr algn="ctr">
              <a:lnSpc>
                <a:spcPts val="17499"/>
              </a:lnSpc>
            </a:pPr>
            <a:r>
              <a:rPr lang="en-US" sz="12499" b="true">
                <a:solidFill>
                  <a:srgbClr val="042147"/>
                </a:solidFill>
                <a:latin typeface="Cormorant Garamond Bold"/>
                <a:ea typeface="Cormorant Garamond Bold"/>
                <a:cs typeface="Cormorant Garamond Bold"/>
                <a:sym typeface="Cormorant Garamond Bold"/>
              </a:rPr>
              <a:t>Thank You</a:t>
            </a:r>
          </a:p>
        </p:txBody>
      </p:sp>
      <p:sp>
        <p:nvSpPr>
          <p:cNvPr name="Freeform 3" id="3"/>
          <p:cNvSpPr/>
          <p:nvPr/>
        </p:nvSpPr>
        <p:spPr>
          <a:xfrm flipH="false" flipV="false" rot="-3918093">
            <a:off x="7207283" y="7457070"/>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9372" y="6989550"/>
            <a:ext cx="7183644" cy="3905290"/>
          </a:xfrm>
          <a:custGeom>
            <a:avLst/>
            <a:gdLst/>
            <a:ahLst/>
            <a:cxnLst/>
            <a:rect r="r" b="b" t="t" l="l"/>
            <a:pathLst>
              <a:path h="3905290" w="7183644">
                <a:moveTo>
                  <a:pt x="0" y="0"/>
                </a:moveTo>
                <a:lnTo>
                  <a:pt x="7183644" y="0"/>
                </a:lnTo>
                <a:lnTo>
                  <a:pt x="7183644"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304918" y="4761049"/>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1136304" y="3113782"/>
            <a:ext cx="10952735" cy="4162039"/>
          </a:xfrm>
          <a:custGeom>
            <a:avLst/>
            <a:gdLst/>
            <a:ahLst/>
            <a:cxnLst/>
            <a:rect r="r" b="b" t="t" l="l"/>
            <a:pathLst>
              <a:path h="4162039" w="10952735">
                <a:moveTo>
                  <a:pt x="0" y="0"/>
                </a:moveTo>
                <a:lnTo>
                  <a:pt x="10952735" y="0"/>
                </a:lnTo>
                <a:lnTo>
                  <a:pt x="10952735" y="4162039"/>
                </a:lnTo>
                <a:lnTo>
                  <a:pt x="0" y="41620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8" id="8"/>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9" id="9"/>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0" id="10"/>
          <p:cNvSpPr txBox="true"/>
          <p:nvPr/>
        </p:nvSpPr>
        <p:spPr>
          <a:xfrm rot="0">
            <a:off x="5794414" y="5029226"/>
            <a:ext cx="6699172" cy="1057274"/>
          </a:xfrm>
          <a:prstGeom prst="rect">
            <a:avLst/>
          </a:prstGeom>
        </p:spPr>
        <p:txBody>
          <a:bodyPr anchor="t" rtlCol="false" tIns="0" lIns="0" bIns="0" rIns="0">
            <a:spAutoFit/>
          </a:bodyPr>
          <a:lstStyle/>
          <a:p>
            <a:pPr algn="ctr">
              <a:lnSpc>
                <a:spcPts val="4200"/>
              </a:lnSpc>
            </a:pPr>
            <a:r>
              <a:rPr lang="en-US" sz="3000" i="true">
                <a:solidFill>
                  <a:srgbClr val="042147"/>
                </a:solidFill>
                <a:latin typeface="DM Sans Italics"/>
                <a:ea typeface="DM Sans Italics"/>
                <a:cs typeface="DM Sans Italics"/>
                <a:sym typeface="DM Sans Italics"/>
              </a:rPr>
              <a:t>Presented by Sreetama Ghosh Ray</a:t>
            </a:r>
          </a:p>
          <a:p>
            <a:pPr algn="ctr">
              <a:lnSpc>
                <a:spcPts val="42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822080">
            <a:off x="7449287" y="8094480"/>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933450"/>
            <a:ext cx="9805176" cy="1739900"/>
          </a:xfrm>
          <a:prstGeom prst="rect">
            <a:avLst/>
          </a:prstGeom>
        </p:spPr>
        <p:txBody>
          <a:bodyPr anchor="t" rtlCol="false" tIns="0" lIns="0" bIns="0" rIns="0">
            <a:spAutoFit/>
          </a:bodyPr>
          <a:lstStyle/>
          <a:p>
            <a:pPr algn="ctr">
              <a:lnSpc>
                <a:spcPts val="7000"/>
              </a:lnSpc>
            </a:pPr>
            <a:r>
              <a:rPr lang="en-US" sz="5000" b="true">
                <a:solidFill>
                  <a:srgbClr val="042147"/>
                </a:solidFill>
                <a:latin typeface="Cormorant Garamond Bold"/>
                <a:ea typeface="Cormorant Garamond Bold"/>
                <a:cs typeface="Cormorant Garamond Bold"/>
                <a:sym typeface="Cormorant Garamond Bold"/>
              </a:rPr>
              <a:t>Transfers, Discipline &amp; RABD</a:t>
            </a:r>
          </a:p>
          <a:p>
            <a:pPr algn="ctr">
              <a:lnSpc>
                <a:spcPts val="7000"/>
              </a:lnSpc>
            </a:pPr>
          </a:p>
        </p:txBody>
      </p:sp>
      <p:sp>
        <p:nvSpPr>
          <p:cNvPr name="Freeform 4" id="4"/>
          <p:cNvSpPr/>
          <p:nvPr/>
        </p:nvSpPr>
        <p:spPr>
          <a:xfrm flipH="false" flipV="false" rot="0">
            <a:off x="-492690" y="7305655"/>
            <a:ext cx="7183644" cy="3905290"/>
          </a:xfrm>
          <a:custGeom>
            <a:avLst/>
            <a:gdLst/>
            <a:ahLst/>
            <a:cxnLst/>
            <a:rect r="r" b="b" t="t" l="l"/>
            <a:pathLst>
              <a:path h="3905290" w="7183644">
                <a:moveTo>
                  <a:pt x="0" y="0"/>
                </a:moveTo>
                <a:lnTo>
                  <a:pt x="7183643" y="0"/>
                </a:lnTo>
                <a:lnTo>
                  <a:pt x="7183643"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811736" y="736129"/>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4501256" y="6578297"/>
            <a:ext cx="3268163" cy="4531344"/>
          </a:xfrm>
          <a:custGeom>
            <a:avLst/>
            <a:gdLst/>
            <a:ahLst/>
            <a:cxnLst/>
            <a:rect r="r" b="b" t="t" l="l"/>
            <a:pathLst>
              <a:path h="4531344" w="3268163">
                <a:moveTo>
                  <a:pt x="0" y="0"/>
                </a:moveTo>
                <a:lnTo>
                  <a:pt x="3268163" y="0"/>
                </a:lnTo>
                <a:lnTo>
                  <a:pt x="3268163" y="4531345"/>
                </a:lnTo>
                <a:lnTo>
                  <a:pt x="0" y="4531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282574">
            <a:off x="-5880789" y="63755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9" id="9"/>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2168770" y="3709306"/>
            <a:ext cx="4409232" cy="238950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inter-state transfers involve management, unions and the Head Office; intra-region transfers are handled directly by the RO</a:t>
            </a:r>
          </a:p>
          <a:p>
            <a:pPr algn="l">
              <a:lnSpc>
                <a:spcPts val="3220"/>
              </a:lnSpc>
            </a:pPr>
          </a:p>
        </p:txBody>
      </p:sp>
      <p:sp>
        <p:nvSpPr>
          <p:cNvPr name="TextBox 12" id="12"/>
          <p:cNvSpPr txBox="true"/>
          <p:nvPr/>
        </p:nvSpPr>
        <p:spPr>
          <a:xfrm rot="0">
            <a:off x="1353066" y="2976680"/>
            <a:ext cx="4013913" cy="1099820"/>
          </a:xfrm>
          <a:prstGeom prst="rect">
            <a:avLst/>
          </a:prstGeom>
        </p:spPr>
        <p:txBody>
          <a:bodyPr anchor="t" rtlCol="false" tIns="0" lIns="0" bIns="0" rIns="0">
            <a:spAutoFit/>
          </a:bodyPr>
          <a:lstStyle/>
          <a:p>
            <a:pPr algn="ctr">
              <a:lnSpc>
                <a:spcPts val="4480"/>
              </a:lnSpc>
            </a:pPr>
            <a:r>
              <a:rPr lang="en-US" sz="3200" b="true">
                <a:solidFill>
                  <a:srgbClr val="042147"/>
                </a:solidFill>
                <a:latin typeface="Cormorant Garamond Bold"/>
                <a:ea typeface="Cormorant Garamond Bold"/>
                <a:cs typeface="Cormorant Garamond Bold"/>
                <a:sym typeface="Cormorant Garamond Bold"/>
              </a:rPr>
              <a:t>Tr</a:t>
            </a:r>
            <a:r>
              <a:rPr lang="en-US" b="true" sz="3200">
                <a:solidFill>
                  <a:srgbClr val="042147"/>
                </a:solidFill>
                <a:latin typeface="Cormorant Garamond Bold"/>
                <a:ea typeface="Cormorant Garamond Bold"/>
                <a:cs typeface="Cormorant Garamond Bold"/>
                <a:sym typeface="Cormorant Garamond Bold"/>
              </a:rPr>
              <a:t>ansfer Policy</a:t>
            </a:r>
          </a:p>
          <a:p>
            <a:pPr algn="ctr">
              <a:lnSpc>
                <a:spcPts val="4480"/>
              </a:lnSpc>
            </a:pPr>
          </a:p>
        </p:txBody>
      </p:sp>
      <p:sp>
        <p:nvSpPr>
          <p:cNvPr name="TextBox 13" id="13"/>
          <p:cNvSpPr txBox="true"/>
          <p:nvPr/>
        </p:nvSpPr>
        <p:spPr>
          <a:xfrm rot="0">
            <a:off x="6690953" y="2976680"/>
            <a:ext cx="4013913" cy="1099820"/>
          </a:xfrm>
          <a:prstGeom prst="rect">
            <a:avLst/>
          </a:prstGeom>
        </p:spPr>
        <p:txBody>
          <a:bodyPr anchor="t" rtlCol="false" tIns="0" lIns="0" bIns="0" rIns="0">
            <a:spAutoFit/>
          </a:bodyPr>
          <a:lstStyle/>
          <a:p>
            <a:pPr algn="ctr">
              <a:lnSpc>
                <a:spcPts val="4479"/>
              </a:lnSpc>
            </a:pPr>
            <a:r>
              <a:rPr lang="en-US" sz="3199" b="true">
                <a:solidFill>
                  <a:srgbClr val="042147"/>
                </a:solidFill>
                <a:latin typeface="Cormorant Garamond Bold"/>
                <a:ea typeface="Cormorant Garamond Bold"/>
                <a:cs typeface="Cormorant Garamond Bold"/>
                <a:sym typeface="Cormorant Garamond Bold"/>
              </a:rPr>
              <a:t>Dis</a:t>
            </a:r>
            <a:r>
              <a:rPr lang="en-US" b="true" sz="3199">
                <a:solidFill>
                  <a:srgbClr val="042147"/>
                </a:solidFill>
                <a:latin typeface="Cormorant Garamond Bold"/>
                <a:ea typeface="Cormorant Garamond Bold"/>
                <a:cs typeface="Cormorant Garamond Bold"/>
                <a:sym typeface="Cormorant Garamond Bold"/>
              </a:rPr>
              <a:t>ciplinary Procedure</a:t>
            </a:r>
          </a:p>
          <a:p>
            <a:pPr algn="ctr">
              <a:lnSpc>
                <a:spcPts val="4479"/>
              </a:lnSpc>
            </a:pPr>
          </a:p>
        </p:txBody>
      </p:sp>
      <p:sp>
        <p:nvSpPr>
          <p:cNvPr name="TextBox 14" id="14"/>
          <p:cNvSpPr txBox="true"/>
          <p:nvPr/>
        </p:nvSpPr>
        <p:spPr>
          <a:xfrm rot="0">
            <a:off x="12024891" y="2976680"/>
            <a:ext cx="5451492" cy="1099820"/>
          </a:xfrm>
          <a:prstGeom prst="rect">
            <a:avLst/>
          </a:prstGeom>
        </p:spPr>
        <p:txBody>
          <a:bodyPr anchor="t" rtlCol="false" tIns="0" lIns="0" bIns="0" rIns="0">
            <a:spAutoFit/>
          </a:bodyPr>
          <a:lstStyle/>
          <a:p>
            <a:pPr algn="ctr">
              <a:lnSpc>
                <a:spcPts val="4479"/>
              </a:lnSpc>
            </a:pPr>
            <a:r>
              <a:rPr lang="en-US" sz="3199" b="true">
                <a:solidFill>
                  <a:srgbClr val="042147"/>
                </a:solidFill>
                <a:latin typeface="Cormorant Garamond Bold"/>
                <a:ea typeface="Cormorant Garamond Bold"/>
                <a:cs typeface="Cormorant Garamond Bold"/>
                <a:sym typeface="Cormorant Garamond Bold"/>
              </a:rPr>
              <a:t>RABD &amp; Priority Sector Lending</a:t>
            </a:r>
          </a:p>
          <a:p>
            <a:pPr algn="ctr">
              <a:lnSpc>
                <a:spcPts val="4479"/>
              </a:lnSpc>
            </a:pPr>
          </a:p>
        </p:txBody>
      </p:sp>
      <p:sp>
        <p:nvSpPr>
          <p:cNvPr name="TextBox 15" id="15"/>
          <p:cNvSpPr txBox="true"/>
          <p:nvPr/>
        </p:nvSpPr>
        <p:spPr>
          <a:xfrm rot="0">
            <a:off x="6939384" y="3709306"/>
            <a:ext cx="4409232" cy="19894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reporting of an issue, examination by the concerned authority, and a formal inquiry where necessary.</a:t>
            </a:r>
          </a:p>
          <a:p>
            <a:pPr algn="l">
              <a:lnSpc>
                <a:spcPts val="3220"/>
              </a:lnSpc>
            </a:pPr>
          </a:p>
        </p:txBody>
      </p:sp>
      <p:sp>
        <p:nvSpPr>
          <p:cNvPr name="TextBox 16" id="16"/>
          <p:cNvSpPr txBox="true"/>
          <p:nvPr/>
        </p:nvSpPr>
        <p:spPr>
          <a:xfrm rot="0">
            <a:off x="12024891" y="3709306"/>
            <a:ext cx="4409232" cy="27895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agricultural lending, rural development schemes, and mandatory credit to agriculture, MSMEs, education, housing and weaker sections — the bank's role in financial inclusion.</a:t>
            </a:r>
          </a:p>
          <a:p>
            <a:pPr algn="l">
              <a:lnSpc>
                <a:spcPts val="322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3447981" y="5059311"/>
            <a:ext cx="7928647" cy="8391547"/>
          </a:xfrm>
          <a:custGeom>
            <a:avLst/>
            <a:gdLst/>
            <a:ahLst/>
            <a:cxnLst/>
            <a:rect r="r" b="b" t="t" l="l"/>
            <a:pathLst>
              <a:path h="8391547" w="7928647">
                <a:moveTo>
                  <a:pt x="0" y="0"/>
                </a:moveTo>
                <a:lnTo>
                  <a:pt x="7928647" y="0"/>
                </a:lnTo>
                <a:lnTo>
                  <a:pt x="7928647" y="8391547"/>
                </a:lnTo>
                <a:lnTo>
                  <a:pt x="0" y="8391547"/>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2819770" y="-487885"/>
            <a:ext cx="6035013" cy="3280852"/>
          </a:xfrm>
          <a:custGeom>
            <a:avLst/>
            <a:gdLst/>
            <a:ahLst/>
            <a:cxnLst/>
            <a:rect r="r" b="b" t="t" l="l"/>
            <a:pathLst>
              <a:path h="3280852" w="6035013">
                <a:moveTo>
                  <a:pt x="0" y="0"/>
                </a:moveTo>
                <a:lnTo>
                  <a:pt x="6035013" y="0"/>
                </a:lnTo>
                <a:lnTo>
                  <a:pt x="6035013" y="3280852"/>
                </a:lnTo>
                <a:lnTo>
                  <a:pt x="0" y="3280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Company Overview</a:t>
            </a:r>
          </a:p>
        </p:txBody>
      </p:sp>
      <p:sp>
        <p:nvSpPr>
          <p:cNvPr name="Freeform 5" id="5"/>
          <p:cNvSpPr/>
          <p:nvPr/>
        </p:nvSpPr>
        <p:spPr>
          <a:xfrm flipH="false" flipV="false" rot="0">
            <a:off x="5302619" y="8944206"/>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342574">
            <a:off x="-5457186" y="158525"/>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54911" y="6044306"/>
            <a:ext cx="3158813" cy="4379730"/>
          </a:xfrm>
          <a:custGeom>
            <a:avLst/>
            <a:gdLst/>
            <a:ahLst/>
            <a:cxnLst/>
            <a:rect r="r" b="b" t="t" l="l"/>
            <a:pathLst>
              <a:path h="4379730" w="3158813">
                <a:moveTo>
                  <a:pt x="0" y="0"/>
                </a:moveTo>
                <a:lnTo>
                  <a:pt x="3158814" y="0"/>
                </a:lnTo>
                <a:lnTo>
                  <a:pt x="3158814" y="4379730"/>
                </a:lnTo>
                <a:lnTo>
                  <a:pt x="0" y="43797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9" id="9"/>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2676815" y="3709306"/>
            <a:ext cx="6342025" cy="398970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12" id="12"/>
          <p:cNvSpPr txBox="true"/>
          <p:nvPr/>
        </p:nvSpPr>
        <p:spPr>
          <a:xfrm rot="0">
            <a:off x="9495251" y="3709306"/>
            <a:ext cx="6342025" cy="398970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13" id="13"/>
          <p:cNvSpPr txBox="true"/>
          <p:nvPr/>
        </p:nvSpPr>
        <p:spPr>
          <a:xfrm rot="0">
            <a:off x="2895483" y="2976680"/>
            <a:ext cx="6261835" cy="504825"/>
          </a:xfrm>
          <a:prstGeom prst="rect">
            <a:avLst/>
          </a:prstGeom>
        </p:spPr>
        <p:txBody>
          <a:bodyPr anchor="t" rtlCol="false" tIns="0" lIns="0" bIns="0" rIns="0">
            <a:spAutoFit/>
          </a:bodyPr>
          <a:lstStyle/>
          <a:p>
            <a:pPr algn="ctr">
              <a:lnSpc>
                <a:spcPts val="4199"/>
              </a:lnSpc>
            </a:pPr>
            <a:r>
              <a:rPr lang="en-US" b="true" sz="2999">
                <a:solidFill>
                  <a:srgbClr val="042147"/>
                </a:solidFill>
                <a:latin typeface="Cormorant Garamond Bold"/>
                <a:ea typeface="Cormorant Garamond Bold"/>
                <a:cs typeface="Cormorant Garamond Bold"/>
                <a:sym typeface="Cormorant Garamond Bold"/>
              </a:rPr>
              <a:t>Background</a:t>
            </a:r>
          </a:p>
        </p:txBody>
      </p:sp>
      <p:sp>
        <p:nvSpPr>
          <p:cNvPr name="TextBox 14" id="14"/>
          <p:cNvSpPr txBox="true"/>
          <p:nvPr/>
        </p:nvSpPr>
        <p:spPr>
          <a:xfrm rot="0">
            <a:off x="9535346" y="2976680"/>
            <a:ext cx="6261835" cy="504825"/>
          </a:xfrm>
          <a:prstGeom prst="rect">
            <a:avLst/>
          </a:prstGeom>
        </p:spPr>
        <p:txBody>
          <a:bodyPr anchor="t" rtlCol="false" tIns="0" lIns="0" bIns="0" rIns="0">
            <a:spAutoFit/>
          </a:bodyPr>
          <a:lstStyle/>
          <a:p>
            <a:pPr algn="ctr">
              <a:lnSpc>
                <a:spcPts val="4199"/>
              </a:lnSpc>
            </a:pPr>
            <a:r>
              <a:rPr lang="en-US" b="true" sz="2999">
                <a:solidFill>
                  <a:srgbClr val="042147"/>
                </a:solidFill>
                <a:latin typeface="Cormorant Garamond Bold"/>
                <a:ea typeface="Cormorant Garamond Bold"/>
                <a:cs typeface="Cormorant Garamond Bold"/>
                <a:sym typeface="Cormorant Garamond Bold"/>
              </a:rPr>
              <a:t>Mission Statement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822080">
            <a:off x="7449287" y="8094480"/>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Market Analysis</a:t>
            </a:r>
          </a:p>
        </p:txBody>
      </p:sp>
      <p:sp>
        <p:nvSpPr>
          <p:cNvPr name="Freeform 4" id="4"/>
          <p:cNvSpPr/>
          <p:nvPr/>
        </p:nvSpPr>
        <p:spPr>
          <a:xfrm flipH="false" flipV="false" rot="0">
            <a:off x="-492690" y="7305655"/>
            <a:ext cx="7183644" cy="3905290"/>
          </a:xfrm>
          <a:custGeom>
            <a:avLst/>
            <a:gdLst/>
            <a:ahLst/>
            <a:cxnLst/>
            <a:rect r="r" b="b" t="t" l="l"/>
            <a:pathLst>
              <a:path h="3905290" w="7183644">
                <a:moveTo>
                  <a:pt x="0" y="0"/>
                </a:moveTo>
                <a:lnTo>
                  <a:pt x="7183643" y="0"/>
                </a:lnTo>
                <a:lnTo>
                  <a:pt x="7183643"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811736" y="736129"/>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4501256" y="6578297"/>
            <a:ext cx="3268163" cy="4531344"/>
          </a:xfrm>
          <a:custGeom>
            <a:avLst/>
            <a:gdLst/>
            <a:ahLst/>
            <a:cxnLst/>
            <a:rect r="r" b="b" t="t" l="l"/>
            <a:pathLst>
              <a:path h="4531344" w="3268163">
                <a:moveTo>
                  <a:pt x="0" y="0"/>
                </a:moveTo>
                <a:lnTo>
                  <a:pt x="3268163" y="0"/>
                </a:lnTo>
                <a:lnTo>
                  <a:pt x="3268163" y="4531345"/>
                </a:lnTo>
                <a:lnTo>
                  <a:pt x="0" y="4531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282574">
            <a:off x="-5880789" y="63755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9" id="9"/>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1" id="11"/>
          <p:cNvSpPr txBox="true"/>
          <p:nvPr/>
        </p:nvSpPr>
        <p:spPr>
          <a:xfrm rot="0">
            <a:off x="2168770" y="3709306"/>
            <a:ext cx="4409232" cy="43897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
        <p:nvSpPr>
          <p:cNvPr name="TextBox 12" id="12"/>
          <p:cNvSpPr txBox="true"/>
          <p:nvPr/>
        </p:nvSpPr>
        <p:spPr>
          <a:xfrm rot="0">
            <a:off x="2366430" y="2976680"/>
            <a:ext cx="4013913" cy="504825"/>
          </a:xfrm>
          <a:prstGeom prst="rect">
            <a:avLst/>
          </a:prstGeom>
        </p:spPr>
        <p:txBody>
          <a:bodyPr anchor="t" rtlCol="false" tIns="0" lIns="0" bIns="0" rIns="0">
            <a:spAutoFit/>
          </a:bodyPr>
          <a:lstStyle/>
          <a:p>
            <a:pPr algn="ctr">
              <a:lnSpc>
                <a:spcPts val="4199"/>
              </a:lnSpc>
            </a:pPr>
            <a:r>
              <a:rPr lang="en-US" b="true" sz="2999">
                <a:solidFill>
                  <a:srgbClr val="042147"/>
                </a:solidFill>
                <a:latin typeface="Cormorant Garamond Bold"/>
                <a:ea typeface="Cormorant Garamond Bold"/>
                <a:cs typeface="Cormorant Garamond Bold"/>
                <a:sym typeface="Cormorant Garamond Bold"/>
              </a:rPr>
              <a:t>Background</a:t>
            </a:r>
          </a:p>
        </p:txBody>
      </p:sp>
      <p:sp>
        <p:nvSpPr>
          <p:cNvPr name="TextBox 13" id="13"/>
          <p:cNvSpPr txBox="true"/>
          <p:nvPr/>
        </p:nvSpPr>
        <p:spPr>
          <a:xfrm rot="0">
            <a:off x="7251971" y="2976680"/>
            <a:ext cx="4013913" cy="504825"/>
          </a:xfrm>
          <a:prstGeom prst="rect">
            <a:avLst/>
          </a:prstGeom>
        </p:spPr>
        <p:txBody>
          <a:bodyPr anchor="t" rtlCol="false" tIns="0" lIns="0" bIns="0" rIns="0">
            <a:spAutoFit/>
          </a:bodyPr>
          <a:lstStyle/>
          <a:p>
            <a:pPr algn="ctr">
              <a:lnSpc>
                <a:spcPts val="4199"/>
              </a:lnSpc>
            </a:pPr>
            <a:r>
              <a:rPr lang="en-US" b="true" sz="2999">
                <a:solidFill>
                  <a:srgbClr val="042147"/>
                </a:solidFill>
                <a:latin typeface="Cormorant Garamond Bold"/>
                <a:ea typeface="Cormorant Garamond Bold"/>
                <a:cs typeface="Cormorant Garamond Bold"/>
                <a:sym typeface="Cormorant Garamond Bold"/>
              </a:rPr>
              <a:t>Overview</a:t>
            </a:r>
          </a:p>
        </p:txBody>
      </p:sp>
      <p:sp>
        <p:nvSpPr>
          <p:cNvPr name="TextBox 14" id="14"/>
          <p:cNvSpPr txBox="true"/>
          <p:nvPr/>
        </p:nvSpPr>
        <p:spPr>
          <a:xfrm rot="0">
            <a:off x="12137512" y="2976680"/>
            <a:ext cx="4013913" cy="504825"/>
          </a:xfrm>
          <a:prstGeom prst="rect">
            <a:avLst/>
          </a:prstGeom>
        </p:spPr>
        <p:txBody>
          <a:bodyPr anchor="t" rtlCol="false" tIns="0" lIns="0" bIns="0" rIns="0">
            <a:spAutoFit/>
          </a:bodyPr>
          <a:lstStyle/>
          <a:p>
            <a:pPr algn="ctr">
              <a:lnSpc>
                <a:spcPts val="4199"/>
              </a:lnSpc>
            </a:pPr>
            <a:r>
              <a:rPr lang="en-US" sz="2999" b="true">
                <a:solidFill>
                  <a:srgbClr val="042147"/>
                </a:solidFill>
                <a:latin typeface="Cormorant Garamond Bold"/>
                <a:ea typeface="Cormorant Garamond Bold"/>
                <a:cs typeface="Cormorant Garamond Bold"/>
                <a:sym typeface="Cormorant Garamond Bold"/>
              </a:rPr>
              <a:t>Insights</a:t>
            </a:r>
          </a:p>
        </p:txBody>
      </p:sp>
      <p:sp>
        <p:nvSpPr>
          <p:cNvPr name="TextBox 15" id="15"/>
          <p:cNvSpPr txBox="true"/>
          <p:nvPr/>
        </p:nvSpPr>
        <p:spPr>
          <a:xfrm rot="0">
            <a:off x="6939384" y="3709306"/>
            <a:ext cx="4409232" cy="43897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
        <p:nvSpPr>
          <p:cNvPr name="TextBox 16" id="16"/>
          <p:cNvSpPr txBox="true"/>
          <p:nvPr/>
        </p:nvSpPr>
        <p:spPr>
          <a:xfrm rot="0">
            <a:off x="11939852" y="3709306"/>
            <a:ext cx="4409232" cy="43897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51738">
            <a:off x="-474655" y="6127027"/>
            <a:ext cx="19237310" cy="7310178"/>
          </a:xfrm>
          <a:custGeom>
            <a:avLst/>
            <a:gdLst/>
            <a:ahLst/>
            <a:cxnLst/>
            <a:rect r="r" b="b" t="t" l="l"/>
            <a:pathLst>
              <a:path h="7310178" w="19237310">
                <a:moveTo>
                  <a:pt x="0" y="0"/>
                </a:moveTo>
                <a:lnTo>
                  <a:pt x="19237310" y="0"/>
                </a:lnTo>
                <a:lnTo>
                  <a:pt x="19237310" y="7310177"/>
                </a:lnTo>
                <a:lnTo>
                  <a:pt x="0" y="731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918093">
            <a:off x="12198120" y="-2779055"/>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Proposed Solution</a:t>
            </a:r>
          </a:p>
        </p:txBody>
      </p:sp>
      <p:sp>
        <p:nvSpPr>
          <p:cNvPr name="Freeform 5" id="5"/>
          <p:cNvSpPr/>
          <p:nvPr/>
        </p:nvSpPr>
        <p:spPr>
          <a:xfrm flipH="false" flipV="false" rot="-5400000">
            <a:off x="16535518" y="3806048"/>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282574">
            <a:off x="-5134247" y="-2342996"/>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8">
              <a:extLst>
                <a:ext uri="{96DAC541-7B7A-43D3-8B79-37D633B846F1}">
                  <asvg:svgBlip xmlns:asvg="http://schemas.microsoft.com/office/drawing/2016/SVG/main" r:embed="rId9"/>
                </a:ext>
              </a:extLst>
            </a:blip>
            <a:stretch>
              <a:fillRect l="0" t="0" r="-21157" b="-4158"/>
            </a:stretch>
          </a:blipFill>
        </p:spPr>
      </p:sp>
      <p:sp>
        <p:nvSpPr>
          <p:cNvPr name="TextBox 8" id="8"/>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9" id="9"/>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8">
              <a:extLst>
                <a:ext uri="{96DAC541-7B7A-43D3-8B79-37D633B846F1}">
                  <asvg:svgBlip xmlns:asvg="http://schemas.microsoft.com/office/drawing/2016/SVG/main" r:embed="rId9"/>
                </a:ext>
              </a:extLst>
            </a:blip>
            <a:stretch>
              <a:fillRect l="0" t="-2099" r="-10598" b="-1584"/>
            </a:stretch>
          </a:blipFill>
        </p:spPr>
      </p:sp>
      <p:sp>
        <p:nvSpPr>
          <p:cNvPr name="TextBox 10" id="10"/>
          <p:cNvSpPr txBox="true"/>
          <p:nvPr/>
        </p:nvSpPr>
        <p:spPr>
          <a:xfrm rot="0">
            <a:off x="2676815" y="2986205"/>
            <a:ext cx="5465474" cy="51898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11" id="11"/>
          <p:cNvSpPr txBox="true"/>
          <p:nvPr/>
        </p:nvSpPr>
        <p:spPr>
          <a:xfrm rot="0">
            <a:off x="8667039" y="2976680"/>
            <a:ext cx="4013913" cy="504825"/>
          </a:xfrm>
          <a:prstGeom prst="rect">
            <a:avLst/>
          </a:prstGeom>
        </p:spPr>
        <p:txBody>
          <a:bodyPr anchor="t" rtlCol="false" tIns="0" lIns="0" bIns="0" rIns="0">
            <a:spAutoFit/>
          </a:bodyPr>
          <a:lstStyle/>
          <a:p>
            <a:pPr algn="l">
              <a:lnSpc>
                <a:spcPts val="4199"/>
              </a:lnSpc>
            </a:pPr>
            <a:r>
              <a:rPr lang="en-US" sz="2999" b="true">
                <a:solidFill>
                  <a:srgbClr val="042147"/>
                </a:solidFill>
                <a:latin typeface="Cormorant Garamond Bold"/>
                <a:ea typeface="Cormorant Garamond Bold"/>
                <a:cs typeface="Cormorant Garamond Bold"/>
                <a:sym typeface="Cormorant Garamond Bold"/>
              </a:rPr>
              <a:t>Problem Statement</a:t>
            </a:r>
          </a:p>
        </p:txBody>
      </p:sp>
      <p:sp>
        <p:nvSpPr>
          <p:cNvPr name="TextBox 12" id="12"/>
          <p:cNvSpPr txBox="true"/>
          <p:nvPr/>
        </p:nvSpPr>
        <p:spPr>
          <a:xfrm rot="0">
            <a:off x="8667039" y="3708874"/>
            <a:ext cx="7665568"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a:t>
            </a:r>
          </a:p>
        </p:txBody>
      </p:sp>
      <p:sp>
        <p:nvSpPr>
          <p:cNvPr name="TextBox 13" id="13"/>
          <p:cNvSpPr txBox="true"/>
          <p:nvPr/>
        </p:nvSpPr>
        <p:spPr>
          <a:xfrm rot="0">
            <a:off x="8667039" y="5420199"/>
            <a:ext cx="4013913" cy="504825"/>
          </a:xfrm>
          <a:prstGeom prst="rect">
            <a:avLst/>
          </a:prstGeom>
        </p:spPr>
        <p:txBody>
          <a:bodyPr anchor="t" rtlCol="false" tIns="0" lIns="0" bIns="0" rIns="0">
            <a:spAutoFit/>
          </a:bodyPr>
          <a:lstStyle/>
          <a:p>
            <a:pPr algn="l">
              <a:lnSpc>
                <a:spcPts val="4199"/>
              </a:lnSpc>
            </a:pPr>
            <a:r>
              <a:rPr lang="en-US" sz="2999" b="true">
                <a:solidFill>
                  <a:srgbClr val="042147"/>
                </a:solidFill>
                <a:latin typeface="Cormorant Garamond Bold"/>
                <a:ea typeface="Cormorant Garamond Bold"/>
                <a:cs typeface="Cormorant Garamond Bold"/>
                <a:sym typeface="Cormorant Garamond Bold"/>
              </a:rPr>
              <a:t>Our Solution</a:t>
            </a:r>
          </a:p>
        </p:txBody>
      </p:sp>
      <p:sp>
        <p:nvSpPr>
          <p:cNvPr name="TextBox 14" id="14"/>
          <p:cNvSpPr txBox="true"/>
          <p:nvPr/>
        </p:nvSpPr>
        <p:spPr>
          <a:xfrm rot="0">
            <a:off x="8667039" y="6152394"/>
            <a:ext cx="7665568"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5647">
            <a:off x="13860940" y="3504858"/>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055885" y="4821395"/>
            <a:ext cx="2491219" cy="249121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97E"/>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100"/>
                </a:lnSpc>
              </a:pPr>
            </a:p>
          </p:txBody>
        </p:sp>
      </p:grpSp>
      <p:sp>
        <p:nvSpPr>
          <p:cNvPr name="Freeform 6" id="6"/>
          <p:cNvSpPr/>
          <p:nvPr/>
        </p:nvSpPr>
        <p:spPr>
          <a:xfrm flipH="false" flipV="false" rot="-10800000">
            <a:off x="-205776" y="-176861"/>
            <a:ext cx="2378312" cy="3497517"/>
          </a:xfrm>
          <a:custGeom>
            <a:avLst/>
            <a:gdLst/>
            <a:ahLst/>
            <a:cxnLst/>
            <a:rect r="r" b="b" t="t" l="l"/>
            <a:pathLst>
              <a:path h="3497517" w="2378312">
                <a:moveTo>
                  <a:pt x="0" y="0"/>
                </a:moveTo>
                <a:lnTo>
                  <a:pt x="2378312" y="0"/>
                </a:lnTo>
                <a:lnTo>
                  <a:pt x="2378312" y="3497517"/>
                </a:lnTo>
                <a:lnTo>
                  <a:pt x="0" y="34975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359304" y="8944206"/>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0051" y="6336638"/>
            <a:ext cx="4045669" cy="4645340"/>
          </a:xfrm>
          <a:custGeom>
            <a:avLst/>
            <a:gdLst/>
            <a:ahLst/>
            <a:cxnLst/>
            <a:rect r="r" b="b" t="t" l="l"/>
            <a:pathLst>
              <a:path h="4645340" w="4045669">
                <a:moveTo>
                  <a:pt x="0" y="0"/>
                </a:moveTo>
                <a:lnTo>
                  <a:pt x="4045669" y="0"/>
                </a:lnTo>
                <a:lnTo>
                  <a:pt x="4045669" y="4645340"/>
                </a:lnTo>
                <a:lnTo>
                  <a:pt x="0" y="46453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3121238">
            <a:off x="477653" y="6714946"/>
            <a:ext cx="1543050" cy="6739091"/>
            <a:chOff x="0" y="0"/>
            <a:chExt cx="406400" cy="1774905"/>
          </a:xfrm>
        </p:grpSpPr>
        <p:sp>
          <p:nvSpPr>
            <p:cNvPr name="Freeform 10" id="10"/>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C5E0EF"/>
            </a:solidFill>
          </p:spPr>
        </p:sp>
        <p:sp>
          <p:nvSpPr>
            <p:cNvPr name="TextBox 11" id="11"/>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
        <p:nvSpPr>
          <p:cNvPr name="Freeform 12" id="12"/>
          <p:cNvSpPr/>
          <p:nvPr/>
        </p:nvSpPr>
        <p:spPr>
          <a:xfrm flipH="false" flipV="true" rot="5400000">
            <a:off x="15092905" y="-738114"/>
            <a:ext cx="2904200" cy="4026705"/>
          </a:xfrm>
          <a:custGeom>
            <a:avLst/>
            <a:gdLst/>
            <a:ahLst/>
            <a:cxnLst/>
            <a:rect r="r" b="b" t="t" l="l"/>
            <a:pathLst>
              <a:path h="4026705" w="2904200">
                <a:moveTo>
                  <a:pt x="0" y="4026705"/>
                </a:moveTo>
                <a:lnTo>
                  <a:pt x="2904199" y="4026705"/>
                </a:lnTo>
                <a:lnTo>
                  <a:pt x="2904199" y="0"/>
                </a:lnTo>
                <a:lnTo>
                  <a:pt x="0" y="0"/>
                </a:lnTo>
                <a:lnTo>
                  <a:pt x="0" y="4026705"/>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2">
              <a:extLst>
                <a:ext uri="{96DAC541-7B7A-43D3-8B79-37D633B846F1}">
                  <asvg:svgBlip xmlns:asvg="http://schemas.microsoft.com/office/drawing/2016/SVG/main" r:embed="rId13"/>
                </a:ext>
              </a:extLst>
            </a:blip>
            <a:stretch>
              <a:fillRect l="0" t="0" r="-21157" b="-4158"/>
            </a:stretch>
          </a:blipFill>
        </p:spPr>
      </p:sp>
      <p:sp>
        <p:nvSpPr>
          <p:cNvPr name="TextBox 14" id="14"/>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5" id="15"/>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2">
              <a:extLst>
                <a:ext uri="{96DAC541-7B7A-43D3-8B79-37D633B846F1}">
                  <asvg:svgBlip xmlns:asvg="http://schemas.microsoft.com/office/drawing/2016/SVG/main" r:embed="rId13"/>
                </a:ext>
              </a:extLst>
            </a:blip>
            <a:stretch>
              <a:fillRect l="0" t="-2099" r="-10598" b="-1584"/>
            </a:stretch>
          </a:blipFill>
        </p:spPr>
      </p:sp>
      <p:grpSp>
        <p:nvGrpSpPr>
          <p:cNvPr name="Group 16" id="16"/>
          <p:cNvGrpSpPr/>
          <p:nvPr/>
        </p:nvGrpSpPr>
        <p:grpSpPr>
          <a:xfrm rot="0">
            <a:off x="2740897" y="4821395"/>
            <a:ext cx="2491219" cy="249121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97E"/>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100"/>
                </a:lnSpc>
              </a:pPr>
            </a:p>
          </p:txBody>
        </p:sp>
      </p:grpSp>
      <p:grpSp>
        <p:nvGrpSpPr>
          <p:cNvPr name="Group 19" id="19"/>
          <p:cNvGrpSpPr/>
          <p:nvPr/>
        </p:nvGrpSpPr>
        <p:grpSpPr>
          <a:xfrm rot="0">
            <a:off x="6235122" y="4821395"/>
            <a:ext cx="2491219" cy="249121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97E"/>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100"/>
                </a:lnSpc>
              </a:pPr>
            </a:p>
          </p:txBody>
        </p:sp>
      </p:grpSp>
      <p:sp>
        <p:nvSpPr>
          <p:cNvPr name="Freeform 22" id="22"/>
          <p:cNvSpPr/>
          <p:nvPr/>
        </p:nvSpPr>
        <p:spPr>
          <a:xfrm flipH="false" flipV="false" rot="0">
            <a:off x="13574808" y="5167157"/>
            <a:ext cx="1533368" cy="1870950"/>
          </a:xfrm>
          <a:custGeom>
            <a:avLst/>
            <a:gdLst/>
            <a:ahLst/>
            <a:cxnLst/>
            <a:rect r="r" b="b" t="t" l="l"/>
            <a:pathLst>
              <a:path h="1870950" w="1533368">
                <a:moveTo>
                  <a:pt x="0" y="0"/>
                </a:moveTo>
                <a:lnTo>
                  <a:pt x="1533368" y="0"/>
                </a:lnTo>
                <a:lnTo>
                  <a:pt x="1533368" y="1870950"/>
                </a:lnTo>
                <a:lnTo>
                  <a:pt x="0" y="187095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0">
            <a:off x="6650865" y="5266686"/>
            <a:ext cx="1659734" cy="1671893"/>
          </a:xfrm>
          <a:custGeom>
            <a:avLst/>
            <a:gdLst/>
            <a:ahLst/>
            <a:cxnLst/>
            <a:rect r="r" b="b" t="t" l="l"/>
            <a:pathLst>
              <a:path h="1671893" w="1659734">
                <a:moveTo>
                  <a:pt x="0" y="0"/>
                </a:moveTo>
                <a:lnTo>
                  <a:pt x="1659734" y="0"/>
                </a:lnTo>
                <a:lnTo>
                  <a:pt x="1659734" y="1671893"/>
                </a:lnTo>
                <a:lnTo>
                  <a:pt x="0" y="167189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4" id="24"/>
          <p:cNvGrpSpPr/>
          <p:nvPr/>
        </p:nvGrpSpPr>
        <p:grpSpPr>
          <a:xfrm rot="0">
            <a:off x="9786291" y="4821395"/>
            <a:ext cx="2491219" cy="249121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97E"/>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100"/>
                </a:lnSpc>
              </a:pPr>
            </a:p>
          </p:txBody>
        </p:sp>
      </p:grpSp>
      <p:sp>
        <p:nvSpPr>
          <p:cNvPr name="Freeform 27" id="27"/>
          <p:cNvSpPr/>
          <p:nvPr/>
        </p:nvSpPr>
        <p:spPr>
          <a:xfrm flipH="false" flipV="false" rot="0">
            <a:off x="10268776" y="5167157"/>
            <a:ext cx="1628621" cy="1680566"/>
          </a:xfrm>
          <a:custGeom>
            <a:avLst/>
            <a:gdLst/>
            <a:ahLst/>
            <a:cxnLst/>
            <a:rect r="r" b="b" t="t" l="l"/>
            <a:pathLst>
              <a:path h="1680566" w="1628621">
                <a:moveTo>
                  <a:pt x="0" y="0"/>
                </a:moveTo>
                <a:lnTo>
                  <a:pt x="1628621" y="0"/>
                </a:lnTo>
                <a:lnTo>
                  <a:pt x="1628621" y="1680566"/>
                </a:lnTo>
                <a:lnTo>
                  <a:pt x="0" y="168056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8" id="28"/>
          <p:cNvSpPr/>
          <p:nvPr/>
        </p:nvSpPr>
        <p:spPr>
          <a:xfrm flipH="false" flipV="false" rot="0">
            <a:off x="3131855" y="5216290"/>
            <a:ext cx="1709302" cy="1701427"/>
          </a:xfrm>
          <a:custGeom>
            <a:avLst/>
            <a:gdLst/>
            <a:ahLst/>
            <a:cxnLst/>
            <a:rect r="r" b="b" t="t" l="l"/>
            <a:pathLst>
              <a:path h="1701427" w="1709302">
                <a:moveTo>
                  <a:pt x="0" y="0"/>
                </a:moveTo>
                <a:lnTo>
                  <a:pt x="1709302" y="0"/>
                </a:lnTo>
                <a:lnTo>
                  <a:pt x="1709302" y="1701427"/>
                </a:lnTo>
                <a:lnTo>
                  <a:pt x="0" y="170142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29" id="29"/>
          <p:cNvSpPr txBox="true"/>
          <p:nvPr/>
        </p:nvSpPr>
        <p:spPr>
          <a:xfrm rot="0">
            <a:off x="3369555" y="866775"/>
            <a:ext cx="11548891"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Implementation Plan</a:t>
            </a:r>
          </a:p>
        </p:txBody>
      </p:sp>
      <p:sp>
        <p:nvSpPr>
          <p:cNvPr name="TextBox 30" id="30"/>
          <p:cNvSpPr txBox="true"/>
          <p:nvPr/>
        </p:nvSpPr>
        <p:spPr>
          <a:xfrm rot="0">
            <a:off x="2676815" y="3010261"/>
            <a:ext cx="14457325"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a:t>
            </a:r>
          </a:p>
        </p:txBody>
      </p:sp>
      <p:sp>
        <p:nvSpPr>
          <p:cNvPr name="TextBox 31" id="31"/>
          <p:cNvSpPr txBox="true"/>
          <p:nvPr/>
        </p:nvSpPr>
        <p:spPr>
          <a:xfrm rot="0">
            <a:off x="2379926" y="7723361"/>
            <a:ext cx="3097426" cy="3892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Development</a:t>
            </a:r>
          </a:p>
        </p:txBody>
      </p:sp>
      <p:sp>
        <p:nvSpPr>
          <p:cNvPr name="TextBox 32" id="32"/>
          <p:cNvSpPr txBox="true"/>
          <p:nvPr/>
        </p:nvSpPr>
        <p:spPr>
          <a:xfrm rot="0">
            <a:off x="9728423" y="7723361"/>
            <a:ext cx="2337266" cy="3892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Launch Phase</a:t>
            </a:r>
          </a:p>
        </p:txBody>
      </p:sp>
      <p:sp>
        <p:nvSpPr>
          <p:cNvPr name="TextBox 33" id="33"/>
          <p:cNvSpPr txBox="true"/>
          <p:nvPr/>
        </p:nvSpPr>
        <p:spPr>
          <a:xfrm rot="0">
            <a:off x="5863707" y="7723361"/>
            <a:ext cx="3118316" cy="3892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Testing</a:t>
            </a:r>
          </a:p>
        </p:txBody>
      </p:sp>
      <p:sp>
        <p:nvSpPr>
          <p:cNvPr name="TextBox 34" id="34"/>
          <p:cNvSpPr txBox="true"/>
          <p:nvPr/>
        </p:nvSpPr>
        <p:spPr>
          <a:xfrm rot="0">
            <a:off x="12579179" y="7716027"/>
            <a:ext cx="3328895" cy="38925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Full Deployment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3261552" y="-2571595"/>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Benefits</a:t>
            </a:r>
          </a:p>
        </p:txBody>
      </p:sp>
      <p:sp>
        <p:nvSpPr>
          <p:cNvPr name="Freeform 4" id="4"/>
          <p:cNvSpPr/>
          <p:nvPr/>
        </p:nvSpPr>
        <p:spPr>
          <a:xfrm flipH="true" flipV="false" rot="0">
            <a:off x="11104356" y="7533948"/>
            <a:ext cx="7183644" cy="3905290"/>
          </a:xfrm>
          <a:custGeom>
            <a:avLst/>
            <a:gdLst/>
            <a:ahLst/>
            <a:cxnLst/>
            <a:rect r="r" b="b" t="t" l="l"/>
            <a:pathLst>
              <a:path h="3905290" w="7183644">
                <a:moveTo>
                  <a:pt x="7183644" y="0"/>
                </a:moveTo>
                <a:lnTo>
                  <a:pt x="0" y="0"/>
                </a:lnTo>
                <a:lnTo>
                  <a:pt x="0" y="3905290"/>
                </a:lnTo>
                <a:lnTo>
                  <a:pt x="7183644" y="3905290"/>
                </a:lnTo>
                <a:lnTo>
                  <a:pt x="718364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535518" y="5781697"/>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194190">
            <a:off x="-5221492" y="123017"/>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8">
              <a:extLst>
                <a:ext uri="{96DAC541-7B7A-43D3-8B79-37D633B846F1}">
                  <asvg:svgBlip xmlns:asvg="http://schemas.microsoft.com/office/drawing/2016/SVG/main" r:embed="rId9"/>
                </a:ext>
              </a:extLst>
            </a:blip>
            <a:stretch>
              <a:fillRect l="0" t="0" r="-21157" b="-4158"/>
            </a:stretch>
          </a:blipFill>
        </p:spPr>
      </p:sp>
      <p:sp>
        <p:nvSpPr>
          <p:cNvPr name="TextBox 8" id="8"/>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9" id="9"/>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8">
              <a:extLst>
                <a:ext uri="{96DAC541-7B7A-43D3-8B79-37D633B846F1}">
                  <asvg:svgBlip xmlns:asvg="http://schemas.microsoft.com/office/drawing/2016/SVG/main" r:embed="rId9"/>
                </a:ext>
              </a:extLst>
            </a:blip>
            <a:stretch>
              <a:fillRect l="0" t="-2099" r="-10598" b="-1584"/>
            </a:stretch>
          </a:blipFill>
        </p:spPr>
      </p:sp>
      <p:sp>
        <p:nvSpPr>
          <p:cNvPr name="Freeform 10" id="10"/>
          <p:cNvSpPr/>
          <p:nvPr/>
        </p:nvSpPr>
        <p:spPr>
          <a:xfrm flipH="false" flipV="false" rot="0">
            <a:off x="-228600" y="7533948"/>
            <a:ext cx="7183644" cy="3905290"/>
          </a:xfrm>
          <a:custGeom>
            <a:avLst/>
            <a:gdLst/>
            <a:ahLst/>
            <a:cxnLst/>
            <a:rect r="r" b="b" t="t" l="l"/>
            <a:pathLst>
              <a:path h="3905290" w="7183644">
                <a:moveTo>
                  <a:pt x="0" y="0"/>
                </a:moveTo>
                <a:lnTo>
                  <a:pt x="7183644" y="0"/>
                </a:lnTo>
                <a:lnTo>
                  <a:pt x="7183644" y="3905290"/>
                </a:lnTo>
                <a:lnTo>
                  <a:pt x="0" y="39052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2676815" y="2986205"/>
            <a:ext cx="13447675"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a:t>
            </a:r>
          </a:p>
        </p:txBody>
      </p:sp>
      <p:sp>
        <p:nvSpPr>
          <p:cNvPr name="TextBox 12" id="12"/>
          <p:cNvSpPr txBox="true"/>
          <p:nvPr/>
        </p:nvSpPr>
        <p:spPr>
          <a:xfrm rot="0">
            <a:off x="2676815" y="4374989"/>
            <a:ext cx="13447675"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a:t>
            </a:r>
          </a:p>
        </p:txBody>
      </p:sp>
      <p:sp>
        <p:nvSpPr>
          <p:cNvPr name="TextBox 13" id="13"/>
          <p:cNvSpPr txBox="true"/>
          <p:nvPr/>
        </p:nvSpPr>
        <p:spPr>
          <a:xfrm rot="0">
            <a:off x="2676815" y="5762464"/>
            <a:ext cx="13447675"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a:t>
            </a:r>
          </a:p>
        </p:txBody>
      </p:sp>
      <p:sp>
        <p:nvSpPr>
          <p:cNvPr name="TextBox 14" id="14"/>
          <p:cNvSpPr txBox="true"/>
          <p:nvPr/>
        </p:nvSpPr>
        <p:spPr>
          <a:xfrm rot="0">
            <a:off x="2676815" y="7151247"/>
            <a:ext cx="13447675"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4718194" y="218964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Impact</a:t>
            </a:r>
          </a:p>
        </p:txBody>
      </p:sp>
      <p:sp>
        <p:nvSpPr>
          <p:cNvPr name="Freeform 4" id="4"/>
          <p:cNvSpPr/>
          <p:nvPr/>
        </p:nvSpPr>
        <p:spPr>
          <a:xfrm flipH="false" flipV="false" rot="-5400000">
            <a:off x="14161100" y="-1059901"/>
            <a:ext cx="3433539" cy="5049322"/>
          </a:xfrm>
          <a:custGeom>
            <a:avLst/>
            <a:gdLst/>
            <a:ahLst/>
            <a:cxnLst/>
            <a:rect r="r" b="b" t="t" l="l"/>
            <a:pathLst>
              <a:path h="5049322" w="3433539">
                <a:moveTo>
                  <a:pt x="0" y="0"/>
                </a:moveTo>
                <a:lnTo>
                  <a:pt x="3433538" y="0"/>
                </a:lnTo>
                <a:lnTo>
                  <a:pt x="3433538" y="5049321"/>
                </a:lnTo>
                <a:lnTo>
                  <a:pt x="0" y="50493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134123" y="8944206"/>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282574">
            <a:off x="-4584740" y="1698782"/>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2803" y="5351007"/>
            <a:ext cx="3559625" cy="5234743"/>
          </a:xfrm>
          <a:custGeom>
            <a:avLst/>
            <a:gdLst/>
            <a:ahLst/>
            <a:cxnLst/>
            <a:rect r="r" b="b" t="t" l="l"/>
            <a:pathLst>
              <a:path h="5234743" w="3559625">
                <a:moveTo>
                  <a:pt x="3559626" y="0"/>
                </a:moveTo>
                <a:lnTo>
                  <a:pt x="0" y="0"/>
                </a:lnTo>
                <a:lnTo>
                  <a:pt x="0" y="5234744"/>
                </a:lnTo>
                <a:lnTo>
                  <a:pt x="3559626" y="5234744"/>
                </a:lnTo>
                <a:lnTo>
                  <a:pt x="355962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8">
              <a:extLst>
                <a:ext uri="{96DAC541-7B7A-43D3-8B79-37D633B846F1}">
                  <asvg:svgBlip xmlns:asvg="http://schemas.microsoft.com/office/drawing/2016/SVG/main" r:embed="rId9"/>
                </a:ext>
              </a:extLst>
            </a:blip>
            <a:stretch>
              <a:fillRect l="0" t="0" r="-21157" b="-4158"/>
            </a:stretch>
          </a:blipFill>
        </p:spPr>
      </p:sp>
      <p:sp>
        <p:nvSpPr>
          <p:cNvPr name="TextBox 9" id="9"/>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0" id="10"/>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8">
              <a:extLst>
                <a:ext uri="{96DAC541-7B7A-43D3-8B79-37D633B846F1}">
                  <asvg:svgBlip xmlns:asvg="http://schemas.microsoft.com/office/drawing/2016/SVG/main" r:embed="rId9"/>
                </a:ext>
              </a:extLst>
            </a:blip>
            <a:stretch>
              <a:fillRect l="0" t="-2099" r="-10598" b="-1584"/>
            </a:stretch>
          </a:blipFill>
        </p:spPr>
      </p:sp>
      <p:sp>
        <p:nvSpPr>
          <p:cNvPr name="TextBox 11" id="11"/>
          <p:cNvSpPr txBox="true"/>
          <p:nvPr/>
        </p:nvSpPr>
        <p:spPr>
          <a:xfrm rot="0">
            <a:off x="2895483" y="2976680"/>
            <a:ext cx="6261835" cy="504825"/>
          </a:xfrm>
          <a:prstGeom prst="rect">
            <a:avLst/>
          </a:prstGeom>
        </p:spPr>
        <p:txBody>
          <a:bodyPr anchor="t" rtlCol="false" tIns="0" lIns="0" bIns="0" rIns="0">
            <a:spAutoFit/>
          </a:bodyPr>
          <a:lstStyle/>
          <a:p>
            <a:pPr algn="ctr">
              <a:lnSpc>
                <a:spcPts val="4199"/>
              </a:lnSpc>
            </a:pPr>
            <a:r>
              <a:rPr lang="en-US" sz="2999" b="true">
                <a:solidFill>
                  <a:srgbClr val="042147"/>
                </a:solidFill>
                <a:latin typeface="Cormorant Garamond Bold"/>
                <a:ea typeface="Cormorant Garamond Bold"/>
                <a:cs typeface="Cormorant Garamond Bold"/>
                <a:sym typeface="Cormorant Garamond Bold"/>
              </a:rPr>
              <a:t>Impact on Business</a:t>
            </a:r>
          </a:p>
        </p:txBody>
      </p:sp>
      <p:sp>
        <p:nvSpPr>
          <p:cNvPr name="TextBox 12" id="12"/>
          <p:cNvSpPr txBox="true"/>
          <p:nvPr/>
        </p:nvSpPr>
        <p:spPr>
          <a:xfrm rot="0">
            <a:off x="9535346" y="2976680"/>
            <a:ext cx="6261835" cy="504825"/>
          </a:xfrm>
          <a:prstGeom prst="rect">
            <a:avLst/>
          </a:prstGeom>
        </p:spPr>
        <p:txBody>
          <a:bodyPr anchor="t" rtlCol="false" tIns="0" lIns="0" bIns="0" rIns="0">
            <a:spAutoFit/>
          </a:bodyPr>
          <a:lstStyle/>
          <a:p>
            <a:pPr algn="ctr">
              <a:lnSpc>
                <a:spcPts val="4199"/>
              </a:lnSpc>
            </a:pPr>
            <a:r>
              <a:rPr lang="en-US" sz="2999" b="true">
                <a:solidFill>
                  <a:srgbClr val="042147"/>
                </a:solidFill>
                <a:latin typeface="Cormorant Garamond Bold"/>
                <a:ea typeface="Cormorant Garamond Bold"/>
                <a:cs typeface="Cormorant Garamond Bold"/>
                <a:sym typeface="Cormorant Garamond Bold"/>
              </a:rPr>
              <a:t>Impact on Society</a:t>
            </a:r>
          </a:p>
        </p:txBody>
      </p:sp>
      <p:sp>
        <p:nvSpPr>
          <p:cNvPr name="TextBox 13" id="13"/>
          <p:cNvSpPr txBox="true"/>
          <p:nvPr/>
        </p:nvSpPr>
        <p:spPr>
          <a:xfrm rot="0">
            <a:off x="2563769" y="3709306"/>
            <a:ext cx="6342025" cy="3989705"/>
          </a:xfrm>
          <a:prstGeom prst="rect">
            <a:avLst/>
          </a:prstGeom>
        </p:spPr>
        <p:txBody>
          <a:bodyPr anchor="t" rtlCol="false" tIns="0" lIns="0" bIns="0" rIns="0">
            <a:spAutoFit/>
          </a:bodyPr>
          <a:lstStyle/>
          <a:p>
            <a:pPr algn="just">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14" id="14"/>
          <p:cNvSpPr txBox="true"/>
          <p:nvPr/>
        </p:nvSpPr>
        <p:spPr>
          <a:xfrm rot="0">
            <a:off x="9382205" y="3709306"/>
            <a:ext cx="6342025" cy="3989705"/>
          </a:xfrm>
          <a:prstGeom prst="rect">
            <a:avLst/>
          </a:prstGeom>
        </p:spPr>
        <p:txBody>
          <a:bodyPr anchor="t" rtlCol="false" tIns="0" lIns="0" bIns="0" rIns="0">
            <a:spAutoFit/>
          </a:bodyPr>
          <a:lstStyle/>
          <a:p>
            <a:pPr algn="just">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13376033" y="6763973"/>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918093">
            <a:off x="13241272" y="-5249286"/>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2161387">
            <a:off x="820408" y="-682944"/>
            <a:ext cx="17754162" cy="15023774"/>
            <a:chOff x="0" y="0"/>
            <a:chExt cx="23672216" cy="20031698"/>
          </a:xfrm>
        </p:grpSpPr>
        <p:sp>
          <p:nvSpPr>
            <p:cNvPr name="Freeform 5" id="5"/>
            <p:cNvSpPr/>
            <p:nvPr/>
          </p:nvSpPr>
          <p:spPr>
            <a:xfrm flipH="false" flipV="false" rot="-4034410">
              <a:off x="721671" y="13508156"/>
              <a:ext cx="5897366" cy="5486400"/>
            </a:xfrm>
            <a:custGeom>
              <a:avLst/>
              <a:gdLst/>
              <a:ahLst/>
              <a:cxnLst/>
              <a:rect r="r" b="b" t="t" l="l"/>
              <a:pathLst>
                <a:path h="5486400" w="5897366">
                  <a:moveTo>
                    <a:pt x="0" y="0"/>
                  </a:moveTo>
                  <a:lnTo>
                    <a:pt x="5897366" y="0"/>
                  </a:lnTo>
                  <a:lnTo>
                    <a:pt x="589736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758324">
              <a:off x="7096211" y="10403876"/>
              <a:ext cx="5897366" cy="5486400"/>
            </a:xfrm>
            <a:custGeom>
              <a:avLst/>
              <a:gdLst/>
              <a:ahLst/>
              <a:cxnLst/>
              <a:rect r="r" b="b" t="t" l="l"/>
              <a:pathLst>
                <a:path h="5486400" w="5897366">
                  <a:moveTo>
                    <a:pt x="0" y="0"/>
                  </a:moveTo>
                  <a:lnTo>
                    <a:pt x="5897366" y="0"/>
                  </a:lnTo>
                  <a:lnTo>
                    <a:pt x="589736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22178">
              <a:off x="12766985" y="6085744"/>
              <a:ext cx="5897366" cy="5486400"/>
            </a:xfrm>
            <a:custGeom>
              <a:avLst/>
              <a:gdLst/>
              <a:ahLst/>
              <a:cxnLst/>
              <a:rect r="r" b="b" t="t" l="l"/>
              <a:pathLst>
                <a:path h="5486400" w="5897366">
                  <a:moveTo>
                    <a:pt x="0" y="0"/>
                  </a:moveTo>
                  <a:lnTo>
                    <a:pt x="5897367" y="0"/>
                  </a:lnTo>
                  <a:lnTo>
                    <a:pt x="5897367"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6146091">
              <a:off x="17409745" y="727003"/>
              <a:ext cx="5897366" cy="5486400"/>
            </a:xfrm>
            <a:custGeom>
              <a:avLst/>
              <a:gdLst/>
              <a:ahLst/>
              <a:cxnLst/>
              <a:rect r="r" b="b" t="t" l="l"/>
              <a:pathLst>
                <a:path h="5486400" w="5897366">
                  <a:moveTo>
                    <a:pt x="0" y="0"/>
                  </a:moveTo>
                  <a:lnTo>
                    <a:pt x="5897367" y="0"/>
                  </a:lnTo>
                  <a:lnTo>
                    <a:pt x="5897367"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9" id="9"/>
          <p:cNvSpPr txBox="true"/>
          <p:nvPr/>
        </p:nvSpPr>
        <p:spPr>
          <a:xfrm rot="0">
            <a:off x="2533186" y="888298"/>
            <a:ext cx="13924129"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Innovation Roadmap</a:t>
            </a:r>
          </a:p>
        </p:txBody>
      </p:sp>
      <p:sp>
        <p:nvSpPr>
          <p:cNvPr name="Freeform 10" id="10"/>
          <p:cNvSpPr/>
          <p:nvPr/>
        </p:nvSpPr>
        <p:spPr>
          <a:xfrm flipH="false" flipV="false" rot="0">
            <a:off x="-307024" y="7669968"/>
            <a:ext cx="5337688" cy="2901761"/>
          </a:xfrm>
          <a:custGeom>
            <a:avLst/>
            <a:gdLst/>
            <a:ahLst/>
            <a:cxnLst/>
            <a:rect r="r" b="b" t="t" l="l"/>
            <a:pathLst>
              <a:path h="2901761" w="5337688">
                <a:moveTo>
                  <a:pt x="0" y="0"/>
                </a:moveTo>
                <a:lnTo>
                  <a:pt x="5337688" y="0"/>
                </a:lnTo>
                <a:lnTo>
                  <a:pt x="5337688" y="2901761"/>
                </a:lnTo>
                <a:lnTo>
                  <a:pt x="0" y="29017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8">
              <a:extLst>
                <a:ext uri="{96DAC541-7B7A-43D3-8B79-37D633B846F1}">
                  <asvg:svgBlip xmlns:asvg="http://schemas.microsoft.com/office/drawing/2016/SVG/main" r:embed="rId9"/>
                </a:ext>
              </a:extLst>
            </a:blip>
            <a:stretch>
              <a:fillRect l="0" t="0" r="-21157" b="-4158"/>
            </a:stretch>
          </a:blipFill>
        </p:spPr>
      </p:sp>
      <p:sp>
        <p:nvSpPr>
          <p:cNvPr name="TextBox 12" id="12"/>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3" id="13"/>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8">
              <a:extLst>
                <a:ext uri="{96DAC541-7B7A-43D3-8B79-37D633B846F1}">
                  <asvg:svgBlip xmlns:asvg="http://schemas.microsoft.com/office/drawing/2016/SVG/main" r:embed="rId9"/>
                </a:ext>
              </a:extLst>
            </a:blip>
            <a:stretch>
              <a:fillRect l="0" t="-2099" r="-10598" b="-1584"/>
            </a:stretch>
          </a:blipFill>
        </p:spPr>
      </p:sp>
      <p:sp>
        <p:nvSpPr>
          <p:cNvPr name="Freeform 14" id="14"/>
          <p:cNvSpPr/>
          <p:nvPr/>
        </p:nvSpPr>
        <p:spPr>
          <a:xfrm flipH="false" flipV="false" rot="0">
            <a:off x="2731581" y="5408804"/>
            <a:ext cx="921113" cy="1498852"/>
          </a:xfrm>
          <a:custGeom>
            <a:avLst/>
            <a:gdLst/>
            <a:ahLst/>
            <a:cxnLst/>
            <a:rect r="r" b="b" t="t" l="l"/>
            <a:pathLst>
              <a:path h="1498852" w="921113">
                <a:moveTo>
                  <a:pt x="0" y="0"/>
                </a:moveTo>
                <a:lnTo>
                  <a:pt x="921113" y="0"/>
                </a:lnTo>
                <a:lnTo>
                  <a:pt x="921113" y="1498852"/>
                </a:lnTo>
                <a:lnTo>
                  <a:pt x="0" y="14988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2862013" y="5566571"/>
            <a:ext cx="660249" cy="660249"/>
          </a:xfrm>
          <a:custGeom>
            <a:avLst/>
            <a:gdLst/>
            <a:ahLst/>
            <a:cxnLst/>
            <a:rect r="r" b="b" t="t" l="l"/>
            <a:pathLst>
              <a:path h="660249" w="660249">
                <a:moveTo>
                  <a:pt x="0" y="0"/>
                </a:moveTo>
                <a:lnTo>
                  <a:pt x="660249" y="0"/>
                </a:lnTo>
                <a:lnTo>
                  <a:pt x="660249" y="660249"/>
                </a:lnTo>
                <a:lnTo>
                  <a:pt x="0" y="6602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5904503" y="6697046"/>
            <a:ext cx="921113" cy="1498852"/>
          </a:xfrm>
          <a:custGeom>
            <a:avLst/>
            <a:gdLst/>
            <a:ahLst/>
            <a:cxnLst/>
            <a:rect r="r" b="b" t="t" l="l"/>
            <a:pathLst>
              <a:path h="1498852" w="921113">
                <a:moveTo>
                  <a:pt x="0" y="0"/>
                </a:moveTo>
                <a:lnTo>
                  <a:pt x="921113" y="0"/>
                </a:lnTo>
                <a:lnTo>
                  <a:pt x="921113" y="1498853"/>
                </a:lnTo>
                <a:lnTo>
                  <a:pt x="0" y="14988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0728662" y="6828943"/>
            <a:ext cx="921113" cy="1498852"/>
          </a:xfrm>
          <a:custGeom>
            <a:avLst/>
            <a:gdLst/>
            <a:ahLst/>
            <a:cxnLst/>
            <a:rect r="r" b="b" t="t" l="l"/>
            <a:pathLst>
              <a:path h="1498852" w="921113">
                <a:moveTo>
                  <a:pt x="0" y="0"/>
                </a:moveTo>
                <a:lnTo>
                  <a:pt x="921112" y="0"/>
                </a:lnTo>
                <a:lnTo>
                  <a:pt x="921112" y="1498852"/>
                </a:lnTo>
                <a:lnTo>
                  <a:pt x="0" y="14988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5495268" y="5948646"/>
            <a:ext cx="921113" cy="1498852"/>
          </a:xfrm>
          <a:custGeom>
            <a:avLst/>
            <a:gdLst/>
            <a:ahLst/>
            <a:cxnLst/>
            <a:rect r="r" b="b" t="t" l="l"/>
            <a:pathLst>
              <a:path h="1498852" w="921113">
                <a:moveTo>
                  <a:pt x="0" y="0"/>
                </a:moveTo>
                <a:lnTo>
                  <a:pt x="921113" y="0"/>
                </a:lnTo>
                <a:lnTo>
                  <a:pt x="921113" y="1498852"/>
                </a:lnTo>
                <a:lnTo>
                  <a:pt x="0" y="14988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6034935" y="6827917"/>
            <a:ext cx="660249" cy="660249"/>
          </a:xfrm>
          <a:custGeom>
            <a:avLst/>
            <a:gdLst/>
            <a:ahLst/>
            <a:cxnLst/>
            <a:rect r="r" b="b" t="t" l="l"/>
            <a:pathLst>
              <a:path h="660249" w="660249">
                <a:moveTo>
                  <a:pt x="0" y="0"/>
                </a:moveTo>
                <a:lnTo>
                  <a:pt x="660249" y="0"/>
                </a:lnTo>
                <a:lnTo>
                  <a:pt x="660249" y="660249"/>
                </a:lnTo>
                <a:lnTo>
                  <a:pt x="0" y="6602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10859094" y="6986002"/>
            <a:ext cx="660249" cy="660249"/>
          </a:xfrm>
          <a:custGeom>
            <a:avLst/>
            <a:gdLst/>
            <a:ahLst/>
            <a:cxnLst/>
            <a:rect r="r" b="b" t="t" l="l"/>
            <a:pathLst>
              <a:path h="660249" w="660249">
                <a:moveTo>
                  <a:pt x="0" y="0"/>
                </a:moveTo>
                <a:lnTo>
                  <a:pt x="660248" y="0"/>
                </a:lnTo>
                <a:lnTo>
                  <a:pt x="660248" y="660249"/>
                </a:lnTo>
                <a:lnTo>
                  <a:pt x="0" y="6602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15625701" y="6079517"/>
            <a:ext cx="660249" cy="660249"/>
          </a:xfrm>
          <a:custGeom>
            <a:avLst/>
            <a:gdLst/>
            <a:ahLst/>
            <a:cxnLst/>
            <a:rect r="r" b="b" t="t" l="l"/>
            <a:pathLst>
              <a:path h="660249" w="660249">
                <a:moveTo>
                  <a:pt x="0" y="0"/>
                </a:moveTo>
                <a:lnTo>
                  <a:pt x="660248" y="0"/>
                </a:lnTo>
                <a:lnTo>
                  <a:pt x="660248" y="660248"/>
                </a:lnTo>
                <a:lnTo>
                  <a:pt x="0" y="6602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6159011" y="6906630"/>
            <a:ext cx="412096" cy="502822"/>
          </a:xfrm>
          <a:custGeom>
            <a:avLst/>
            <a:gdLst/>
            <a:ahLst/>
            <a:cxnLst/>
            <a:rect r="r" b="b" t="t" l="l"/>
            <a:pathLst>
              <a:path h="502822" w="412096">
                <a:moveTo>
                  <a:pt x="0" y="0"/>
                </a:moveTo>
                <a:lnTo>
                  <a:pt x="412096" y="0"/>
                </a:lnTo>
                <a:lnTo>
                  <a:pt x="412096" y="502822"/>
                </a:lnTo>
                <a:lnTo>
                  <a:pt x="0" y="5028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0">
            <a:off x="10978524" y="7103889"/>
            <a:ext cx="421389" cy="424476"/>
          </a:xfrm>
          <a:custGeom>
            <a:avLst/>
            <a:gdLst/>
            <a:ahLst/>
            <a:cxnLst/>
            <a:rect r="r" b="b" t="t" l="l"/>
            <a:pathLst>
              <a:path h="424476" w="421389">
                <a:moveTo>
                  <a:pt x="0" y="0"/>
                </a:moveTo>
                <a:lnTo>
                  <a:pt x="421388" y="0"/>
                </a:lnTo>
                <a:lnTo>
                  <a:pt x="421388" y="424476"/>
                </a:lnTo>
                <a:lnTo>
                  <a:pt x="0" y="4244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0">
            <a:off x="2893387" y="5599322"/>
            <a:ext cx="597501" cy="594748"/>
          </a:xfrm>
          <a:custGeom>
            <a:avLst/>
            <a:gdLst/>
            <a:ahLst/>
            <a:cxnLst/>
            <a:rect r="r" b="b" t="t" l="l"/>
            <a:pathLst>
              <a:path h="594748" w="597501">
                <a:moveTo>
                  <a:pt x="0" y="0"/>
                </a:moveTo>
                <a:lnTo>
                  <a:pt x="597501" y="0"/>
                </a:lnTo>
                <a:lnTo>
                  <a:pt x="597501" y="594748"/>
                </a:lnTo>
                <a:lnTo>
                  <a:pt x="0" y="59474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5" id="25"/>
          <p:cNvSpPr/>
          <p:nvPr/>
        </p:nvSpPr>
        <p:spPr>
          <a:xfrm flipH="false" flipV="false" rot="0">
            <a:off x="15714161" y="6176765"/>
            <a:ext cx="483328" cy="465753"/>
          </a:xfrm>
          <a:custGeom>
            <a:avLst/>
            <a:gdLst/>
            <a:ahLst/>
            <a:cxnLst/>
            <a:rect r="r" b="b" t="t" l="l"/>
            <a:pathLst>
              <a:path h="465753" w="483328">
                <a:moveTo>
                  <a:pt x="0" y="0"/>
                </a:moveTo>
                <a:lnTo>
                  <a:pt x="483328" y="0"/>
                </a:lnTo>
                <a:lnTo>
                  <a:pt x="483328" y="465752"/>
                </a:lnTo>
                <a:lnTo>
                  <a:pt x="0" y="4657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26" id="26"/>
          <p:cNvSpPr txBox="true"/>
          <p:nvPr/>
        </p:nvSpPr>
        <p:spPr>
          <a:xfrm rot="0">
            <a:off x="9999019" y="6129140"/>
            <a:ext cx="2380397" cy="389255"/>
          </a:xfrm>
          <a:prstGeom prst="rect">
            <a:avLst/>
          </a:prstGeom>
        </p:spPr>
        <p:txBody>
          <a:bodyPr anchor="t" rtlCol="false" tIns="0" lIns="0" bIns="0" rIns="0">
            <a:spAutoFit/>
          </a:bodyPr>
          <a:lstStyle/>
          <a:p>
            <a:pPr algn="ctr">
              <a:lnSpc>
                <a:spcPts val="3220"/>
              </a:lnSpc>
              <a:spcBef>
                <a:spcPct val="0"/>
              </a:spcBef>
            </a:pPr>
            <a:r>
              <a:rPr lang="en-US" sz="2300">
                <a:solidFill>
                  <a:srgbClr val="042147"/>
                </a:solidFill>
                <a:latin typeface="DM Sans"/>
                <a:ea typeface="DM Sans"/>
                <a:cs typeface="DM Sans"/>
                <a:sym typeface="DM Sans"/>
              </a:rPr>
              <a:t>Evaluation</a:t>
            </a:r>
          </a:p>
        </p:txBody>
      </p:sp>
      <p:sp>
        <p:nvSpPr>
          <p:cNvPr name="TextBox 27" id="27"/>
          <p:cNvSpPr txBox="true"/>
          <p:nvPr/>
        </p:nvSpPr>
        <p:spPr>
          <a:xfrm rot="0">
            <a:off x="4671730" y="6031892"/>
            <a:ext cx="3386659" cy="389255"/>
          </a:xfrm>
          <a:prstGeom prst="rect">
            <a:avLst/>
          </a:prstGeom>
        </p:spPr>
        <p:txBody>
          <a:bodyPr anchor="t" rtlCol="false" tIns="0" lIns="0" bIns="0" rIns="0">
            <a:spAutoFit/>
          </a:bodyPr>
          <a:lstStyle/>
          <a:p>
            <a:pPr algn="ctr">
              <a:lnSpc>
                <a:spcPts val="3220"/>
              </a:lnSpc>
              <a:spcBef>
                <a:spcPct val="0"/>
              </a:spcBef>
            </a:pPr>
            <a:r>
              <a:rPr lang="en-US" sz="2300">
                <a:solidFill>
                  <a:srgbClr val="042147"/>
                </a:solidFill>
                <a:latin typeface="DM Sans"/>
                <a:ea typeface="DM Sans"/>
                <a:cs typeface="DM Sans"/>
                <a:sym typeface="DM Sans"/>
              </a:rPr>
              <a:t>Development Stage</a:t>
            </a:r>
          </a:p>
        </p:txBody>
      </p:sp>
      <p:sp>
        <p:nvSpPr>
          <p:cNvPr name="TextBox 28" id="28"/>
          <p:cNvSpPr txBox="true"/>
          <p:nvPr/>
        </p:nvSpPr>
        <p:spPr>
          <a:xfrm rot="0">
            <a:off x="14652350" y="5302034"/>
            <a:ext cx="2606950" cy="389255"/>
          </a:xfrm>
          <a:prstGeom prst="rect">
            <a:avLst/>
          </a:prstGeom>
        </p:spPr>
        <p:txBody>
          <a:bodyPr anchor="t" rtlCol="false" tIns="0" lIns="0" bIns="0" rIns="0">
            <a:spAutoFit/>
          </a:bodyPr>
          <a:lstStyle/>
          <a:p>
            <a:pPr algn="ctr">
              <a:lnSpc>
                <a:spcPts val="3220"/>
              </a:lnSpc>
              <a:spcBef>
                <a:spcPct val="0"/>
              </a:spcBef>
            </a:pPr>
            <a:r>
              <a:rPr lang="en-US" sz="2300">
                <a:solidFill>
                  <a:srgbClr val="042147"/>
                </a:solidFill>
                <a:latin typeface="DM Sans"/>
                <a:ea typeface="DM Sans"/>
                <a:cs typeface="DM Sans"/>
                <a:sym typeface="DM Sans"/>
              </a:rPr>
              <a:t>Implementation</a:t>
            </a:r>
          </a:p>
        </p:txBody>
      </p:sp>
      <p:sp>
        <p:nvSpPr>
          <p:cNvPr name="TextBox 29" id="29"/>
          <p:cNvSpPr txBox="true"/>
          <p:nvPr/>
        </p:nvSpPr>
        <p:spPr>
          <a:xfrm rot="0">
            <a:off x="2227756" y="4839059"/>
            <a:ext cx="1928762" cy="389255"/>
          </a:xfrm>
          <a:prstGeom prst="rect">
            <a:avLst/>
          </a:prstGeom>
        </p:spPr>
        <p:txBody>
          <a:bodyPr anchor="t" rtlCol="false" tIns="0" lIns="0" bIns="0" rIns="0">
            <a:spAutoFit/>
          </a:bodyPr>
          <a:lstStyle/>
          <a:p>
            <a:pPr algn="ctr">
              <a:lnSpc>
                <a:spcPts val="3220"/>
              </a:lnSpc>
              <a:spcBef>
                <a:spcPct val="0"/>
              </a:spcBef>
            </a:pPr>
            <a:r>
              <a:rPr lang="en-US" sz="2300">
                <a:solidFill>
                  <a:srgbClr val="042147"/>
                </a:solidFill>
                <a:latin typeface="DM Sans"/>
                <a:ea typeface="DM Sans"/>
                <a:cs typeface="DM Sans"/>
                <a:sym typeface="DM Sans"/>
              </a:rPr>
              <a:t>Planning</a:t>
            </a:r>
          </a:p>
        </p:txBody>
      </p:sp>
      <p:sp>
        <p:nvSpPr>
          <p:cNvPr name="TextBox 30" id="30"/>
          <p:cNvSpPr txBox="true"/>
          <p:nvPr/>
        </p:nvSpPr>
        <p:spPr>
          <a:xfrm rot="0">
            <a:off x="2676815" y="3010261"/>
            <a:ext cx="14457325" cy="1189355"/>
          </a:xfrm>
          <a:prstGeom prst="rect">
            <a:avLst/>
          </a:prstGeom>
        </p:spPr>
        <p:txBody>
          <a:bodyPr anchor="t" rtlCol="false" tIns="0" lIns="0" bIns="0" rIns="0">
            <a:spAutoFit/>
          </a:bodyPr>
          <a:lstStyle/>
          <a:p>
            <a:pPr algn="l">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18093">
            <a:off x="14266978" y="-2875731"/>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62957">
            <a:off x="16725795" y="6526443"/>
            <a:ext cx="1543050" cy="6739091"/>
            <a:chOff x="0" y="0"/>
            <a:chExt cx="406400" cy="1774905"/>
          </a:xfrm>
        </p:grpSpPr>
        <p:sp>
          <p:nvSpPr>
            <p:cNvPr name="Freeform 4" id="4"/>
            <p:cNvSpPr/>
            <p:nvPr/>
          </p:nvSpPr>
          <p:spPr>
            <a:xfrm flipH="false" flipV="false" rot="0">
              <a:off x="0" y="0"/>
              <a:ext cx="406400" cy="1774905"/>
            </a:xfrm>
            <a:custGeom>
              <a:avLst/>
              <a:gdLst/>
              <a:ahLst/>
              <a:cxnLst/>
              <a:rect r="r" b="b" t="t" l="l"/>
              <a:pathLst>
                <a:path h="1774905" w="406400">
                  <a:moveTo>
                    <a:pt x="203200" y="0"/>
                  </a:moveTo>
                  <a:lnTo>
                    <a:pt x="406400" y="0"/>
                  </a:lnTo>
                  <a:lnTo>
                    <a:pt x="203200" y="1774905"/>
                  </a:lnTo>
                  <a:lnTo>
                    <a:pt x="0" y="1774905"/>
                  </a:lnTo>
                  <a:lnTo>
                    <a:pt x="203200" y="0"/>
                  </a:lnTo>
                  <a:close/>
                </a:path>
              </a:pathLst>
            </a:custGeom>
            <a:solidFill>
              <a:srgbClr val="C5E0EF"/>
            </a:solidFill>
          </p:spPr>
        </p:sp>
        <p:sp>
          <p:nvSpPr>
            <p:cNvPr name="TextBox 5" id="5"/>
            <p:cNvSpPr txBox="true"/>
            <p:nvPr/>
          </p:nvSpPr>
          <p:spPr>
            <a:xfrm>
              <a:off x="101600" y="-47625"/>
              <a:ext cx="203200" cy="1822530"/>
            </a:xfrm>
            <a:prstGeom prst="rect">
              <a:avLst/>
            </a:prstGeom>
          </p:spPr>
          <p:txBody>
            <a:bodyPr anchor="ctr" rtlCol="false" tIns="50800" lIns="50800" bIns="50800" rIns="50800"/>
            <a:lstStyle/>
            <a:p>
              <a:pPr algn="ctr">
                <a:lnSpc>
                  <a:spcPts val="3276"/>
                </a:lnSpc>
              </a:pPr>
            </a:p>
          </p:txBody>
        </p:sp>
      </p:grpSp>
      <p:sp>
        <p:nvSpPr>
          <p:cNvPr name="Freeform 6" id="6"/>
          <p:cNvSpPr/>
          <p:nvPr/>
        </p:nvSpPr>
        <p:spPr>
          <a:xfrm flipH="false" flipV="false" rot="-67698">
            <a:off x="14713601" y="4970514"/>
            <a:ext cx="3987645" cy="5864184"/>
          </a:xfrm>
          <a:custGeom>
            <a:avLst/>
            <a:gdLst/>
            <a:ahLst/>
            <a:cxnLst/>
            <a:rect r="r" b="b" t="t" l="l"/>
            <a:pathLst>
              <a:path h="5864184" w="3987645">
                <a:moveTo>
                  <a:pt x="0" y="0"/>
                </a:moveTo>
                <a:lnTo>
                  <a:pt x="3987645" y="0"/>
                </a:lnTo>
                <a:lnTo>
                  <a:pt x="3987645" y="5864184"/>
                </a:lnTo>
                <a:lnTo>
                  <a:pt x="0" y="5864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1303" y="6765879"/>
            <a:ext cx="7183644" cy="3905290"/>
          </a:xfrm>
          <a:custGeom>
            <a:avLst/>
            <a:gdLst/>
            <a:ahLst/>
            <a:cxnLst/>
            <a:rect r="r" b="b" t="t" l="l"/>
            <a:pathLst>
              <a:path h="3905290" w="7183644">
                <a:moveTo>
                  <a:pt x="0" y="0"/>
                </a:moveTo>
                <a:lnTo>
                  <a:pt x="7183644" y="0"/>
                </a:lnTo>
                <a:lnTo>
                  <a:pt x="7183644" y="3905290"/>
                </a:lnTo>
                <a:lnTo>
                  <a:pt x="0" y="39052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304918" y="4656420"/>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5400000">
            <a:off x="-750907" y="210068"/>
            <a:ext cx="2835524" cy="1680311"/>
          </a:xfrm>
          <a:custGeom>
            <a:avLst/>
            <a:gdLst/>
            <a:ahLst/>
            <a:cxnLst/>
            <a:rect r="r" b="b" t="t" l="l"/>
            <a:pathLst>
              <a:path h="1680311" w="2835524">
                <a:moveTo>
                  <a:pt x="0" y="1680310"/>
                </a:moveTo>
                <a:lnTo>
                  <a:pt x="2835524" y="1680310"/>
                </a:lnTo>
                <a:lnTo>
                  <a:pt x="2835524" y="0"/>
                </a:lnTo>
                <a:lnTo>
                  <a:pt x="0" y="0"/>
                </a:lnTo>
                <a:lnTo>
                  <a:pt x="0" y="168031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2">
              <a:extLst>
                <a:ext uri="{96DAC541-7B7A-43D3-8B79-37D633B846F1}">
                  <asvg:svgBlip xmlns:asvg="http://schemas.microsoft.com/office/drawing/2016/SVG/main" r:embed="rId13"/>
                </a:ext>
              </a:extLst>
            </a:blip>
            <a:stretch>
              <a:fillRect l="0" t="0" r="-21157" b="-4158"/>
            </a:stretch>
          </a:blipFill>
        </p:spPr>
      </p:sp>
      <p:sp>
        <p:nvSpPr>
          <p:cNvPr name="TextBox 11" id="11"/>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2" id="12"/>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2">
              <a:extLst>
                <a:ext uri="{96DAC541-7B7A-43D3-8B79-37D633B846F1}">
                  <asvg:svgBlip xmlns:asvg="http://schemas.microsoft.com/office/drawing/2016/SVG/main" r:embed="rId13"/>
                </a:ext>
              </a:extLst>
            </a:blip>
            <a:stretch>
              <a:fillRect l="0" t="-2099" r="-10598" b="-1584"/>
            </a:stretch>
          </a:blipFill>
        </p:spPr>
      </p:sp>
      <p:grpSp>
        <p:nvGrpSpPr>
          <p:cNvPr name="Group 13" id="13"/>
          <p:cNvGrpSpPr/>
          <p:nvPr/>
        </p:nvGrpSpPr>
        <p:grpSpPr>
          <a:xfrm rot="0">
            <a:off x="3655284" y="3663823"/>
            <a:ext cx="4158996" cy="1386569"/>
            <a:chOff x="0" y="0"/>
            <a:chExt cx="855760" cy="285302"/>
          </a:xfrm>
        </p:grpSpPr>
        <p:sp>
          <p:nvSpPr>
            <p:cNvPr name="Freeform 14" id="14"/>
            <p:cNvSpPr/>
            <p:nvPr/>
          </p:nvSpPr>
          <p:spPr>
            <a:xfrm flipH="false" flipV="false" rot="0">
              <a:off x="0" y="0"/>
              <a:ext cx="855760" cy="285302"/>
            </a:xfrm>
            <a:custGeom>
              <a:avLst/>
              <a:gdLst/>
              <a:ahLst/>
              <a:cxnLst/>
              <a:rect r="r" b="b" t="t" l="l"/>
              <a:pathLst>
                <a:path h="285302" w="855760">
                  <a:moveTo>
                    <a:pt x="50900" y="0"/>
                  </a:moveTo>
                  <a:lnTo>
                    <a:pt x="804860" y="0"/>
                  </a:lnTo>
                  <a:cubicBezTo>
                    <a:pt x="818360" y="0"/>
                    <a:pt x="831307" y="5363"/>
                    <a:pt x="840852" y="14908"/>
                  </a:cubicBezTo>
                  <a:cubicBezTo>
                    <a:pt x="850398" y="24454"/>
                    <a:pt x="855760" y="37401"/>
                    <a:pt x="855760" y="50900"/>
                  </a:cubicBezTo>
                  <a:lnTo>
                    <a:pt x="855760" y="234402"/>
                  </a:lnTo>
                  <a:cubicBezTo>
                    <a:pt x="855760" y="247902"/>
                    <a:pt x="850398" y="260848"/>
                    <a:pt x="840852" y="270394"/>
                  </a:cubicBezTo>
                  <a:cubicBezTo>
                    <a:pt x="831307" y="279940"/>
                    <a:pt x="818360" y="285302"/>
                    <a:pt x="804860" y="285302"/>
                  </a:cubicBezTo>
                  <a:lnTo>
                    <a:pt x="50900" y="285302"/>
                  </a:lnTo>
                  <a:cubicBezTo>
                    <a:pt x="37401" y="285302"/>
                    <a:pt x="24454" y="279940"/>
                    <a:pt x="14908" y="270394"/>
                  </a:cubicBezTo>
                  <a:cubicBezTo>
                    <a:pt x="5363" y="260848"/>
                    <a:pt x="0" y="247902"/>
                    <a:pt x="0" y="234402"/>
                  </a:cubicBezTo>
                  <a:lnTo>
                    <a:pt x="0" y="50900"/>
                  </a:lnTo>
                  <a:cubicBezTo>
                    <a:pt x="0" y="37401"/>
                    <a:pt x="5363" y="24454"/>
                    <a:pt x="14908" y="14908"/>
                  </a:cubicBezTo>
                  <a:cubicBezTo>
                    <a:pt x="24454" y="5363"/>
                    <a:pt x="37401" y="0"/>
                    <a:pt x="50900" y="0"/>
                  </a:cubicBezTo>
                  <a:close/>
                </a:path>
              </a:pathLst>
            </a:custGeom>
            <a:solidFill>
              <a:srgbClr val="00497E"/>
            </a:solidFill>
          </p:spPr>
        </p:sp>
        <p:sp>
          <p:nvSpPr>
            <p:cNvPr name="TextBox 15" id="15"/>
            <p:cNvSpPr txBox="true"/>
            <p:nvPr/>
          </p:nvSpPr>
          <p:spPr>
            <a:xfrm>
              <a:off x="0" y="-38100"/>
              <a:ext cx="855760" cy="323402"/>
            </a:xfrm>
            <a:prstGeom prst="rect">
              <a:avLst/>
            </a:prstGeom>
          </p:spPr>
          <p:txBody>
            <a:bodyPr anchor="ctr" rtlCol="false" tIns="50800" lIns="50800" bIns="50800" rIns="50800"/>
            <a:lstStyle/>
            <a:p>
              <a:pPr algn="ctr">
                <a:lnSpc>
                  <a:spcPts val="2100"/>
                </a:lnSpc>
              </a:pPr>
            </a:p>
          </p:txBody>
        </p:sp>
      </p:grpSp>
      <p:grpSp>
        <p:nvGrpSpPr>
          <p:cNvPr name="Group 16" id="16"/>
          <p:cNvGrpSpPr/>
          <p:nvPr/>
        </p:nvGrpSpPr>
        <p:grpSpPr>
          <a:xfrm rot="0">
            <a:off x="3818839" y="3806958"/>
            <a:ext cx="1100297" cy="110029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161833" y="0"/>
                  </a:moveTo>
                  <a:lnTo>
                    <a:pt x="650967" y="0"/>
                  </a:lnTo>
                  <a:cubicBezTo>
                    <a:pt x="740345" y="0"/>
                    <a:pt x="812800" y="72455"/>
                    <a:pt x="812800" y="161833"/>
                  </a:cubicBezTo>
                  <a:lnTo>
                    <a:pt x="812800" y="650967"/>
                  </a:lnTo>
                  <a:cubicBezTo>
                    <a:pt x="812800" y="740345"/>
                    <a:pt x="740345" y="812800"/>
                    <a:pt x="650967" y="812800"/>
                  </a:cubicBezTo>
                  <a:lnTo>
                    <a:pt x="161833" y="812800"/>
                  </a:lnTo>
                  <a:cubicBezTo>
                    <a:pt x="72455" y="812800"/>
                    <a:pt x="0" y="740345"/>
                    <a:pt x="0" y="650967"/>
                  </a:cubicBezTo>
                  <a:lnTo>
                    <a:pt x="0" y="161833"/>
                  </a:lnTo>
                  <a:cubicBezTo>
                    <a:pt x="0" y="72455"/>
                    <a:pt x="72455" y="0"/>
                    <a:pt x="161833" y="0"/>
                  </a:cubicBezTo>
                  <a:close/>
                </a:path>
              </a:pathLst>
            </a:custGeom>
            <a:blipFill>
              <a:blip r:embed="rId14"/>
              <a:stretch>
                <a:fillRect l="-25046" t="0" r="-25046" b="0"/>
              </a:stretch>
            </a:blipFill>
          </p:spPr>
        </p:sp>
      </p:grpSp>
      <p:sp>
        <p:nvSpPr>
          <p:cNvPr name="TextBox 18" id="18"/>
          <p:cNvSpPr txBox="true"/>
          <p:nvPr/>
        </p:nvSpPr>
        <p:spPr>
          <a:xfrm rot="0">
            <a:off x="3091331" y="888298"/>
            <a:ext cx="12105338"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Our Management Team</a:t>
            </a:r>
          </a:p>
        </p:txBody>
      </p:sp>
      <p:grpSp>
        <p:nvGrpSpPr>
          <p:cNvPr name="Group 19" id="19"/>
          <p:cNvGrpSpPr/>
          <p:nvPr/>
        </p:nvGrpSpPr>
        <p:grpSpPr>
          <a:xfrm rot="0">
            <a:off x="10473720" y="3663823"/>
            <a:ext cx="4158996" cy="1386569"/>
            <a:chOff x="0" y="0"/>
            <a:chExt cx="855760" cy="285302"/>
          </a:xfrm>
        </p:grpSpPr>
        <p:sp>
          <p:nvSpPr>
            <p:cNvPr name="Freeform 20" id="20"/>
            <p:cNvSpPr/>
            <p:nvPr/>
          </p:nvSpPr>
          <p:spPr>
            <a:xfrm flipH="false" flipV="false" rot="0">
              <a:off x="0" y="0"/>
              <a:ext cx="855760" cy="285302"/>
            </a:xfrm>
            <a:custGeom>
              <a:avLst/>
              <a:gdLst/>
              <a:ahLst/>
              <a:cxnLst/>
              <a:rect r="r" b="b" t="t" l="l"/>
              <a:pathLst>
                <a:path h="285302" w="855760">
                  <a:moveTo>
                    <a:pt x="50900" y="0"/>
                  </a:moveTo>
                  <a:lnTo>
                    <a:pt x="804860" y="0"/>
                  </a:lnTo>
                  <a:cubicBezTo>
                    <a:pt x="818360" y="0"/>
                    <a:pt x="831307" y="5363"/>
                    <a:pt x="840852" y="14908"/>
                  </a:cubicBezTo>
                  <a:cubicBezTo>
                    <a:pt x="850398" y="24454"/>
                    <a:pt x="855760" y="37401"/>
                    <a:pt x="855760" y="50900"/>
                  </a:cubicBezTo>
                  <a:lnTo>
                    <a:pt x="855760" y="234402"/>
                  </a:lnTo>
                  <a:cubicBezTo>
                    <a:pt x="855760" y="247902"/>
                    <a:pt x="850398" y="260848"/>
                    <a:pt x="840852" y="270394"/>
                  </a:cubicBezTo>
                  <a:cubicBezTo>
                    <a:pt x="831307" y="279940"/>
                    <a:pt x="818360" y="285302"/>
                    <a:pt x="804860" y="285302"/>
                  </a:cubicBezTo>
                  <a:lnTo>
                    <a:pt x="50900" y="285302"/>
                  </a:lnTo>
                  <a:cubicBezTo>
                    <a:pt x="37401" y="285302"/>
                    <a:pt x="24454" y="279940"/>
                    <a:pt x="14908" y="270394"/>
                  </a:cubicBezTo>
                  <a:cubicBezTo>
                    <a:pt x="5363" y="260848"/>
                    <a:pt x="0" y="247902"/>
                    <a:pt x="0" y="234402"/>
                  </a:cubicBezTo>
                  <a:lnTo>
                    <a:pt x="0" y="50900"/>
                  </a:lnTo>
                  <a:cubicBezTo>
                    <a:pt x="0" y="37401"/>
                    <a:pt x="5363" y="24454"/>
                    <a:pt x="14908" y="14908"/>
                  </a:cubicBezTo>
                  <a:cubicBezTo>
                    <a:pt x="24454" y="5363"/>
                    <a:pt x="37401" y="0"/>
                    <a:pt x="50900" y="0"/>
                  </a:cubicBezTo>
                  <a:close/>
                </a:path>
              </a:pathLst>
            </a:custGeom>
            <a:solidFill>
              <a:srgbClr val="00497E"/>
            </a:solidFill>
          </p:spPr>
        </p:sp>
        <p:sp>
          <p:nvSpPr>
            <p:cNvPr name="TextBox 21" id="21"/>
            <p:cNvSpPr txBox="true"/>
            <p:nvPr/>
          </p:nvSpPr>
          <p:spPr>
            <a:xfrm>
              <a:off x="0" y="-38100"/>
              <a:ext cx="855760" cy="323402"/>
            </a:xfrm>
            <a:prstGeom prst="rect">
              <a:avLst/>
            </a:prstGeom>
          </p:spPr>
          <p:txBody>
            <a:bodyPr anchor="ctr" rtlCol="false" tIns="50800" lIns="50800" bIns="50800" rIns="50800"/>
            <a:lstStyle/>
            <a:p>
              <a:pPr algn="ctr">
                <a:lnSpc>
                  <a:spcPts val="2100"/>
                </a:lnSpc>
              </a:pPr>
            </a:p>
          </p:txBody>
        </p:sp>
      </p:grpSp>
      <p:grpSp>
        <p:nvGrpSpPr>
          <p:cNvPr name="Group 22" id="22"/>
          <p:cNvGrpSpPr/>
          <p:nvPr/>
        </p:nvGrpSpPr>
        <p:grpSpPr>
          <a:xfrm rot="0">
            <a:off x="10637275" y="3806958"/>
            <a:ext cx="1100297" cy="110029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161833" y="0"/>
                  </a:moveTo>
                  <a:lnTo>
                    <a:pt x="650967" y="0"/>
                  </a:lnTo>
                  <a:cubicBezTo>
                    <a:pt x="740345" y="0"/>
                    <a:pt x="812800" y="72455"/>
                    <a:pt x="812800" y="161833"/>
                  </a:cubicBezTo>
                  <a:lnTo>
                    <a:pt x="812800" y="650967"/>
                  </a:lnTo>
                  <a:cubicBezTo>
                    <a:pt x="812800" y="740345"/>
                    <a:pt x="740345" y="812800"/>
                    <a:pt x="650967" y="812800"/>
                  </a:cubicBezTo>
                  <a:lnTo>
                    <a:pt x="161833" y="812800"/>
                  </a:lnTo>
                  <a:cubicBezTo>
                    <a:pt x="72455" y="812800"/>
                    <a:pt x="0" y="740345"/>
                    <a:pt x="0" y="650967"/>
                  </a:cubicBezTo>
                  <a:lnTo>
                    <a:pt x="0" y="161833"/>
                  </a:lnTo>
                  <a:cubicBezTo>
                    <a:pt x="0" y="72455"/>
                    <a:pt x="72455" y="0"/>
                    <a:pt x="161833" y="0"/>
                  </a:cubicBezTo>
                  <a:close/>
                </a:path>
              </a:pathLst>
            </a:custGeom>
            <a:blipFill>
              <a:blip r:embed="rId15"/>
              <a:stretch>
                <a:fillRect l="-32987" t="0" r="-32987" b="0"/>
              </a:stretch>
            </a:blipFill>
          </p:spPr>
        </p:sp>
      </p:grpSp>
      <p:grpSp>
        <p:nvGrpSpPr>
          <p:cNvPr name="Group 24" id="24"/>
          <p:cNvGrpSpPr/>
          <p:nvPr/>
        </p:nvGrpSpPr>
        <p:grpSpPr>
          <a:xfrm rot="0">
            <a:off x="10473720" y="5832936"/>
            <a:ext cx="4158996" cy="1386569"/>
            <a:chOff x="0" y="0"/>
            <a:chExt cx="855760" cy="285302"/>
          </a:xfrm>
        </p:grpSpPr>
        <p:sp>
          <p:nvSpPr>
            <p:cNvPr name="Freeform 25" id="25"/>
            <p:cNvSpPr/>
            <p:nvPr/>
          </p:nvSpPr>
          <p:spPr>
            <a:xfrm flipH="false" flipV="false" rot="0">
              <a:off x="0" y="0"/>
              <a:ext cx="855760" cy="285302"/>
            </a:xfrm>
            <a:custGeom>
              <a:avLst/>
              <a:gdLst/>
              <a:ahLst/>
              <a:cxnLst/>
              <a:rect r="r" b="b" t="t" l="l"/>
              <a:pathLst>
                <a:path h="285302" w="855760">
                  <a:moveTo>
                    <a:pt x="50900" y="0"/>
                  </a:moveTo>
                  <a:lnTo>
                    <a:pt x="804860" y="0"/>
                  </a:lnTo>
                  <a:cubicBezTo>
                    <a:pt x="818360" y="0"/>
                    <a:pt x="831307" y="5363"/>
                    <a:pt x="840852" y="14908"/>
                  </a:cubicBezTo>
                  <a:cubicBezTo>
                    <a:pt x="850398" y="24454"/>
                    <a:pt x="855760" y="37401"/>
                    <a:pt x="855760" y="50900"/>
                  </a:cubicBezTo>
                  <a:lnTo>
                    <a:pt x="855760" y="234402"/>
                  </a:lnTo>
                  <a:cubicBezTo>
                    <a:pt x="855760" y="247902"/>
                    <a:pt x="850398" y="260848"/>
                    <a:pt x="840852" y="270394"/>
                  </a:cubicBezTo>
                  <a:cubicBezTo>
                    <a:pt x="831307" y="279940"/>
                    <a:pt x="818360" y="285302"/>
                    <a:pt x="804860" y="285302"/>
                  </a:cubicBezTo>
                  <a:lnTo>
                    <a:pt x="50900" y="285302"/>
                  </a:lnTo>
                  <a:cubicBezTo>
                    <a:pt x="37401" y="285302"/>
                    <a:pt x="24454" y="279940"/>
                    <a:pt x="14908" y="270394"/>
                  </a:cubicBezTo>
                  <a:cubicBezTo>
                    <a:pt x="5363" y="260848"/>
                    <a:pt x="0" y="247902"/>
                    <a:pt x="0" y="234402"/>
                  </a:cubicBezTo>
                  <a:lnTo>
                    <a:pt x="0" y="50900"/>
                  </a:lnTo>
                  <a:cubicBezTo>
                    <a:pt x="0" y="37401"/>
                    <a:pt x="5363" y="24454"/>
                    <a:pt x="14908" y="14908"/>
                  </a:cubicBezTo>
                  <a:cubicBezTo>
                    <a:pt x="24454" y="5363"/>
                    <a:pt x="37401" y="0"/>
                    <a:pt x="50900" y="0"/>
                  </a:cubicBezTo>
                  <a:close/>
                </a:path>
              </a:pathLst>
            </a:custGeom>
            <a:solidFill>
              <a:srgbClr val="00497E"/>
            </a:solidFill>
          </p:spPr>
        </p:sp>
        <p:sp>
          <p:nvSpPr>
            <p:cNvPr name="TextBox 26" id="26"/>
            <p:cNvSpPr txBox="true"/>
            <p:nvPr/>
          </p:nvSpPr>
          <p:spPr>
            <a:xfrm>
              <a:off x="0" y="-38100"/>
              <a:ext cx="855760" cy="323402"/>
            </a:xfrm>
            <a:prstGeom prst="rect">
              <a:avLst/>
            </a:prstGeom>
          </p:spPr>
          <p:txBody>
            <a:bodyPr anchor="ctr" rtlCol="false" tIns="50800" lIns="50800" bIns="50800" rIns="50800"/>
            <a:lstStyle/>
            <a:p>
              <a:pPr algn="ctr">
                <a:lnSpc>
                  <a:spcPts val="2100"/>
                </a:lnSpc>
              </a:pPr>
            </a:p>
          </p:txBody>
        </p:sp>
      </p:grpSp>
      <p:grpSp>
        <p:nvGrpSpPr>
          <p:cNvPr name="Group 27" id="27"/>
          <p:cNvGrpSpPr/>
          <p:nvPr/>
        </p:nvGrpSpPr>
        <p:grpSpPr>
          <a:xfrm rot="0">
            <a:off x="10637275" y="5976072"/>
            <a:ext cx="1100297" cy="110029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161833" y="0"/>
                  </a:moveTo>
                  <a:lnTo>
                    <a:pt x="650967" y="0"/>
                  </a:lnTo>
                  <a:cubicBezTo>
                    <a:pt x="740345" y="0"/>
                    <a:pt x="812800" y="72455"/>
                    <a:pt x="812800" y="161833"/>
                  </a:cubicBezTo>
                  <a:lnTo>
                    <a:pt x="812800" y="650967"/>
                  </a:lnTo>
                  <a:cubicBezTo>
                    <a:pt x="812800" y="740345"/>
                    <a:pt x="740345" y="812800"/>
                    <a:pt x="650967" y="812800"/>
                  </a:cubicBezTo>
                  <a:lnTo>
                    <a:pt x="161833" y="812800"/>
                  </a:lnTo>
                  <a:cubicBezTo>
                    <a:pt x="72455" y="812800"/>
                    <a:pt x="0" y="740345"/>
                    <a:pt x="0" y="650967"/>
                  </a:cubicBezTo>
                  <a:lnTo>
                    <a:pt x="0" y="161833"/>
                  </a:lnTo>
                  <a:cubicBezTo>
                    <a:pt x="0" y="72455"/>
                    <a:pt x="72455" y="0"/>
                    <a:pt x="161833" y="0"/>
                  </a:cubicBezTo>
                  <a:close/>
                </a:path>
              </a:pathLst>
            </a:custGeom>
            <a:blipFill>
              <a:blip r:embed="rId16"/>
              <a:stretch>
                <a:fillRect l="-24931" t="0" r="-24931" b="0"/>
              </a:stretch>
            </a:blipFill>
          </p:spPr>
        </p:sp>
      </p:grpSp>
      <p:grpSp>
        <p:nvGrpSpPr>
          <p:cNvPr name="Group 29" id="29"/>
          <p:cNvGrpSpPr/>
          <p:nvPr/>
        </p:nvGrpSpPr>
        <p:grpSpPr>
          <a:xfrm rot="0">
            <a:off x="3655284" y="5832936"/>
            <a:ext cx="4158996" cy="1386569"/>
            <a:chOff x="0" y="0"/>
            <a:chExt cx="855760" cy="285302"/>
          </a:xfrm>
        </p:grpSpPr>
        <p:sp>
          <p:nvSpPr>
            <p:cNvPr name="Freeform 30" id="30"/>
            <p:cNvSpPr/>
            <p:nvPr/>
          </p:nvSpPr>
          <p:spPr>
            <a:xfrm flipH="false" flipV="false" rot="0">
              <a:off x="0" y="0"/>
              <a:ext cx="855760" cy="285302"/>
            </a:xfrm>
            <a:custGeom>
              <a:avLst/>
              <a:gdLst/>
              <a:ahLst/>
              <a:cxnLst/>
              <a:rect r="r" b="b" t="t" l="l"/>
              <a:pathLst>
                <a:path h="285302" w="855760">
                  <a:moveTo>
                    <a:pt x="50900" y="0"/>
                  </a:moveTo>
                  <a:lnTo>
                    <a:pt x="804860" y="0"/>
                  </a:lnTo>
                  <a:cubicBezTo>
                    <a:pt x="818360" y="0"/>
                    <a:pt x="831307" y="5363"/>
                    <a:pt x="840852" y="14908"/>
                  </a:cubicBezTo>
                  <a:cubicBezTo>
                    <a:pt x="850398" y="24454"/>
                    <a:pt x="855760" y="37401"/>
                    <a:pt x="855760" y="50900"/>
                  </a:cubicBezTo>
                  <a:lnTo>
                    <a:pt x="855760" y="234402"/>
                  </a:lnTo>
                  <a:cubicBezTo>
                    <a:pt x="855760" y="247902"/>
                    <a:pt x="850398" y="260848"/>
                    <a:pt x="840852" y="270394"/>
                  </a:cubicBezTo>
                  <a:cubicBezTo>
                    <a:pt x="831307" y="279940"/>
                    <a:pt x="818360" y="285302"/>
                    <a:pt x="804860" y="285302"/>
                  </a:cubicBezTo>
                  <a:lnTo>
                    <a:pt x="50900" y="285302"/>
                  </a:lnTo>
                  <a:cubicBezTo>
                    <a:pt x="37401" y="285302"/>
                    <a:pt x="24454" y="279940"/>
                    <a:pt x="14908" y="270394"/>
                  </a:cubicBezTo>
                  <a:cubicBezTo>
                    <a:pt x="5363" y="260848"/>
                    <a:pt x="0" y="247902"/>
                    <a:pt x="0" y="234402"/>
                  </a:cubicBezTo>
                  <a:lnTo>
                    <a:pt x="0" y="50900"/>
                  </a:lnTo>
                  <a:cubicBezTo>
                    <a:pt x="0" y="37401"/>
                    <a:pt x="5363" y="24454"/>
                    <a:pt x="14908" y="14908"/>
                  </a:cubicBezTo>
                  <a:cubicBezTo>
                    <a:pt x="24454" y="5363"/>
                    <a:pt x="37401" y="0"/>
                    <a:pt x="50900" y="0"/>
                  </a:cubicBezTo>
                  <a:close/>
                </a:path>
              </a:pathLst>
            </a:custGeom>
            <a:solidFill>
              <a:srgbClr val="00497E"/>
            </a:solidFill>
          </p:spPr>
        </p:sp>
        <p:sp>
          <p:nvSpPr>
            <p:cNvPr name="TextBox 31" id="31"/>
            <p:cNvSpPr txBox="true"/>
            <p:nvPr/>
          </p:nvSpPr>
          <p:spPr>
            <a:xfrm>
              <a:off x="0" y="-38100"/>
              <a:ext cx="855760" cy="323402"/>
            </a:xfrm>
            <a:prstGeom prst="rect">
              <a:avLst/>
            </a:prstGeom>
          </p:spPr>
          <p:txBody>
            <a:bodyPr anchor="ctr" rtlCol="false" tIns="50800" lIns="50800" bIns="50800" rIns="50800"/>
            <a:lstStyle/>
            <a:p>
              <a:pPr algn="ctr">
                <a:lnSpc>
                  <a:spcPts val="2100"/>
                </a:lnSpc>
              </a:pPr>
            </a:p>
          </p:txBody>
        </p:sp>
      </p:grpSp>
      <p:grpSp>
        <p:nvGrpSpPr>
          <p:cNvPr name="Group 32" id="32"/>
          <p:cNvGrpSpPr/>
          <p:nvPr/>
        </p:nvGrpSpPr>
        <p:grpSpPr>
          <a:xfrm rot="0">
            <a:off x="3818839" y="5976072"/>
            <a:ext cx="1100297" cy="110029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161833" y="0"/>
                  </a:moveTo>
                  <a:lnTo>
                    <a:pt x="650967" y="0"/>
                  </a:lnTo>
                  <a:cubicBezTo>
                    <a:pt x="740345" y="0"/>
                    <a:pt x="812800" y="72455"/>
                    <a:pt x="812800" y="161833"/>
                  </a:cubicBezTo>
                  <a:lnTo>
                    <a:pt x="812800" y="650967"/>
                  </a:lnTo>
                  <a:cubicBezTo>
                    <a:pt x="812800" y="740345"/>
                    <a:pt x="740345" y="812800"/>
                    <a:pt x="650967" y="812800"/>
                  </a:cubicBezTo>
                  <a:lnTo>
                    <a:pt x="161833" y="812800"/>
                  </a:lnTo>
                  <a:cubicBezTo>
                    <a:pt x="72455" y="812800"/>
                    <a:pt x="0" y="740345"/>
                    <a:pt x="0" y="650967"/>
                  </a:cubicBezTo>
                  <a:lnTo>
                    <a:pt x="0" y="161833"/>
                  </a:lnTo>
                  <a:cubicBezTo>
                    <a:pt x="0" y="72455"/>
                    <a:pt x="72455" y="0"/>
                    <a:pt x="161833" y="0"/>
                  </a:cubicBezTo>
                  <a:close/>
                </a:path>
              </a:pathLst>
            </a:custGeom>
            <a:blipFill>
              <a:blip r:embed="rId17"/>
              <a:stretch>
                <a:fillRect l="0" t="-16585" r="0" b="-16585"/>
              </a:stretch>
            </a:blipFill>
          </p:spPr>
        </p:sp>
      </p:grpSp>
      <p:sp>
        <p:nvSpPr>
          <p:cNvPr name="TextBox 34" id="34"/>
          <p:cNvSpPr txBox="true"/>
          <p:nvPr/>
        </p:nvSpPr>
        <p:spPr>
          <a:xfrm rot="0">
            <a:off x="5047604" y="4076119"/>
            <a:ext cx="2699774" cy="504825"/>
          </a:xfrm>
          <a:prstGeom prst="rect">
            <a:avLst/>
          </a:prstGeom>
        </p:spPr>
        <p:txBody>
          <a:bodyPr anchor="t" rtlCol="false" tIns="0" lIns="0" bIns="0" rIns="0">
            <a:spAutoFit/>
          </a:bodyPr>
          <a:lstStyle/>
          <a:p>
            <a:pPr algn="l">
              <a:lnSpc>
                <a:spcPts val="4199"/>
              </a:lnSpc>
            </a:pPr>
            <a:r>
              <a:rPr lang="en-US" sz="2999" b="true">
                <a:solidFill>
                  <a:srgbClr val="FFFFFF"/>
                </a:solidFill>
                <a:latin typeface="Cormorant Garamond Bold"/>
                <a:ea typeface="Cormorant Garamond Bold"/>
                <a:cs typeface="Cormorant Garamond Bold"/>
                <a:sym typeface="Cormorant Garamond Bold"/>
              </a:rPr>
              <a:t>Oliver</a:t>
            </a:r>
            <a:r>
              <a:rPr lang="en-US" sz="2999" b="true">
                <a:solidFill>
                  <a:srgbClr val="FFFFFF"/>
                </a:solidFill>
                <a:latin typeface="Cormorant Garamond Bold"/>
                <a:ea typeface="Cormorant Garamond Bold"/>
                <a:cs typeface="Cormorant Garamond Bold"/>
                <a:sym typeface="Cormorant Garamond Bold"/>
              </a:rPr>
              <a:t> Shaw</a:t>
            </a:r>
          </a:p>
        </p:txBody>
      </p:sp>
      <p:sp>
        <p:nvSpPr>
          <p:cNvPr name="TextBox 35" id="35"/>
          <p:cNvSpPr txBox="true"/>
          <p:nvPr/>
        </p:nvSpPr>
        <p:spPr>
          <a:xfrm rot="0">
            <a:off x="5047604" y="6245233"/>
            <a:ext cx="2699774" cy="504825"/>
          </a:xfrm>
          <a:prstGeom prst="rect">
            <a:avLst/>
          </a:prstGeom>
        </p:spPr>
        <p:txBody>
          <a:bodyPr anchor="t" rtlCol="false" tIns="0" lIns="0" bIns="0" rIns="0">
            <a:spAutoFit/>
          </a:bodyPr>
          <a:lstStyle/>
          <a:p>
            <a:pPr algn="l">
              <a:lnSpc>
                <a:spcPts val="4199"/>
              </a:lnSpc>
            </a:pPr>
            <a:r>
              <a:rPr lang="en-US" sz="2999" b="true">
                <a:solidFill>
                  <a:srgbClr val="FFFFFF"/>
                </a:solidFill>
                <a:latin typeface="Cormorant Garamond Bold"/>
                <a:ea typeface="Cormorant Garamond Bold"/>
                <a:cs typeface="Cormorant Garamond Bold"/>
                <a:sym typeface="Cormorant Garamond Bold"/>
              </a:rPr>
              <a:t>Arjun Mehta</a:t>
            </a:r>
          </a:p>
        </p:txBody>
      </p:sp>
      <p:sp>
        <p:nvSpPr>
          <p:cNvPr name="TextBox 36" id="36"/>
          <p:cNvSpPr txBox="true"/>
          <p:nvPr/>
        </p:nvSpPr>
        <p:spPr>
          <a:xfrm rot="0">
            <a:off x="11861397" y="6245233"/>
            <a:ext cx="2699774" cy="504825"/>
          </a:xfrm>
          <a:prstGeom prst="rect">
            <a:avLst/>
          </a:prstGeom>
        </p:spPr>
        <p:txBody>
          <a:bodyPr anchor="t" rtlCol="false" tIns="0" lIns="0" bIns="0" rIns="0">
            <a:spAutoFit/>
          </a:bodyPr>
          <a:lstStyle/>
          <a:p>
            <a:pPr algn="l">
              <a:lnSpc>
                <a:spcPts val="4199"/>
              </a:lnSpc>
            </a:pPr>
            <a:r>
              <a:rPr lang="en-US" sz="2999" b="true">
                <a:solidFill>
                  <a:srgbClr val="FFFFFF"/>
                </a:solidFill>
                <a:latin typeface="Cormorant Garamond Bold"/>
                <a:ea typeface="Cormorant Garamond Bold"/>
                <a:cs typeface="Cormorant Garamond Bold"/>
                <a:sym typeface="Cormorant Garamond Bold"/>
              </a:rPr>
              <a:t>Zain</a:t>
            </a:r>
            <a:r>
              <a:rPr lang="en-US" sz="2999" b="true">
                <a:solidFill>
                  <a:srgbClr val="FFFFFF"/>
                </a:solidFill>
                <a:latin typeface="Cormorant Garamond Bold"/>
                <a:ea typeface="Cormorant Garamond Bold"/>
                <a:cs typeface="Cormorant Garamond Bold"/>
                <a:sym typeface="Cormorant Garamond Bold"/>
              </a:rPr>
              <a:t> Ahmed</a:t>
            </a:r>
          </a:p>
        </p:txBody>
      </p:sp>
      <p:sp>
        <p:nvSpPr>
          <p:cNvPr name="TextBox 37" id="37"/>
          <p:cNvSpPr txBox="true"/>
          <p:nvPr/>
        </p:nvSpPr>
        <p:spPr>
          <a:xfrm rot="0">
            <a:off x="11861397" y="4076119"/>
            <a:ext cx="2699774" cy="504825"/>
          </a:xfrm>
          <a:prstGeom prst="rect">
            <a:avLst/>
          </a:prstGeom>
        </p:spPr>
        <p:txBody>
          <a:bodyPr anchor="t" rtlCol="false" tIns="0" lIns="0" bIns="0" rIns="0">
            <a:spAutoFit/>
          </a:bodyPr>
          <a:lstStyle/>
          <a:p>
            <a:pPr algn="l">
              <a:lnSpc>
                <a:spcPts val="4199"/>
              </a:lnSpc>
            </a:pPr>
            <a:r>
              <a:rPr lang="en-US" sz="2999" b="true">
                <a:solidFill>
                  <a:srgbClr val="FFFFFF"/>
                </a:solidFill>
                <a:latin typeface="Cormorant Garamond Bold"/>
                <a:ea typeface="Cormorant Garamond Bold"/>
                <a:cs typeface="Cormorant Garamond Bold"/>
                <a:sym typeface="Cormorant Garamond Bold"/>
              </a:rPr>
              <a:t>Aaron</a:t>
            </a:r>
            <a:r>
              <a:rPr lang="en-US" sz="2999" b="true">
                <a:solidFill>
                  <a:srgbClr val="FFFFFF"/>
                </a:solidFill>
                <a:latin typeface="Cormorant Garamond Bold"/>
                <a:ea typeface="Cormorant Garamond Bold"/>
                <a:cs typeface="Cormorant Garamond Bold"/>
                <a:sym typeface="Cormorant Garamond Bold"/>
              </a:rPr>
              <a:t> Mensah</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408807" y="4841298"/>
            <a:ext cx="5108941" cy="5866216"/>
          </a:xfrm>
          <a:custGeom>
            <a:avLst/>
            <a:gdLst/>
            <a:ahLst/>
            <a:cxnLst/>
            <a:rect r="r" b="b" t="t" l="l"/>
            <a:pathLst>
              <a:path h="5866216" w="5108941">
                <a:moveTo>
                  <a:pt x="0" y="0"/>
                </a:moveTo>
                <a:lnTo>
                  <a:pt x="5108940" y="0"/>
                </a:lnTo>
                <a:lnTo>
                  <a:pt x="5108940" y="5866216"/>
                </a:lnTo>
                <a:lnTo>
                  <a:pt x="0" y="58662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918093">
            <a:off x="12198120" y="-2779055"/>
            <a:ext cx="7195419" cy="7615511"/>
          </a:xfrm>
          <a:custGeom>
            <a:avLst/>
            <a:gdLst/>
            <a:ahLst/>
            <a:cxnLst/>
            <a:rect r="r" b="b" t="t" l="l"/>
            <a:pathLst>
              <a:path h="7615511" w="7195419">
                <a:moveTo>
                  <a:pt x="0" y="0"/>
                </a:moveTo>
                <a:lnTo>
                  <a:pt x="7195419" y="0"/>
                </a:lnTo>
                <a:lnTo>
                  <a:pt x="7195419" y="7615510"/>
                </a:lnTo>
                <a:lnTo>
                  <a:pt x="0" y="7615510"/>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608253" y="8944206"/>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759229" y="7269517"/>
            <a:ext cx="11604374" cy="5041492"/>
            <a:chOff x="0" y="0"/>
            <a:chExt cx="15472498" cy="6721989"/>
          </a:xfrm>
        </p:grpSpPr>
        <p:sp>
          <p:nvSpPr>
            <p:cNvPr name="Freeform 6" id="6"/>
            <p:cNvSpPr/>
            <p:nvPr/>
          </p:nvSpPr>
          <p:spPr>
            <a:xfrm flipH="false" flipV="false" rot="0">
              <a:off x="0" y="0"/>
              <a:ext cx="12063149" cy="4583997"/>
            </a:xfrm>
            <a:custGeom>
              <a:avLst/>
              <a:gdLst/>
              <a:ahLst/>
              <a:cxnLst/>
              <a:rect r="r" b="b" t="t" l="l"/>
              <a:pathLst>
                <a:path h="4583997" w="12063149">
                  <a:moveTo>
                    <a:pt x="0" y="0"/>
                  </a:moveTo>
                  <a:lnTo>
                    <a:pt x="12063149" y="0"/>
                  </a:lnTo>
                  <a:lnTo>
                    <a:pt x="12063149" y="4583997"/>
                  </a:lnTo>
                  <a:lnTo>
                    <a:pt x="0" y="45839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2046687">
              <a:off x="10932289" y="3027763"/>
              <a:ext cx="4114800" cy="2779538"/>
              <a:chOff x="0" y="0"/>
              <a:chExt cx="635000" cy="428941"/>
            </a:xfrm>
          </p:grpSpPr>
          <p:sp>
            <p:nvSpPr>
              <p:cNvPr name="Freeform 8" id="8"/>
              <p:cNvSpPr/>
              <p:nvPr/>
            </p:nvSpPr>
            <p:spPr>
              <a:xfrm flipH="false" flipV="false" rot="0">
                <a:off x="0" y="0"/>
                <a:ext cx="635000" cy="428941"/>
              </a:xfrm>
              <a:custGeom>
                <a:avLst/>
                <a:gdLst/>
                <a:ahLst/>
                <a:cxnLst/>
                <a:rect r="r" b="b" t="t" l="l"/>
                <a:pathLst>
                  <a:path h="428941" w="635000">
                    <a:moveTo>
                      <a:pt x="0" y="0"/>
                    </a:moveTo>
                    <a:lnTo>
                      <a:pt x="635000" y="0"/>
                    </a:lnTo>
                    <a:lnTo>
                      <a:pt x="635000" y="428941"/>
                    </a:lnTo>
                    <a:lnTo>
                      <a:pt x="0" y="428941"/>
                    </a:lnTo>
                    <a:close/>
                  </a:path>
                </a:pathLst>
              </a:custGeom>
              <a:solidFill>
                <a:srgbClr val="E61E26"/>
              </a:solidFill>
            </p:spPr>
          </p:sp>
          <p:sp>
            <p:nvSpPr>
              <p:cNvPr name="TextBox 9" id="9"/>
              <p:cNvSpPr txBox="true"/>
              <p:nvPr/>
            </p:nvSpPr>
            <p:spPr>
              <a:xfrm>
                <a:off x="0" y="-38100"/>
                <a:ext cx="635000" cy="467041"/>
              </a:xfrm>
              <a:prstGeom prst="rect">
                <a:avLst/>
              </a:prstGeom>
            </p:spPr>
            <p:txBody>
              <a:bodyPr anchor="ctr" rtlCol="false" tIns="50800" lIns="50800" bIns="50800" rIns="50800"/>
              <a:lstStyle/>
              <a:p>
                <a:pPr algn="ctr">
                  <a:lnSpc>
                    <a:spcPts val="2100"/>
                  </a:lnSpc>
                </a:pPr>
              </a:p>
            </p:txBody>
          </p:sp>
        </p:grpSp>
      </p:grpSp>
      <p:sp>
        <p:nvSpPr>
          <p:cNvPr name="Freeform 10" id="10"/>
          <p:cNvSpPr/>
          <p:nvPr/>
        </p:nvSpPr>
        <p:spPr>
          <a:xfrm flipH="false" flipV="false" rot="1282574">
            <a:off x="-5880789" y="63755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12" id="12"/>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13" id="13"/>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4" id="14"/>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Conclusion</a:t>
            </a:r>
          </a:p>
        </p:txBody>
      </p:sp>
      <p:sp>
        <p:nvSpPr>
          <p:cNvPr name="TextBox 15" id="15"/>
          <p:cNvSpPr txBox="true"/>
          <p:nvPr/>
        </p:nvSpPr>
        <p:spPr>
          <a:xfrm rot="0">
            <a:off x="3294389" y="2986205"/>
            <a:ext cx="11699222" cy="4789805"/>
          </a:xfrm>
          <a:prstGeom prst="rect">
            <a:avLst/>
          </a:prstGeom>
        </p:spPr>
        <p:txBody>
          <a:bodyPr anchor="t" rtlCol="false" tIns="0" lIns="0" bIns="0" rIns="0">
            <a:spAutoFit/>
          </a:bodyPr>
          <a:lstStyle/>
          <a:p>
            <a:pPr algn="ctr">
              <a:lnSpc>
                <a:spcPts val="3220"/>
              </a:lnSpc>
            </a:pPr>
            <a:r>
              <a:rPr lang="en-US" sz="2300">
                <a:solidFill>
                  <a:srgbClr val="042147"/>
                </a:solidFill>
                <a:latin typeface="DM Sans"/>
                <a:ea typeface="DM Sans"/>
                <a:cs typeface="DM Sans"/>
                <a:sym typeface="DM Sans"/>
              </a:rPr>
              <a:t>Lo</a:t>
            </a:r>
            <a:r>
              <a:rPr lang="en-US" sz="2300">
                <a:solidFill>
                  <a:srgbClr val="042147"/>
                </a:solidFill>
                <a:latin typeface="DM Sans"/>
                <a:ea typeface="DM Sans"/>
                <a:cs typeface="DM Sans"/>
                <a:sym typeface="DM Sans"/>
              </a:rPr>
              <a:t>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ctr">
              <a:lnSpc>
                <a:spcPts val="3220"/>
              </a:lnSpc>
            </a:pPr>
          </a:p>
          <a:p>
            <a:pPr algn="ctr">
              <a:lnSpc>
                <a:spcPts val="3220"/>
              </a:lnSpc>
            </a:pPr>
            <a:r>
              <a:rPr lang="en-US" sz="2300">
                <a:solidFill>
                  <a:srgbClr val="042147"/>
                </a:solidFill>
                <a:latin typeface="DM Sans"/>
                <a:ea typeface="DM Sans"/>
                <a:cs typeface="DM Sans"/>
                <a:sym typeface="DM Sans"/>
              </a:rPr>
              <a:t>Sed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 voluptatem sequi nesciunt.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01082">
            <a:off x="8353544" y="7683235"/>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1303" y="6765879"/>
            <a:ext cx="7183644" cy="3905290"/>
          </a:xfrm>
          <a:custGeom>
            <a:avLst/>
            <a:gdLst/>
            <a:ahLst/>
            <a:cxnLst/>
            <a:rect r="r" b="b" t="t" l="l"/>
            <a:pathLst>
              <a:path h="3905290" w="7183644">
                <a:moveTo>
                  <a:pt x="0" y="0"/>
                </a:moveTo>
                <a:lnTo>
                  <a:pt x="7183644" y="0"/>
                </a:lnTo>
                <a:lnTo>
                  <a:pt x="7183644"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38863" y="714606"/>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282574">
            <a:off x="-5880789" y="637557"/>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8">
              <a:extLst>
                <a:ext uri="{96DAC541-7B7A-43D3-8B79-37D633B846F1}">
                  <asvg:svgBlip xmlns:asvg="http://schemas.microsoft.com/office/drawing/2016/SVG/main" r:embed="rId9"/>
                </a:ext>
              </a:extLst>
            </a:blip>
            <a:stretch>
              <a:fillRect l="0" t="0" r="-21157" b="-4158"/>
            </a:stretch>
          </a:blipFill>
        </p:spPr>
      </p:sp>
      <p:sp>
        <p:nvSpPr>
          <p:cNvPr name="TextBox 7" id="7"/>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8" id="8"/>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8">
              <a:extLst>
                <a:ext uri="{96DAC541-7B7A-43D3-8B79-37D633B846F1}">
                  <asvg:svgBlip xmlns:asvg="http://schemas.microsoft.com/office/drawing/2016/SVG/main" r:embed="rId9"/>
                </a:ext>
              </a:extLst>
            </a:blip>
            <a:stretch>
              <a:fillRect l="0" t="-2099" r="-10598" b="-1584"/>
            </a:stretch>
          </a:blipFill>
        </p:spPr>
      </p:sp>
      <p:sp>
        <p:nvSpPr>
          <p:cNvPr name="Freeform 9" id="9"/>
          <p:cNvSpPr/>
          <p:nvPr/>
        </p:nvSpPr>
        <p:spPr>
          <a:xfrm flipH="false" flipV="false" rot="-5400000">
            <a:off x="15111306" y="5391884"/>
            <a:ext cx="4295988" cy="5956434"/>
          </a:xfrm>
          <a:custGeom>
            <a:avLst/>
            <a:gdLst/>
            <a:ahLst/>
            <a:cxnLst/>
            <a:rect r="r" b="b" t="t" l="l"/>
            <a:pathLst>
              <a:path h="5956434" w="4295988">
                <a:moveTo>
                  <a:pt x="0" y="0"/>
                </a:moveTo>
                <a:lnTo>
                  <a:pt x="4295988" y="0"/>
                </a:lnTo>
                <a:lnTo>
                  <a:pt x="4295988" y="5956434"/>
                </a:lnTo>
                <a:lnTo>
                  <a:pt x="0" y="5956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2675534" y="5308595"/>
            <a:ext cx="802744" cy="516675"/>
          </a:xfrm>
          <a:custGeom>
            <a:avLst/>
            <a:gdLst/>
            <a:ahLst/>
            <a:cxnLst/>
            <a:rect r="r" b="b" t="t" l="l"/>
            <a:pathLst>
              <a:path h="516675" w="802744">
                <a:moveTo>
                  <a:pt x="0" y="0"/>
                </a:moveTo>
                <a:lnTo>
                  <a:pt x="802743" y="0"/>
                </a:lnTo>
                <a:lnTo>
                  <a:pt x="802743" y="516675"/>
                </a:lnTo>
                <a:lnTo>
                  <a:pt x="0" y="5166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2663128" y="4171115"/>
            <a:ext cx="802744" cy="777932"/>
          </a:xfrm>
          <a:custGeom>
            <a:avLst/>
            <a:gdLst/>
            <a:ahLst/>
            <a:cxnLst/>
            <a:rect r="r" b="b" t="t" l="l"/>
            <a:pathLst>
              <a:path h="777932" w="802744">
                <a:moveTo>
                  <a:pt x="0" y="0"/>
                </a:moveTo>
                <a:lnTo>
                  <a:pt x="802743" y="0"/>
                </a:lnTo>
                <a:lnTo>
                  <a:pt x="802743" y="777932"/>
                </a:lnTo>
                <a:lnTo>
                  <a:pt x="0" y="7779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2751418" y="6184819"/>
            <a:ext cx="626163" cy="782704"/>
          </a:xfrm>
          <a:custGeom>
            <a:avLst/>
            <a:gdLst/>
            <a:ahLst/>
            <a:cxnLst/>
            <a:rect r="r" b="b" t="t" l="l"/>
            <a:pathLst>
              <a:path h="782704" w="626163">
                <a:moveTo>
                  <a:pt x="0" y="0"/>
                </a:moveTo>
                <a:lnTo>
                  <a:pt x="626163" y="0"/>
                </a:lnTo>
                <a:lnTo>
                  <a:pt x="626163" y="782704"/>
                </a:lnTo>
                <a:lnTo>
                  <a:pt x="0" y="7827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2687940" y="3033830"/>
            <a:ext cx="777932" cy="777932"/>
          </a:xfrm>
          <a:custGeom>
            <a:avLst/>
            <a:gdLst/>
            <a:ahLst/>
            <a:cxnLst/>
            <a:rect r="r" b="b" t="t" l="l"/>
            <a:pathLst>
              <a:path h="777932" w="777932">
                <a:moveTo>
                  <a:pt x="0" y="0"/>
                </a:moveTo>
                <a:lnTo>
                  <a:pt x="777931" y="0"/>
                </a:lnTo>
                <a:lnTo>
                  <a:pt x="777931" y="777932"/>
                </a:lnTo>
                <a:lnTo>
                  <a:pt x="0" y="7779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4" id="14"/>
          <p:cNvSpPr txBox="true"/>
          <p:nvPr/>
        </p:nvSpPr>
        <p:spPr>
          <a:xfrm rot="0">
            <a:off x="4241412" y="866775"/>
            <a:ext cx="9805176" cy="1500511"/>
          </a:xfrm>
          <a:prstGeom prst="rect">
            <a:avLst/>
          </a:prstGeom>
        </p:spPr>
        <p:txBody>
          <a:bodyPr anchor="t" rtlCol="false" tIns="0" lIns="0" bIns="0" rIns="0">
            <a:spAutoFit/>
          </a:bodyPr>
          <a:lstStyle/>
          <a:p>
            <a:pPr algn="ctr">
              <a:lnSpc>
                <a:spcPts val="12319"/>
              </a:lnSpc>
            </a:pPr>
            <a:r>
              <a:rPr lang="en-US" sz="8799" b="true">
                <a:solidFill>
                  <a:srgbClr val="042147"/>
                </a:solidFill>
                <a:latin typeface="Cormorant Garamond Bold"/>
                <a:ea typeface="Cormorant Garamond Bold"/>
                <a:cs typeface="Cormorant Garamond Bold"/>
                <a:sym typeface="Cormorant Garamond Bold"/>
              </a:rPr>
              <a:t>Contact Us</a:t>
            </a:r>
          </a:p>
        </p:txBody>
      </p:sp>
      <p:sp>
        <p:nvSpPr>
          <p:cNvPr name="TextBox 15" id="15"/>
          <p:cNvSpPr txBox="true"/>
          <p:nvPr/>
        </p:nvSpPr>
        <p:spPr>
          <a:xfrm rot="0">
            <a:off x="3694471" y="3141808"/>
            <a:ext cx="4776892" cy="504825"/>
          </a:xfrm>
          <a:prstGeom prst="rect">
            <a:avLst/>
          </a:prstGeom>
        </p:spPr>
        <p:txBody>
          <a:bodyPr anchor="t" rtlCol="false" tIns="0" lIns="0" bIns="0" rIns="0">
            <a:spAutoFit/>
          </a:bodyPr>
          <a:lstStyle/>
          <a:p>
            <a:pPr algn="l">
              <a:lnSpc>
                <a:spcPts val="4199"/>
              </a:lnSpc>
            </a:pPr>
            <a:r>
              <a:rPr lang="en-US" sz="2999" b="true">
                <a:solidFill>
                  <a:srgbClr val="042147"/>
                </a:solidFill>
                <a:latin typeface="Cormorant Garamond Bold"/>
                <a:ea typeface="Cormorant Garamond Bold"/>
                <a:cs typeface="Cormorant Garamond Bold"/>
                <a:sym typeface="Cormorant Garamond Bold"/>
              </a:rPr>
              <a:t>www.</a:t>
            </a:r>
            <a:r>
              <a:rPr lang="en-US" sz="2999" b="true">
                <a:solidFill>
                  <a:srgbClr val="042147"/>
                </a:solidFill>
                <a:latin typeface="Cormorant Garamond Bold"/>
                <a:ea typeface="Cormorant Garamond Bold"/>
                <a:cs typeface="Cormorant Garamond Bold"/>
                <a:sym typeface="Cormorant Garamond Bold"/>
              </a:rPr>
              <a:t>reallygreatsite.com</a:t>
            </a:r>
          </a:p>
        </p:txBody>
      </p:sp>
      <p:sp>
        <p:nvSpPr>
          <p:cNvPr name="TextBox 16" id="16"/>
          <p:cNvSpPr txBox="true"/>
          <p:nvPr/>
        </p:nvSpPr>
        <p:spPr>
          <a:xfrm rot="0">
            <a:off x="3694471" y="4290841"/>
            <a:ext cx="4776892" cy="504825"/>
          </a:xfrm>
          <a:prstGeom prst="rect">
            <a:avLst/>
          </a:prstGeom>
        </p:spPr>
        <p:txBody>
          <a:bodyPr anchor="t" rtlCol="false" tIns="0" lIns="0" bIns="0" rIns="0">
            <a:spAutoFit/>
          </a:bodyPr>
          <a:lstStyle/>
          <a:p>
            <a:pPr algn="l">
              <a:lnSpc>
                <a:spcPts val="4199"/>
              </a:lnSpc>
            </a:pPr>
            <a:r>
              <a:rPr lang="en-US" sz="2999" b="true">
                <a:solidFill>
                  <a:srgbClr val="042147"/>
                </a:solidFill>
                <a:latin typeface="Cormorant Garamond Bold"/>
                <a:ea typeface="Cormorant Garamond Bold"/>
                <a:cs typeface="Cormorant Garamond Bold"/>
                <a:sym typeface="Cormorant Garamond Bold"/>
              </a:rPr>
              <a:t>123-456-7890</a:t>
            </a:r>
          </a:p>
        </p:txBody>
      </p:sp>
      <p:sp>
        <p:nvSpPr>
          <p:cNvPr name="TextBox 17" id="17"/>
          <p:cNvSpPr txBox="true"/>
          <p:nvPr/>
        </p:nvSpPr>
        <p:spPr>
          <a:xfrm rot="0">
            <a:off x="3694471" y="5343940"/>
            <a:ext cx="4776892" cy="504825"/>
          </a:xfrm>
          <a:prstGeom prst="rect">
            <a:avLst/>
          </a:prstGeom>
        </p:spPr>
        <p:txBody>
          <a:bodyPr anchor="t" rtlCol="false" tIns="0" lIns="0" bIns="0" rIns="0">
            <a:spAutoFit/>
          </a:bodyPr>
          <a:lstStyle/>
          <a:p>
            <a:pPr algn="l">
              <a:lnSpc>
                <a:spcPts val="4199"/>
              </a:lnSpc>
            </a:pPr>
            <a:r>
              <a:rPr lang="en-US" sz="2999" b="true">
                <a:solidFill>
                  <a:srgbClr val="042147"/>
                </a:solidFill>
                <a:latin typeface="Cormorant Garamond Bold"/>
                <a:ea typeface="Cormorant Garamond Bold"/>
                <a:cs typeface="Cormorant Garamond Bold"/>
                <a:sym typeface="Cormorant Garamond Bold"/>
              </a:rPr>
              <a:t>hello@</a:t>
            </a:r>
            <a:r>
              <a:rPr lang="en-US" sz="2999" b="true">
                <a:solidFill>
                  <a:srgbClr val="042147"/>
                </a:solidFill>
                <a:latin typeface="Cormorant Garamond Bold"/>
                <a:ea typeface="Cormorant Garamond Bold"/>
                <a:cs typeface="Cormorant Garamond Bold"/>
                <a:sym typeface="Cormorant Garamond Bold"/>
              </a:rPr>
              <a:t>reallygreatsite.com</a:t>
            </a:r>
          </a:p>
        </p:txBody>
      </p:sp>
      <p:sp>
        <p:nvSpPr>
          <p:cNvPr name="TextBox 18" id="18"/>
          <p:cNvSpPr txBox="true"/>
          <p:nvPr/>
        </p:nvSpPr>
        <p:spPr>
          <a:xfrm rot="0">
            <a:off x="3672856" y="6306931"/>
            <a:ext cx="6306553" cy="504825"/>
          </a:xfrm>
          <a:prstGeom prst="rect">
            <a:avLst/>
          </a:prstGeom>
        </p:spPr>
        <p:txBody>
          <a:bodyPr anchor="t" rtlCol="false" tIns="0" lIns="0" bIns="0" rIns="0">
            <a:spAutoFit/>
          </a:bodyPr>
          <a:lstStyle/>
          <a:p>
            <a:pPr algn="l">
              <a:lnSpc>
                <a:spcPts val="4199"/>
              </a:lnSpc>
            </a:pPr>
            <a:r>
              <a:rPr lang="en-US" sz="2999" b="true">
                <a:solidFill>
                  <a:srgbClr val="042147"/>
                </a:solidFill>
                <a:latin typeface="Cormorant Garamond Bold"/>
                <a:ea typeface="Cormorant Garamond Bold"/>
                <a:cs typeface="Cormorant Garamond Bold"/>
                <a:sym typeface="Cormorant Garamond Bold"/>
              </a:rPr>
              <a:t>123 Anywhe</a:t>
            </a:r>
            <a:r>
              <a:rPr lang="en-US" sz="2999" b="true">
                <a:solidFill>
                  <a:srgbClr val="042147"/>
                </a:solidFill>
                <a:latin typeface="Cormorant Garamond Bold"/>
                <a:ea typeface="Cormorant Garamond Bold"/>
                <a:cs typeface="Cormorant Garamond Bold"/>
                <a:sym typeface="Cormorant Garamond Bold"/>
              </a:rPr>
              <a:t>re St., Any City, ST 12345</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41412" y="2951702"/>
            <a:ext cx="9805176" cy="2139951"/>
          </a:xfrm>
          <a:prstGeom prst="rect">
            <a:avLst/>
          </a:prstGeom>
        </p:spPr>
        <p:txBody>
          <a:bodyPr anchor="t" rtlCol="false" tIns="0" lIns="0" bIns="0" rIns="0">
            <a:spAutoFit/>
          </a:bodyPr>
          <a:lstStyle/>
          <a:p>
            <a:pPr algn="ctr">
              <a:lnSpc>
                <a:spcPts val="17499"/>
              </a:lnSpc>
            </a:pPr>
            <a:r>
              <a:rPr lang="en-US" sz="12499" b="true">
                <a:solidFill>
                  <a:srgbClr val="042147"/>
                </a:solidFill>
                <a:latin typeface="Cormorant Garamond Bold"/>
                <a:ea typeface="Cormorant Garamond Bold"/>
                <a:cs typeface="Cormorant Garamond Bold"/>
                <a:sym typeface="Cormorant Garamond Bold"/>
              </a:rPr>
              <a:t>Thank You</a:t>
            </a:r>
          </a:p>
        </p:txBody>
      </p:sp>
      <p:sp>
        <p:nvSpPr>
          <p:cNvPr name="Freeform 3" id="3"/>
          <p:cNvSpPr/>
          <p:nvPr/>
        </p:nvSpPr>
        <p:spPr>
          <a:xfrm flipH="false" flipV="false" rot="-3918093">
            <a:off x="7207283" y="7457070"/>
            <a:ext cx="7195419" cy="7615511"/>
          </a:xfrm>
          <a:custGeom>
            <a:avLst/>
            <a:gdLst/>
            <a:ahLst/>
            <a:cxnLst/>
            <a:rect r="r" b="b" t="t" l="l"/>
            <a:pathLst>
              <a:path h="7615511" w="7195419">
                <a:moveTo>
                  <a:pt x="0" y="0"/>
                </a:moveTo>
                <a:lnTo>
                  <a:pt x="7195419" y="0"/>
                </a:lnTo>
                <a:lnTo>
                  <a:pt x="7195419" y="7615511"/>
                </a:lnTo>
                <a:lnTo>
                  <a:pt x="0" y="7615511"/>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9372" y="6989550"/>
            <a:ext cx="7183644" cy="3905290"/>
          </a:xfrm>
          <a:custGeom>
            <a:avLst/>
            <a:gdLst/>
            <a:ahLst/>
            <a:cxnLst/>
            <a:rect r="r" b="b" t="t" l="l"/>
            <a:pathLst>
              <a:path h="3905290" w="7183644">
                <a:moveTo>
                  <a:pt x="0" y="0"/>
                </a:moveTo>
                <a:lnTo>
                  <a:pt x="7183644" y="0"/>
                </a:lnTo>
                <a:lnTo>
                  <a:pt x="7183644" y="3905290"/>
                </a:lnTo>
                <a:lnTo>
                  <a:pt x="0" y="39052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304918" y="4761049"/>
            <a:ext cx="1447564" cy="628188"/>
          </a:xfrm>
          <a:custGeom>
            <a:avLst/>
            <a:gdLst/>
            <a:ahLst/>
            <a:cxnLst/>
            <a:rect r="r" b="b" t="t" l="l"/>
            <a:pathLst>
              <a:path h="628188" w="1447564">
                <a:moveTo>
                  <a:pt x="0" y="0"/>
                </a:moveTo>
                <a:lnTo>
                  <a:pt x="1447564" y="0"/>
                </a:lnTo>
                <a:lnTo>
                  <a:pt x="1447564" y="628188"/>
                </a:lnTo>
                <a:lnTo>
                  <a:pt x="0" y="628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1136304" y="3113782"/>
            <a:ext cx="10952735" cy="4162039"/>
          </a:xfrm>
          <a:custGeom>
            <a:avLst/>
            <a:gdLst/>
            <a:ahLst/>
            <a:cxnLst/>
            <a:rect r="r" b="b" t="t" l="l"/>
            <a:pathLst>
              <a:path h="4162039" w="10952735">
                <a:moveTo>
                  <a:pt x="0" y="0"/>
                </a:moveTo>
                <a:lnTo>
                  <a:pt x="10952735" y="0"/>
                </a:lnTo>
                <a:lnTo>
                  <a:pt x="10952735" y="4162039"/>
                </a:lnTo>
                <a:lnTo>
                  <a:pt x="0" y="41620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32684" y="1037874"/>
            <a:ext cx="432986" cy="585638"/>
          </a:xfrm>
          <a:custGeom>
            <a:avLst/>
            <a:gdLst/>
            <a:ahLst/>
            <a:cxnLst/>
            <a:rect r="r" b="b" t="t" l="l"/>
            <a:pathLst>
              <a:path h="585638" w="432986">
                <a:moveTo>
                  <a:pt x="0" y="0"/>
                </a:moveTo>
                <a:lnTo>
                  <a:pt x="432987" y="0"/>
                </a:lnTo>
                <a:lnTo>
                  <a:pt x="432987" y="585638"/>
                </a:lnTo>
                <a:lnTo>
                  <a:pt x="0" y="585638"/>
                </a:lnTo>
                <a:lnTo>
                  <a:pt x="0" y="0"/>
                </a:lnTo>
                <a:close/>
              </a:path>
            </a:pathLst>
          </a:custGeom>
          <a:blipFill>
            <a:blip r:embed="rId10">
              <a:extLst>
                <a:ext uri="{96DAC541-7B7A-43D3-8B79-37D633B846F1}">
                  <asvg:svgBlip xmlns:asvg="http://schemas.microsoft.com/office/drawing/2016/SVG/main" r:embed="rId11"/>
                </a:ext>
              </a:extLst>
            </a:blip>
            <a:stretch>
              <a:fillRect l="0" t="0" r="-21157" b="-4158"/>
            </a:stretch>
          </a:blipFill>
        </p:spPr>
      </p:sp>
      <p:sp>
        <p:nvSpPr>
          <p:cNvPr name="TextBox 8" id="8"/>
          <p:cNvSpPr txBox="true"/>
          <p:nvPr/>
        </p:nvSpPr>
        <p:spPr>
          <a:xfrm rot="0">
            <a:off x="1268082" y="1198060"/>
            <a:ext cx="1535820" cy="266699"/>
          </a:xfrm>
          <a:prstGeom prst="rect">
            <a:avLst/>
          </a:prstGeom>
        </p:spPr>
        <p:txBody>
          <a:bodyPr anchor="t" rtlCol="false" tIns="0" lIns="0" bIns="0" rIns="0">
            <a:spAutoFit/>
          </a:bodyPr>
          <a:lstStyle/>
          <a:p>
            <a:pPr algn="l">
              <a:lnSpc>
                <a:spcPts val="2100"/>
              </a:lnSpc>
            </a:pPr>
            <a:r>
              <a:rPr lang="en-US" sz="1500" b="true">
                <a:solidFill>
                  <a:srgbClr val="042147"/>
                </a:solidFill>
                <a:latin typeface="Cormorant Garamond Bold"/>
                <a:ea typeface="Cormorant Garamond Bold"/>
                <a:cs typeface="Cormorant Garamond Bold"/>
                <a:sym typeface="Cormorant Garamond Bold"/>
              </a:rPr>
              <a:t>Core Solutions</a:t>
            </a:r>
          </a:p>
        </p:txBody>
      </p:sp>
      <p:sp>
        <p:nvSpPr>
          <p:cNvPr name="Freeform 9" id="9"/>
          <p:cNvSpPr/>
          <p:nvPr/>
        </p:nvSpPr>
        <p:spPr>
          <a:xfrm flipH="false" flipV="false" rot="0">
            <a:off x="1032684" y="1050223"/>
            <a:ext cx="474326" cy="588321"/>
          </a:xfrm>
          <a:custGeom>
            <a:avLst/>
            <a:gdLst/>
            <a:ahLst/>
            <a:cxnLst/>
            <a:rect r="r" b="b" t="t" l="l"/>
            <a:pathLst>
              <a:path h="588321" w="474326">
                <a:moveTo>
                  <a:pt x="0" y="0"/>
                </a:moveTo>
                <a:lnTo>
                  <a:pt x="474326" y="0"/>
                </a:lnTo>
                <a:lnTo>
                  <a:pt x="474326" y="588322"/>
                </a:lnTo>
                <a:lnTo>
                  <a:pt x="0" y="588322"/>
                </a:lnTo>
                <a:lnTo>
                  <a:pt x="0" y="0"/>
                </a:lnTo>
                <a:close/>
              </a:path>
            </a:pathLst>
          </a:custGeom>
          <a:blipFill>
            <a:blip r:embed="rId10">
              <a:extLst>
                <a:ext uri="{96DAC541-7B7A-43D3-8B79-37D633B846F1}">
                  <asvg:svgBlip xmlns:asvg="http://schemas.microsoft.com/office/drawing/2016/SVG/main" r:embed="rId11"/>
                </a:ext>
              </a:extLst>
            </a:blip>
            <a:stretch>
              <a:fillRect l="0" t="-2099" r="-10598" b="-1584"/>
            </a:stretch>
          </a:blipFill>
        </p:spPr>
      </p:sp>
      <p:sp>
        <p:nvSpPr>
          <p:cNvPr name="TextBox 10" id="10"/>
          <p:cNvSpPr txBox="true"/>
          <p:nvPr/>
        </p:nvSpPr>
        <p:spPr>
          <a:xfrm rot="0">
            <a:off x="5794414" y="5029226"/>
            <a:ext cx="6699172" cy="523874"/>
          </a:xfrm>
          <a:prstGeom prst="rect">
            <a:avLst/>
          </a:prstGeom>
        </p:spPr>
        <p:txBody>
          <a:bodyPr anchor="t" rtlCol="false" tIns="0" lIns="0" bIns="0" rIns="0">
            <a:spAutoFit/>
          </a:bodyPr>
          <a:lstStyle/>
          <a:p>
            <a:pPr algn="ctr">
              <a:lnSpc>
                <a:spcPts val="4200"/>
              </a:lnSpc>
            </a:pPr>
            <a:r>
              <a:rPr lang="en-US" sz="3000" i="true">
                <a:solidFill>
                  <a:srgbClr val="042147"/>
                </a:solidFill>
                <a:latin typeface="DM Sans Italics"/>
                <a:ea typeface="DM Sans Italics"/>
                <a:cs typeface="DM Sans Italics"/>
                <a:sym typeface="DM Sans Italics"/>
              </a:rPr>
              <a:t> Core 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DAHWaT3b6c8</dc:identifier>
  <dcterms:modified xsi:type="dcterms:W3CDTF">2011-08-01T06:04:30Z</dcterms:modified>
  <cp:revision>1</cp:revision>
  <dc:title>Internship 3 v1</dc:title>
</cp:coreProperties>
</file>