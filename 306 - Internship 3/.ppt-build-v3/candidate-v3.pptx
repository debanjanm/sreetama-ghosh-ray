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d20d4c498e4cd0" /><Relationship Type="http://schemas.openxmlformats.org/officeDocument/2006/relationships/extended-properties" Target="/docProps/app.xml" Id="R76428d104bcb46b9" /><Relationship Type="http://schemas.openxmlformats.org/officeDocument/2006/relationships/officeDocument" Target="/ppt/presentation.xml" Id="R277b2540371e46c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cec38c8655f4212"/>
  </p:sldMasterIdLst>
  <p:notesMasterIdLst>
    <p:notesMasterId xmlns:r="http://schemas.openxmlformats.org/officeDocument/2006/relationships" r:id="Ra463e52ecf894ec8"/>
  </p:notesMasterIdLst>
  <p:sldIdLst>
    <p:sldId xmlns:r="http://schemas.openxmlformats.org/officeDocument/2006/relationships" id="256" r:id="R6c5f1b0cc86a4ee5"/>
    <p:sldId xmlns:r="http://schemas.openxmlformats.org/officeDocument/2006/relationships" id="257" r:id="R984c214a58b7496d"/>
    <p:sldId xmlns:r="http://schemas.openxmlformats.org/officeDocument/2006/relationships" id="258" r:id="R1735ad9d5a064d0c"/>
    <p:sldId xmlns:r="http://schemas.openxmlformats.org/officeDocument/2006/relationships" id="259" r:id="R8cc79080ad02451e"/>
    <p:sldId xmlns:r="http://schemas.openxmlformats.org/officeDocument/2006/relationships" id="260" r:id="Rebed20903b464f3d"/>
    <p:sldId xmlns:r="http://schemas.openxmlformats.org/officeDocument/2006/relationships" id="261" r:id="R8a6dcdf98416410b"/>
    <p:sldId xmlns:r="http://schemas.openxmlformats.org/officeDocument/2006/relationships" id="262" r:id="R9775469e02f14c85"/>
    <p:sldId xmlns:r="http://schemas.openxmlformats.org/officeDocument/2006/relationships" id="263" r:id="R5144999302ef400a"/>
    <p:sldId xmlns:r="http://schemas.openxmlformats.org/officeDocument/2006/relationships" id="264" r:id="Rcdeaa9f5989f481e"/>
    <p:sldId xmlns:r="http://schemas.openxmlformats.org/officeDocument/2006/relationships" id="265" r:id="R5b42ac1185934da9"/>
  </p:sldIdLst>
  <p:sldSz cx="18288000" cy="10287000"/>
  <p:notesSz cx="6858000" cy="9144000"/>
  <p:embeddedFontLst>
    <p:embeddedFont>
      <p:font typeface="Cormorant Garamond Bold"/>
      <p:regular xmlns:r="http://schemas.openxmlformats.org/officeDocument/2006/relationships" r:id="Rf1105755b3d647b0"/>
    </p:embeddedFont>
    <p:embeddedFont>
      <p:font typeface="DM Sans Italics"/>
      <p:regular xmlns:r="http://schemas.openxmlformats.org/officeDocument/2006/relationships" r:id="R8f0508fc5e3d4b27"/>
    </p:embeddedFont>
    <p:embeddedFont>
      <p:font typeface="DM Sans Bold"/>
      <p:regular xmlns:r="http://schemas.openxmlformats.org/officeDocument/2006/relationships" r:id="R8f08b483177b4ac7"/>
    </p:embeddedFont>
    <p:embeddedFont>
      <p:font typeface="DM Sans"/>
      <p:regular xmlns:r="http://schemas.openxmlformats.org/officeDocument/2006/relationships" r:id="Rba003f4f5c944be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1e455b7b24359" /><Relationship Type="http://schemas.openxmlformats.org/officeDocument/2006/relationships/slideMaster" Target="/ppt/slideMasters/slideMaster1.xml" Id="Recec38c8655f4212" /><Relationship Type="http://schemas.openxmlformats.org/officeDocument/2006/relationships/notesMaster" Target="/ppt/notesMasters/notesMaster1.xml" Id="Ra463e52ecf894ec8" /><Relationship Type="http://schemas.openxmlformats.org/officeDocument/2006/relationships/presProps" Target="/ppt/presProps.xml" Id="R9ffd9978852a4935" /><Relationship Type="http://schemas.openxmlformats.org/officeDocument/2006/relationships/viewProps" Target="/ppt/viewProps.xml" Id="R3ed1be0bb7fb49a4" /><Relationship Type="http://schemas.openxmlformats.org/officeDocument/2006/relationships/tableStyles" Target="/ppt/tableStyles.xml" Id="Rb318e5b65f424f56" /><Relationship Type="http://schemas.openxmlformats.org/officeDocument/2006/relationships/font" Target="/ppt/fonts/font.dat" Id="Rf1105755b3d647b0" /><Relationship Type="http://schemas.openxmlformats.org/officeDocument/2006/relationships/font" Target="/ppt/fonts/font2.dat" Id="R8f0508fc5e3d4b27" /><Relationship Type="http://schemas.openxmlformats.org/officeDocument/2006/relationships/font" Target="/ppt/fonts/font3.dat" Id="R8f08b483177b4ac7" /><Relationship Type="http://schemas.openxmlformats.org/officeDocument/2006/relationships/font" Target="/ppt/fonts/font4.dat" Id="Rba003f4f5c944bea" /><Relationship Type="http://schemas.openxmlformats.org/officeDocument/2006/relationships/slide" Target="/ppt/slides/slide1.xml" Id="R6c5f1b0cc86a4ee5" /><Relationship Type="http://schemas.openxmlformats.org/officeDocument/2006/relationships/slide" Target="/ppt/slides/slide2.xml" Id="R984c214a58b7496d" /><Relationship Type="http://schemas.openxmlformats.org/officeDocument/2006/relationships/slide" Target="/ppt/slides/slide3.xml" Id="R1735ad9d5a064d0c" /><Relationship Type="http://schemas.openxmlformats.org/officeDocument/2006/relationships/slide" Target="/ppt/slides/slide4.xml" Id="R8cc79080ad02451e" /><Relationship Type="http://schemas.openxmlformats.org/officeDocument/2006/relationships/slide" Target="/ppt/slides/slide5.xml" Id="Rebed20903b464f3d" /><Relationship Type="http://schemas.openxmlformats.org/officeDocument/2006/relationships/slide" Target="/ppt/slides/slide6.xml" Id="R8a6dcdf98416410b" /><Relationship Type="http://schemas.openxmlformats.org/officeDocument/2006/relationships/slide" Target="/ppt/slides/slide7.xml" Id="R9775469e02f14c85" /><Relationship Type="http://schemas.openxmlformats.org/officeDocument/2006/relationships/slide" Target="/ppt/slides/slide8.xml" Id="R5144999302ef400a" /><Relationship Type="http://schemas.openxmlformats.org/officeDocument/2006/relationships/slide" Target="/ppt/slides/slide9.xml" Id="Rcdeaa9f5989f481e" /><Relationship Type="http://schemas.openxmlformats.org/officeDocument/2006/relationships/slide" Target="/ppt/slides/slide10.xml" Id="R5b42ac1185934d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c7e55430b34f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31d7d0b354f79" /><Relationship Type="http://schemas.openxmlformats.org/officeDocument/2006/relationships/notesMaster" Target="/ppt/notesMasters/notesMaster1.xml" Id="R45ffae1b8faa4e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da56531524f71" /><Relationship Type="http://schemas.openxmlformats.org/officeDocument/2006/relationships/notesMaster" Target="/ppt/notesMasters/notesMaster1.xml" Id="Rc95c23bd1418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3c6188f314eec" /><Relationship Type="http://schemas.openxmlformats.org/officeDocument/2006/relationships/notesMaster" Target="/ppt/notesMasters/notesMaster1.xml" Id="Rad65ca90d77c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5e54f31f6042f5" /><Relationship Type="http://schemas.openxmlformats.org/officeDocument/2006/relationships/notesMaster" Target="/ppt/notesMasters/notesMaster1.xml" Id="Rb9417f5fa4e641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e62cb52c314c77" /><Relationship Type="http://schemas.openxmlformats.org/officeDocument/2006/relationships/notesMaster" Target="/ppt/notesMasters/notesMaster1.xml" Id="Rf2936ee69eee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999faa5ef84292" /><Relationship Type="http://schemas.openxmlformats.org/officeDocument/2006/relationships/notesMaster" Target="/ppt/notesMasters/notesMaster1.xml" Id="R5d96533478c447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d356ec0a847af" /><Relationship Type="http://schemas.openxmlformats.org/officeDocument/2006/relationships/notesMaster" Target="/ppt/notesMasters/notesMaster1.xml" Id="Rcc4c00c40dc14f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a5fb21f29f44b0" /><Relationship Type="http://schemas.openxmlformats.org/officeDocument/2006/relationships/notesMaster" Target="/ppt/notesMasters/notesMaster1.xml" Id="R259c4361a53946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071b99189f47f4" /><Relationship Type="http://schemas.openxmlformats.org/officeDocument/2006/relationships/notesMaster" Target="/ppt/notesMasters/notesMaster1.xml" Id="R9007f0ca779d46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4a49e272b42c5" /><Relationship Type="http://schemas.openxmlformats.org/officeDocument/2006/relationships/notesMaster" Target="/ppt/notesMasters/notesMaster1.xml" Id="R4929db6fe471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28e99163f45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960696a834b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f5ca9b55046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4592bfaae46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ac28bbb5c44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d26a5034342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705d926ae4a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5f434749a46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2c79a82b249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b23d8edeb40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49f3993244d5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98C5B6-08C7-4374-B634-BFE64EDC7B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5E28143-6A99-4394-A8ED-923D2BB9CD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88584B-0B0A-4C2A-9C17-A34EC16AA4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1E2871-F343-4DCA-9297-7311008CDE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7A97E0-3364-4BB0-803A-E48EA52F7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A5582-D425-4144-A958-5E6A22098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2A5262-25DE-43E5-9B49-86ECDCC94E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AA0342-FBF8-4658-B59C-63796A6941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73DBCD-B7FE-4D29-8210-D9CD374178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464A45-BEF0-4EFF-8A21-24C7EC63C7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D36759-89EF-41E0-92B3-4C2D7C44BD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61C2D-454B-4F69-8D47-5F0DCCE8E8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F0F751-45FC-424E-B444-19D5B0B2BE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44C9FB-1562-4BE6-8BD5-A605A444FE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DD581E-6CB0-4D0E-BD9B-69B4F68738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55B479-2147-46DF-B3D6-18BF64DCC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A187CB-15B1-4C18-94F9-7FFFF407BE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25A8C6D-F5A8-4790-B706-25C28F9409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859C29-3F92-44FA-B33A-814E4D1A37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4573699-7677-414C-A883-5DFD9E4A06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811EED2-DC0A-40F2-A610-D960CCDD86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18D633-949B-4646-9E8E-4BDED3D03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E6B426-6F79-4B9D-A429-ADBA9023D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628250-93FE-4787-A2F0-9633B116DE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F5DB6EE-5EA6-4B6C-B834-109065EE3B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D82D5B9-21F1-4040-87BD-076B140ABDD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4C1E75E-3667-4EBC-B39D-61C4E11E44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8B8E36E-CCFC-4A69-9B8E-4695B0B423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E74CF49-8540-4BCF-B26A-3B36E22F4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3AF9B2-C5B9-498B-92F7-DCB83D5F1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D23FD2E-3CE4-49B5-958E-FE1DC321AB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00047A-9F6A-431E-8CF1-A7D973DA20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08CFB62-BD01-41B1-94B7-BD87A00785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99EC91D-1240-4EBD-B6EB-16C57387B9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5A7A697-F599-4389-B405-0CC42B9BCB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45DBEE9-E27F-495E-B040-5350B7FDD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A4D17D-893E-4284-91F9-96DB13E4E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19DFCB-2484-48F3-BAAE-C8C6311C99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9CFD0F-B884-48C1-BB85-6EC0D87FD3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A4D213-DD0A-41D1-805D-6391724D1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BE88EE-15F3-4948-BF0A-8D520EFF26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556B5D6-477B-4F79-B9BA-775ECD538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FDBB60-57D4-4534-BD00-2E036B18C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436646B-2183-4738-A4AB-8CA3B16E49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FC66B0-D4DD-4B72-9764-C8272D92D0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854849-0A38-424F-94E3-48C083AA1C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D4A2B8-1047-4FD6-AC70-2D9DDCF531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613F50-1FA6-4C63-900D-F08DD4D5CC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D04D28-6678-4A16-9314-B4FAC5217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A5F76E-4316-40A8-88CD-B75DB59F6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CBF4ED-7597-4A61-AC32-F04DD4D5FB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80D5A5-D438-409D-A6F4-2A24BBA20D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B1217B-F78E-4532-B54C-BA8FA86BF3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0FBBC2F-0B7D-4703-BC31-9DA9777F3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21FDE1-2E17-4328-900F-D6D8285A9C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1D12F3-A35A-405A-A2FA-B3A68096E7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B20A8-EA8C-4A08-8C57-64CC622DE2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F7937-7654-4B21-BAEE-73C38EB99B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00142fe0e4f4a" /><Relationship Type="http://schemas.openxmlformats.org/officeDocument/2006/relationships/slideLayout" Target="/ppt/slideLayouts/slideLayout1.xml" Id="R004fcddd98ca4a31" /><Relationship Type="http://schemas.openxmlformats.org/officeDocument/2006/relationships/slideLayout" Target="/ppt/slideLayouts/slideLayout2.xml" Id="Ra02090e134a749d4" /><Relationship Type="http://schemas.openxmlformats.org/officeDocument/2006/relationships/slideLayout" Target="/ppt/slideLayouts/slideLayout3.xml" Id="R34adfbe2b0274078" /><Relationship Type="http://schemas.openxmlformats.org/officeDocument/2006/relationships/slideLayout" Target="/ppt/slideLayouts/slideLayout4.xml" Id="R009d62e5ea734671" /><Relationship Type="http://schemas.openxmlformats.org/officeDocument/2006/relationships/slideLayout" Target="/ppt/slideLayouts/slideLayout5.xml" Id="Rcad4883a7be546a1" /><Relationship Type="http://schemas.openxmlformats.org/officeDocument/2006/relationships/slideLayout" Target="/ppt/slideLayouts/slideLayout6.xml" Id="R41f8d7adf8ce4db6" /><Relationship Type="http://schemas.openxmlformats.org/officeDocument/2006/relationships/slideLayout" Target="/ppt/slideLayouts/slideLayout7.xml" Id="Ra14e3809e8bc4d51" /><Relationship Type="http://schemas.openxmlformats.org/officeDocument/2006/relationships/slideLayout" Target="/ppt/slideLayouts/slideLayout8.xml" Id="Rb2ba914a322f413e" /><Relationship Type="http://schemas.openxmlformats.org/officeDocument/2006/relationships/slideLayout" Target="/ppt/slideLayouts/slideLayout9.xml" Id="Rcb9858bbe2fc45eb" /><Relationship Type="http://schemas.openxmlformats.org/officeDocument/2006/relationships/slideLayout" Target="/ppt/slideLayouts/slideLayout10.xml" Id="R490e41f0d93e4ed8" /><Relationship Type="http://schemas.openxmlformats.org/officeDocument/2006/relationships/slideLayout" Target="/ppt/slideLayouts/slideLayout11.xml" Id="Rd7bae69430bf4c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726D75-0B84-4F4E-B6E0-2E201EDB2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7DCB78-6212-4E63-981E-83C24136FC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AB1464-A933-4EAB-9727-CE9493596A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4C2BE2-F7E4-4456-AC42-DE90364B28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3E36E0-CD6D-4A57-A39B-45F03EF56A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4fcddd98ca4a31"/>
    <p:sldLayoutId xmlns:r="http://schemas.openxmlformats.org/officeDocument/2006/relationships" id="2147483650" r:id="Ra02090e134a749d4"/>
    <p:sldLayoutId xmlns:r="http://schemas.openxmlformats.org/officeDocument/2006/relationships" id="2147483651" r:id="R34adfbe2b0274078"/>
    <p:sldLayoutId xmlns:r="http://schemas.openxmlformats.org/officeDocument/2006/relationships" id="2147483652" r:id="R009d62e5ea734671"/>
    <p:sldLayoutId xmlns:r="http://schemas.openxmlformats.org/officeDocument/2006/relationships" id="2147483653" r:id="Rcad4883a7be546a1"/>
    <p:sldLayoutId xmlns:r="http://schemas.openxmlformats.org/officeDocument/2006/relationships" id="2147483654" r:id="R41f8d7adf8ce4db6"/>
    <p:sldLayoutId xmlns:r="http://schemas.openxmlformats.org/officeDocument/2006/relationships" id="2147483655" r:id="Ra14e3809e8bc4d51"/>
    <p:sldLayoutId xmlns:r="http://schemas.openxmlformats.org/officeDocument/2006/relationships" id="2147483656" r:id="Rb2ba914a322f413e"/>
    <p:sldLayoutId xmlns:r="http://schemas.openxmlformats.org/officeDocument/2006/relationships" id="2147483657" r:id="Rcb9858bbe2fc45eb"/>
    <p:sldLayoutId xmlns:r="http://schemas.openxmlformats.org/officeDocument/2006/relationships" id="2147483658" r:id="R490e41f0d93e4ed8"/>
    <p:sldLayoutId xmlns:r="http://schemas.openxmlformats.org/officeDocument/2006/relationships" id="2147483659" r:id="Rd7bae69430bf4cd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9c2c7cd2c84d88" /><Relationship Type="http://schemas.openxmlformats.org/officeDocument/2006/relationships/image" Target="/ppt/media/image.png" Id="R7acfd93c14ee4b30" /><Relationship Type="http://schemas.openxmlformats.org/officeDocument/2006/relationships/image" Target="/ppt/media/image.svg" Id="R1a1ab377765946dc" /><Relationship Type="http://schemas.openxmlformats.org/officeDocument/2006/relationships/image" Target="/ppt/media/image2.png" Id="Rff19fdc113d446e6" /><Relationship Type="http://schemas.openxmlformats.org/officeDocument/2006/relationships/image" Target="/ppt/media/image2.svg" Id="Rf3290b3fbf98424f" /><Relationship Type="http://schemas.openxmlformats.org/officeDocument/2006/relationships/image" Target="/ppt/media/image3.png" Id="R70c5e9550c854aa9" /><Relationship Type="http://schemas.openxmlformats.org/officeDocument/2006/relationships/image" Target="/ppt/media/image3.svg" Id="R60481c34ba414a1a" /><Relationship Type="http://schemas.openxmlformats.org/officeDocument/2006/relationships/notesSlide" Target="/ppt/notesSlides/notesSlide1.xml" Id="R05a3e245eaf44b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eef008130b4012" /><Relationship Type="http://schemas.openxmlformats.org/officeDocument/2006/relationships/image" Target="/ppt/media/image2.png" Id="R797cdcc532d04273" /><Relationship Type="http://schemas.openxmlformats.org/officeDocument/2006/relationships/image" Target="/ppt/media/image2.svg" Id="R3458fc1a785447cd" /><Relationship Type="http://schemas.openxmlformats.org/officeDocument/2006/relationships/image" Target="/ppt/media/image.png" Id="R383e7dad998346a5" /><Relationship Type="http://schemas.openxmlformats.org/officeDocument/2006/relationships/image" Target="/ppt/media/image.svg" Id="R3a3ad5eba208449c" /><Relationship Type="http://schemas.openxmlformats.org/officeDocument/2006/relationships/image" Target="/ppt/media/image4.png" Id="R1e2b433539c14306" /><Relationship Type="http://schemas.openxmlformats.org/officeDocument/2006/relationships/image" Target="/ppt/media/image4.svg" Id="Rb31bbbf19946470d" /><Relationship Type="http://schemas.openxmlformats.org/officeDocument/2006/relationships/notesSlide" Target="/ppt/notesSlides/notesSlide2.xml" Id="R3e1bdbf289774d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d7fee8519f4bc7" /><Relationship Type="http://schemas.openxmlformats.org/officeDocument/2006/relationships/image" Target="/ppt/media/image2.png" Id="R0d3cd4e926734a3d" /><Relationship Type="http://schemas.openxmlformats.org/officeDocument/2006/relationships/image" Target="/ppt/media/image2.svg" Id="R76bebf88da9648fd" /><Relationship Type="http://schemas.openxmlformats.org/officeDocument/2006/relationships/image" Target="/ppt/media/image5.png" Id="R4a752ee5e0da41ca" /><Relationship Type="http://schemas.openxmlformats.org/officeDocument/2006/relationships/image" Target="/ppt/media/image5.svg" Id="Rd5df2d23512348d8" /><Relationship Type="http://schemas.openxmlformats.org/officeDocument/2006/relationships/image" Target="/ppt/media/image6.png" Id="R06ae832cc5e74cf5" /><Relationship Type="http://schemas.openxmlformats.org/officeDocument/2006/relationships/image" Target="/ppt/media/image6.svg" Id="R0e41dbd25eff4d08" /><Relationship Type="http://schemas.openxmlformats.org/officeDocument/2006/relationships/notesSlide" Target="/ppt/notesSlides/notesSlide3.xml" Id="Rfca2e608d23b43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63eb89447242ed" /><Relationship Type="http://schemas.openxmlformats.org/officeDocument/2006/relationships/image" Target="/ppt/media/image2.png" Id="R7df8c5fc02c848d1" /><Relationship Type="http://schemas.openxmlformats.org/officeDocument/2006/relationships/image" Target="/ppt/media/image2.svg" Id="R0107b895683c4bd7" /><Relationship Type="http://schemas.openxmlformats.org/officeDocument/2006/relationships/image" Target="/ppt/media/image.png" Id="R57ff8578b2ac44ce" /><Relationship Type="http://schemas.openxmlformats.org/officeDocument/2006/relationships/image" Target="/ppt/media/image.svg" Id="Rdf3d14c43a204e18" /><Relationship Type="http://schemas.openxmlformats.org/officeDocument/2006/relationships/image" Target="/ppt/media/image4.png" Id="Ref43e0166ad74de1" /><Relationship Type="http://schemas.openxmlformats.org/officeDocument/2006/relationships/image" Target="/ppt/media/image4.svg" Id="R3a8e2d216aaa45fd" /><Relationship Type="http://schemas.openxmlformats.org/officeDocument/2006/relationships/notesSlide" Target="/ppt/notesSlides/notesSlide4.xml" Id="R11d535dfc7d7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320fdd0eaa42ef" /><Relationship Type="http://schemas.openxmlformats.org/officeDocument/2006/relationships/image" Target="/ppt/media/image2.png" Id="Rfbc3cedb54b84b57" /><Relationship Type="http://schemas.openxmlformats.org/officeDocument/2006/relationships/image" Target="/ppt/media/image2.svg" Id="R0f031a27c05f4b9d" /><Relationship Type="http://schemas.openxmlformats.org/officeDocument/2006/relationships/image" Target="/ppt/media/image.png" Id="R231cf66e4c6f4fdb" /><Relationship Type="http://schemas.openxmlformats.org/officeDocument/2006/relationships/image" Target="/ppt/media/image.svg" Id="Rada1511ecfd84a07" /><Relationship Type="http://schemas.openxmlformats.org/officeDocument/2006/relationships/image" Target="/ppt/media/image4.png" Id="R2b8c4971c6eb43f0" /><Relationship Type="http://schemas.openxmlformats.org/officeDocument/2006/relationships/image" Target="/ppt/media/image4.svg" Id="R7c901ede2eb1466a" /><Relationship Type="http://schemas.openxmlformats.org/officeDocument/2006/relationships/notesSlide" Target="/ppt/notesSlides/notesSlide5.xml" Id="R9e47225399ca46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898d8804a64696" /><Relationship Type="http://schemas.openxmlformats.org/officeDocument/2006/relationships/image" Target="/ppt/media/image2.png" Id="R2210cb50d7b44ec6" /><Relationship Type="http://schemas.openxmlformats.org/officeDocument/2006/relationships/image" Target="/ppt/media/image2.svg" Id="Rdb1c5c03b8374613" /><Relationship Type="http://schemas.openxmlformats.org/officeDocument/2006/relationships/image" Target="/ppt/media/image3.png" Id="R9f4f1dde4cdd4351" /><Relationship Type="http://schemas.openxmlformats.org/officeDocument/2006/relationships/image" Target="/ppt/media/image3.svg" Id="Re36984b24de64386" /><Relationship Type="http://schemas.openxmlformats.org/officeDocument/2006/relationships/notesSlide" Target="/ppt/notesSlides/notesSlide6.xml" Id="R4f4aa97241364b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a3a7be6c08483f" /><Relationship Type="http://schemas.openxmlformats.org/officeDocument/2006/relationships/image" Target="/ppt/media/image7.png" Id="R7e5b5e324e3b4cc2" /><Relationship Type="http://schemas.openxmlformats.org/officeDocument/2006/relationships/image" Target="/ppt/media/image7.svg" Id="R332f151228ef4c0f" /><Relationship Type="http://schemas.openxmlformats.org/officeDocument/2006/relationships/image" Target="/ppt/media/image2.png" Id="Rad5fa4262dc64963" /><Relationship Type="http://schemas.openxmlformats.org/officeDocument/2006/relationships/image" Target="/ppt/media/image2.svg" Id="Rbfd8d65004454b24" /><Relationship Type="http://schemas.openxmlformats.org/officeDocument/2006/relationships/notesSlide" Target="/ppt/notesSlides/notesSlide7.xml" Id="Rd7e98521fc2042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1e7685a5294975" /><Relationship Type="http://schemas.openxmlformats.org/officeDocument/2006/relationships/image" Target="/ppt/media/image2.png" Id="Rb9c743000fa64342" /><Relationship Type="http://schemas.openxmlformats.org/officeDocument/2006/relationships/image" Target="/ppt/media/image2.svg" Id="Re69ca5bed5734177" /><Relationship Type="http://schemas.openxmlformats.org/officeDocument/2006/relationships/image" Target="/ppt/media/image5.png" Id="Rfd4e895c6e5c4547" /><Relationship Type="http://schemas.openxmlformats.org/officeDocument/2006/relationships/image" Target="/ppt/media/image5.svg" Id="R185c3c71975747e7" /><Relationship Type="http://schemas.openxmlformats.org/officeDocument/2006/relationships/image" Target="/ppt/media/image6.png" Id="R94827f9e7cf842b7" /><Relationship Type="http://schemas.openxmlformats.org/officeDocument/2006/relationships/image" Target="/ppt/media/image6.svg" Id="Reb9db4700afe4fc4" /><Relationship Type="http://schemas.openxmlformats.org/officeDocument/2006/relationships/notesSlide" Target="/ppt/notesSlides/notesSlide8.xml" Id="R3d5ca9a11c4046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ec3bd52ee6444c" /><Relationship Type="http://schemas.openxmlformats.org/officeDocument/2006/relationships/image" Target="/ppt/media/image2.png" Id="R9339ac60459f485b" /><Relationship Type="http://schemas.openxmlformats.org/officeDocument/2006/relationships/image" Target="/ppt/media/image2.svg" Id="R48a692e03da74291" /><Relationship Type="http://schemas.openxmlformats.org/officeDocument/2006/relationships/image" Target="/ppt/media/image8.png" Id="R663f6478351b4157" /><Relationship Type="http://schemas.openxmlformats.org/officeDocument/2006/relationships/image" Target="/ppt/media/image8.svg" Id="Rc2d86d7a0a2b4a83" /><Relationship Type="http://schemas.openxmlformats.org/officeDocument/2006/relationships/image" Target="/ppt/media/image.png" Id="R9fdb29692df3459b" /><Relationship Type="http://schemas.openxmlformats.org/officeDocument/2006/relationships/image" Target="/ppt/media/image.svg" Id="R94a84f64745141a5" /><Relationship Type="http://schemas.openxmlformats.org/officeDocument/2006/relationships/image" Target="/ppt/media/image9.png" Id="R4fa2ea6c8ecc4523" /><Relationship Type="http://schemas.openxmlformats.org/officeDocument/2006/relationships/image" Target="/ppt/media/image9.svg" Id="Ra54e0787fa734836" /><Relationship Type="http://schemas.openxmlformats.org/officeDocument/2006/relationships/image" Target="/ppt/media/image10.png" Id="R6bbe0b639c6b402c" /><Relationship Type="http://schemas.openxmlformats.org/officeDocument/2006/relationships/image" Target="/ppt/media/image10.svg" Id="R525970712e7f4c91" /><Relationship Type="http://schemas.openxmlformats.org/officeDocument/2006/relationships/image" Target="/ppt/media/image11.png" Id="R65ddc53818f44d82" /><Relationship Type="http://schemas.openxmlformats.org/officeDocument/2006/relationships/image" Target="/ppt/media/image11.svg" Id="Rb5bba704daf44f43" /><Relationship Type="http://schemas.openxmlformats.org/officeDocument/2006/relationships/image" Target="/ppt/media/image12.png" Id="Rd907284c2d5745e7" /><Relationship Type="http://schemas.openxmlformats.org/officeDocument/2006/relationships/image" Target="/ppt/media/image12.svg" Id="Reb579d4bc0454301" /><Relationship Type="http://schemas.openxmlformats.org/officeDocument/2006/relationships/image" Target="/ppt/media/image13.png" Id="R0a402b6460da4d7a" /><Relationship Type="http://schemas.openxmlformats.org/officeDocument/2006/relationships/image" Target="/ppt/media/image13.svg" Id="Rff89375c926b4101" /><Relationship Type="http://schemas.openxmlformats.org/officeDocument/2006/relationships/image" Target="/ppt/media/image14.png" Id="Re960084159014216" /><Relationship Type="http://schemas.openxmlformats.org/officeDocument/2006/relationships/image" Target="/ppt/media/image14.svg" Id="Rc1c94c4032e44c5b" /><Relationship Type="http://schemas.openxmlformats.org/officeDocument/2006/relationships/notesSlide" Target="/ppt/notesSlides/notesSlide9.xml" Id="R290f0c8f6cab4b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7ebc07a74c4d07" /><Relationship Type="http://schemas.openxmlformats.org/officeDocument/2006/relationships/image" Target="/ppt/media/image2.png" Id="Rc38968ce9b1f4de9" /><Relationship Type="http://schemas.openxmlformats.org/officeDocument/2006/relationships/image" Target="/ppt/media/image2.svg" Id="Rf3ab680943564ac8" /><Relationship Type="http://schemas.openxmlformats.org/officeDocument/2006/relationships/image" Target="/ppt/media/image.png" Id="Re143de05a0754d71" /><Relationship Type="http://schemas.openxmlformats.org/officeDocument/2006/relationships/image" Target="/ppt/media/image.svg" Id="Rc71a659f79e64ce5" /><Relationship Type="http://schemas.openxmlformats.org/officeDocument/2006/relationships/image" Target="/ppt/media/image7.png" Id="R98c4cee61b1a4180" /><Relationship Type="http://schemas.openxmlformats.org/officeDocument/2006/relationships/image" Target="/ppt/media/image7.svg" Id="R6fd36ebfc649433f" /><Relationship Type="http://schemas.openxmlformats.org/officeDocument/2006/relationships/notesSlide" Target="/ppt/notesSlides/notesSlide10.xml" Id="Ra5579ba983c243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8E9BF31-D0F2-4CEC-B710-62B2483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1303" y="6765879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cfd93c14ee4b30">
              <a:extLst>
                <a:ext uri="{96DAC541-7B7A-43D3-8B79-37D633B846F1}">
                  <asvg:svgBlip xmlns:asvg="http://schemas.microsoft.com/office/drawing/2016/SVG/main" r:embed="R1a1ab377765946d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4D56B4D-DA9C-4165-BDFD-B73C669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761586" y="614973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19fdc113d446e6">
              <a:alphaModFix amt="25000"/>
              <a:extLst>
                <a:ext uri="{96DAC541-7B7A-43D3-8B79-37D633B846F1}">
                  <asvg:svgBlip xmlns:asvg="http://schemas.microsoft.com/office/drawing/2016/SVG/main" r:embed="Rf3290b3fbf98424f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D720715-0918-4626-AF53-B1B2801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790575"/>
            <a:ext cx="11217858" cy="2123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360"/>
              </a:lnSpc>
              <a:buNone/>
            </a:pPr>
            <a:r>
              <a:rPr sz="124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INTERNSHIP </a:t>
            </a:r>
            <a:r>
              <a:rPr sz="124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 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94B01E9-0E7A-4940-AD32-E4310BE1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2198120" y="-2779055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19fdc113d446e6">
              <a:alphaModFix amt="25000"/>
              <a:extLst>
                <a:ext uri="{96DAC541-7B7A-43D3-8B79-37D633B846F1}">
                  <asvg:svgBlip xmlns:asvg="http://schemas.microsoft.com/office/drawing/2016/SVG/main" r:embed="Rf3290b3fbf98424f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C72142-3B27-45DC-BDF3-837F13AF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24305" y="4998969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C5E0EF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EBDB9A5-B789-41FA-A350-70A7B754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10067" y="4818143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F4C5291-668F-4F02-8EAD-242C20E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0300" y="553894"/>
            <a:ext cx="6990947" cy="10280804"/>
          </a:xfrm>
          <a:custGeom xmlns:a="http://schemas.openxmlformats.org/drawingml/2006/main">
            <a:rect l="l" t="t" r="r" b="b"/>
            <a:pathLst>
              <a:path w="6990947" h="10280804">
                <a:moveTo>
                  <a:pt x="0" y="0"/>
                </a:moveTo>
                <a:lnTo>
                  <a:pt x="6990946" y="0"/>
                </a:lnTo>
                <a:lnTo>
                  <a:pt x="6990946" y="10280804"/>
                </a:lnTo>
                <a:lnTo>
                  <a:pt x="0" y="102808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c5e9550c854aa9">
              <a:extLst>
                <a:ext uri="{96DAC541-7B7A-43D3-8B79-37D633B846F1}">
                  <asvg:svgBlip xmlns:asvg="http://schemas.microsoft.com/office/drawing/2016/SVG/main" r:embed="R60481c34ba414a1a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35BB215-85E7-4439-BB14-EAFD1107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5521" y="2299289"/>
            <a:ext cx="9033485" cy="2123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360"/>
              </a:lnSpc>
              <a:buNone/>
            </a:pPr>
            <a:r>
              <a:rPr sz="12400" b="1">
                <a:solidFill>
                  <a:srgbClr val="E61E26"/>
                </a:solidFill>
                <a:latin typeface="Cormorant Garamond Bold"/>
                <a:ea typeface="Cormorant Garamond Bold"/>
                <a:cs typeface="Cormorant Garamond Bold"/>
              </a:rPr>
              <a:t>RE</a:t>
            </a:r>
            <a:r>
              <a:rPr sz="12400" b="1">
                <a:solidFill>
                  <a:srgbClr val="E61E26"/>
                </a:solidFill>
                <a:latin typeface="Cormorant Garamond Bold"/>
                <a:ea typeface="Cormorant Garamond Bold"/>
                <a:cs typeface="Cormorant Garamond Bold"/>
              </a:rPr>
              <a:t>PORT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B49442B-5902-4583-89BB-3775C12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4905479"/>
            <a:ext cx="7542218" cy="537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480"/>
              </a:lnSpc>
              <a:buNone/>
            </a:pPr>
            <a:r>
              <a:rPr sz="3200" b="1" spc="2560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PRESENTATION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B7EB078-A3D0-4F7C-ACD1-4670F379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6521405"/>
            <a:ext cx="6699172" cy="431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00"/>
              </a:lnSpc>
              <a:buNone/>
            </a:pPr>
            <a:r>
              <a:rPr sz="2500" i="1">
                <a:solidFill>
                  <a:srgbClr val="042147"/>
                </a:solidFill>
                <a:latin typeface="DM Sans Italics"/>
                <a:ea typeface="DM Sans Italics"/>
                <a:cs typeface="DM Sans Italics"/>
              </a:rPr>
              <a:t>Presented by : Sreetama Ghosh Ray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6D1056D-FD3F-4C4B-97C3-588DA3C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76815" y="6376773"/>
            <a:ext cx="8570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61E2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4216371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BF7B2C7-C87A-4959-9647-2969B4AC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3447981" y="5059311"/>
            <a:ext cx="7928647" cy="8391547"/>
          </a:xfrm>
          <a:custGeom xmlns:a="http://schemas.openxmlformats.org/drawingml/2006/main">
            <a:rect l="l" t="t" r="r" b="b"/>
            <a:pathLst>
              <a:path w="7928647" h="8391547">
                <a:moveTo>
                  <a:pt x="0" y="0"/>
                </a:moveTo>
                <a:lnTo>
                  <a:pt x="7928647" y="0"/>
                </a:lnTo>
                <a:lnTo>
                  <a:pt x="7928647" y="8391547"/>
                </a:lnTo>
                <a:lnTo>
                  <a:pt x="0" y="83915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cdcc532d04273">
              <a:alphaModFix amt="25000"/>
              <a:extLst>
                <a:ext uri="{96DAC541-7B7A-43D3-8B79-37D633B846F1}">
                  <asvg:svgBlip xmlns:asvg="http://schemas.microsoft.com/office/drawing/2016/SVG/main" r:embed="R3458fc1a785447c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151E0DB-40CD-4B74-9ACB-3E72C95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0" flipH="0" flipV="0">
            <a:off x="12819770" y="-487885"/>
            <a:ext cx="6035013" cy="3280852"/>
          </a:xfrm>
          <a:custGeom xmlns:a="http://schemas.openxmlformats.org/drawingml/2006/main">
            <a:rect l="l" t="t" r="r" b="b"/>
            <a:pathLst>
              <a:path w="6035013" h="3280852">
                <a:moveTo>
                  <a:pt x="0" y="0"/>
                </a:moveTo>
                <a:lnTo>
                  <a:pt x="6035013" y="0"/>
                </a:lnTo>
                <a:lnTo>
                  <a:pt x="6035013" y="3280852"/>
                </a:lnTo>
                <a:lnTo>
                  <a:pt x="0" y="3280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3e7dad998346a5">
              <a:extLst>
                <a:ext uri="{96DAC541-7B7A-43D3-8B79-37D633B846F1}">
                  <asvg:svgBlip xmlns:asvg="http://schemas.microsoft.com/office/drawing/2016/SVG/main" r:embed="R3a3ad5eba208449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BA26F1F-FC79-4AC8-A441-E382FE7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Organisation Profile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85D6BFF-B480-4CBF-B970-7E6B7ED6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42574" flipH="0" flipV="0">
            <a:off x="-5457186" y="158525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cdcc532d04273">
              <a:alphaModFix amt="25000"/>
              <a:extLst>
                <a:ext uri="{96DAC541-7B7A-43D3-8B79-37D633B846F1}">
                  <asvg:svgBlip xmlns:asvg="http://schemas.microsoft.com/office/drawing/2016/SVG/main" r:embed="R3458fc1a785447c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58345D1-7186-45C6-B4D9-39EFAE7C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54911" y="6044306"/>
            <a:ext cx="3158813" cy="4379730"/>
          </a:xfrm>
          <a:custGeom xmlns:a="http://schemas.openxmlformats.org/drawingml/2006/main">
            <a:rect l="l" t="t" r="r" b="b"/>
            <a:pathLst>
              <a:path w="3158813" h="4379730">
                <a:moveTo>
                  <a:pt x="0" y="0"/>
                </a:moveTo>
                <a:lnTo>
                  <a:pt x="3158814" y="0"/>
                </a:lnTo>
                <a:lnTo>
                  <a:pt x="3158814" y="4379730"/>
                </a:lnTo>
                <a:lnTo>
                  <a:pt x="0" y="437973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2b433539c14306">
              <a:extLst>
                <a:ext uri="{96DAC541-7B7A-43D3-8B79-37D633B846F1}">
                  <asvg:svgBlip xmlns:asvg="http://schemas.microsoft.com/office/drawing/2016/SVG/main" r:embed="Rb31bbbf19946470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8408772-7E21-4ABE-B710-31177BE1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A public-sector bank with Head/Central Office in Mumbai, operating through Zonal, Regional and Branch levels.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3905B4E-49F4-47BA-B633-9658C14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5251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Administers ~75 branches - welfare, attendance, leave, transfers, salary and allowance processing. Its HR desk links Head Office policy to day-to-day branch administration, training, industrial relations and discipline.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6FBFC4-B556-4A41-A8FB-20A4CF25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483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Union Bank of India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565F1B-FFF5-47F5-B96D-58BF6BED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5346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Regional Office Chennai South</a:t>
            </a:r>
          </a:p>
        </p:txBody>
      </p:sp>
    </p:spTree>
    <p:extLst>
      <p:ext uri="{BB962C8B-B14F-4D97-AF65-F5344CB8AC3E}">
        <p14:creationId xmlns:p14="http://schemas.microsoft.com/office/powerpoint/2010/main" val="232365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042C75A-8505-4A2E-B5F9-F373014C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5382268" y="-1274821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3cd4e926734a3d">
              <a:alphaModFix amt="25000"/>
              <a:extLst>
                <a:ext uri="{96DAC541-7B7A-43D3-8B79-37D633B846F1}">
                  <asvg:svgBlip xmlns:asvg="http://schemas.microsoft.com/office/drawing/2016/SVG/main" r:embed="R76bebf88da9648f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79BBF76-8DA7-417B-AC9E-F0FE70C0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914400"/>
            <a:ext cx="9805176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00"/>
              </a:lnSpc>
              <a:buNone/>
            </a:pPr>
            <a:r>
              <a:rPr sz="6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Internship Scope</a:t>
            </a:r>
          </a:p>
          <a:p xmlns:a="http://schemas.openxmlformats.org/drawingml/2006/main">
            <a:pPr algn="ctr">
              <a:lnSpc>
                <a:spcPts val="8400"/>
              </a:lnSpc>
              <a:buNone/>
            </a:pP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92EDA36-0735-4E10-A167-BEE16166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3784431" y="3582319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3cd4e926734a3d">
              <a:alphaModFix amt="25000"/>
              <a:extLst>
                <a:ext uri="{96DAC541-7B7A-43D3-8B79-37D633B846F1}">
                  <asvg:svgBlip xmlns:asvg="http://schemas.microsoft.com/office/drawing/2016/SVG/main" r:embed="R76bebf88da9648f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522D5B6-848F-4753-816A-CA58B7A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9769" y="2967155"/>
            <a:ext cx="13043344" cy="6391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sz="3000" b="1">
                <a:solidFill>
                  <a:srgbClr val="042147"/>
                </a:solidFill>
                <a:latin typeface="DM Sans Bold"/>
                <a:ea typeface="DM Sans Bold"/>
                <a:cs typeface="DM Sans Bold"/>
              </a:rPr>
              <a:t>Object</a:t>
            </a:r>
            <a:r>
              <a:rPr sz="3000" b="1">
                <a:solidFill>
                  <a:srgbClr val="042147"/>
                </a:solidFill>
                <a:latin typeface="DM Sans Bold"/>
                <a:ea typeface="DM Sans Bold"/>
                <a:cs typeface="DM Sans Bold"/>
              </a:rPr>
              <a:t>ive</a:t>
            </a:r>
            <a:r>
              <a:rPr sz="30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: to gain practical exposure to HR operations in a public-sector bank, alongside primary data collection for the dissertation on Hybrid Learning and Training Effectiveness.</a:t>
            </a:r>
          </a:p>
          <a:p xmlns:a="http://schemas.openxmlformats.org/drawingml/2006/main"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sz="3000" b="1">
                <a:solidFill>
                  <a:srgbClr val="042147"/>
                </a:solidFill>
                <a:latin typeface="DM Sans Bold"/>
                <a:ea typeface="DM Sans Bold"/>
                <a:cs typeface="DM Sans Bold"/>
              </a:rPr>
              <a:t>Divisional Exposure</a:t>
            </a:r>
            <a:r>
              <a:rPr sz="30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: involved in orientation across the RO's HR desk, the Rural and Agriculture Business Department (RABD), Currency Chest, and the branch network.</a:t>
            </a:r>
          </a:p>
          <a:p xmlns:a="http://schemas.openxmlformats.org/drawingml/2006/main">
            <a:pPr algn="just">
              <a:lnSpc>
                <a:spcPts val="4200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F4439D8-0EB0-49FC-9D66-FB691F0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1174" y="7270421"/>
            <a:ext cx="5458016" cy="3234380"/>
          </a:xfrm>
          <a:custGeom xmlns:a="http://schemas.openxmlformats.org/drawingml/2006/main">
            <a:rect l="l" t="t" r="r" b="b"/>
            <a:pathLst>
              <a:path w="5458016" h="3234380">
                <a:moveTo>
                  <a:pt x="0" y="0"/>
                </a:moveTo>
                <a:lnTo>
                  <a:pt x="5458016" y="0"/>
                </a:lnTo>
                <a:lnTo>
                  <a:pt x="5458016" y="3234379"/>
                </a:lnTo>
                <a:lnTo>
                  <a:pt x="0" y="32343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752ee5e0da41ca">
              <a:extLst>
                <a:ext uri="{96DAC541-7B7A-43D3-8B79-37D633B846F1}">
                  <asvg:svgBlip xmlns:asvg="http://schemas.microsoft.com/office/drawing/2016/SVG/main" r:embed="Rd5df2d23512348d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7A2FEA8-726A-47DE-BEEB-A77E3025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5579570" y="-717218"/>
            <a:ext cx="2708858" cy="3110380"/>
          </a:xfrm>
          <a:custGeom xmlns:a="http://schemas.openxmlformats.org/drawingml/2006/main">
            <a:rect l="l" t="t" r="r" b="b"/>
            <a:pathLst>
              <a:path w="2708858" h="3110380">
                <a:moveTo>
                  <a:pt x="0" y="0"/>
                </a:moveTo>
                <a:lnTo>
                  <a:pt x="2708859" y="0"/>
                </a:lnTo>
                <a:lnTo>
                  <a:pt x="2708859" y="3110380"/>
                </a:lnTo>
                <a:lnTo>
                  <a:pt x="0" y="31103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6ae832cc5e74cf5">
              <a:extLst>
                <a:ext uri="{96DAC541-7B7A-43D3-8B79-37D633B846F1}">
                  <asvg:svgBlip xmlns:asvg="http://schemas.microsoft.com/office/drawing/2016/SVG/main" r:embed="R0e41dbd25eff4d0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7FFA8E4-A273-4B84-8CA6-8476DE0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6" y="-2984879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E61E26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87A584E-5092-4316-A2F0-200D0A7E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498" y="-3165705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F5D4E80-5FF1-45FE-8221-4EED9793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456" y="-3369546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00497E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70E7F0B-7299-44DE-A962-D5E28FEE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694" y="-3550372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068080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6115039-C231-4D2F-8EFC-D142F629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22080" flipH="0" flipV="0">
            <a:off x="7449287" y="8094480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f8c5fc02c848d1">
              <a:alphaModFix amt="25000"/>
              <a:extLst>
                <a:ext uri="{96DAC541-7B7A-43D3-8B79-37D633B846F1}">
                  <asvg:svgBlip xmlns:asvg="http://schemas.microsoft.com/office/drawing/2016/SVG/main" r:embed="R0107b895683c4bd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DDF6B1E-42F3-45DA-AEEB-052295EE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HR Administration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6C03473-A6EE-48CE-BDE8-57217388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2690" y="7305655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3" y="0"/>
                </a:lnTo>
                <a:lnTo>
                  <a:pt x="7183643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ff8578b2ac44ce">
              <a:extLst>
                <a:ext uri="{96DAC541-7B7A-43D3-8B79-37D633B846F1}">
                  <asvg:svgBlip xmlns:asvg="http://schemas.microsoft.com/office/drawing/2016/SVG/main" r:embed="Rdf3d14c43a204e1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B99A82D-82C5-4A6A-8CFC-512D75E3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4501256" y="6578297"/>
            <a:ext cx="3268163" cy="4531344"/>
          </a:xfrm>
          <a:custGeom xmlns:a="http://schemas.openxmlformats.org/drawingml/2006/main">
            <a:rect l="l" t="t" r="r" b="b"/>
            <a:pathLst>
              <a:path w="3268163" h="4531344">
                <a:moveTo>
                  <a:pt x="0" y="0"/>
                </a:moveTo>
                <a:lnTo>
                  <a:pt x="3268163" y="0"/>
                </a:lnTo>
                <a:lnTo>
                  <a:pt x="3268163" y="4531345"/>
                </a:lnTo>
                <a:lnTo>
                  <a:pt x="0" y="45313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43e0166ad74de1">
              <a:extLst>
                <a:ext uri="{96DAC541-7B7A-43D3-8B79-37D633B846F1}">
                  <asvg:svgBlip xmlns:asvg="http://schemas.microsoft.com/office/drawing/2016/SVG/main" r:embed="R3a8e2d216aaa45f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95AB1E3-EBD3-42F5-8B79-340DEF12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880789" y="637557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f8c5fc02c848d1">
              <a:alphaModFix amt="25000"/>
              <a:extLst>
                <a:ext uri="{96DAC541-7B7A-43D3-8B79-37D633B846F1}">
                  <asvg:svgBlip xmlns:asvg="http://schemas.microsoft.com/office/drawing/2016/SVG/main" r:embed="R0107b895683c4bd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7D5F00-30C2-4F3E-A130-0669494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8770" y="3709306"/>
            <a:ext cx="4409232" cy="438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Morning prayer followed by reading of circulars on performance, NPAs, policy updates and training requirements.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D89689-ECB2-41F6-9C8F-544E6175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430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Daily Circulars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E7D7E8-96BE-4CDF-82CC-1EDD865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1971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Leave Sanctioning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FE07200-92FD-463E-BD21-0F9C62C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7512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Salary &amp; Allowances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156AFDF-16F6-4D41-B4F9-03B6716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384" y="3709306"/>
            <a:ext cx="4409232" cy="438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Routine leave sanctioned at the RO; maternity, sabbatical and study leave need higher approval.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F319F8A-16AF-44FE-88C1-DB8A8FC5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9852" y="3709306"/>
            <a:ext cx="4409232" cy="438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RO's role in processing pay, permissible allowances, and TA/conveyance claims for official travel between branches.</a:t>
            </a:r>
          </a:p>
        </p:txBody>
      </p:sp>
    </p:spTree>
    <p:extLst>
      <p:ext uri="{BB962C8B-B14F-4D97-AF65-F5344CB8AC3E}">
        <p14:creationId xmlns:p14="http://schemas.microsoft.com/office/powerpoint/2010/main" val="12084819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F3F03F9-D9A5-4D3B-AC98-73465185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22080" flipH="0" flipV="0">
            <a:off x="7449287" y="8094480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c3cedb54b84b57">
              <a:alphaModFix amt="25000"/>
              <a:extLst>
                <a:ext uri="{96DAC541-7B7A-43D3-8B79-37D633B846F1}">
                  <asvg:svgBlip xmlns:asvg="http://schemas.microsoft.com/office/drawing/2016/SVG/main" r:embed="R0f031a27c05f4b9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4EBC415-3654-4916-8E2C-2A573E32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1123950"/>
            <a:ext cx="9805176" cy="17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Transfers, Discipline &amp; RABD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C6CEEB5-DEB4-4259-904D-F8AC8B8D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2690" y="7305655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3" y="0"/>
                </a:lnTo>
                <a:lnTo>
                  <a:pt x="7183643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1cf66e4c6f4fdb">
              <a:extLst>
                <a:ext uri="{96DAC541-7B7A-43D3-8B79-37D633B846F1}">
                  <asvg:svgBlip xmlns:asvg="http://schemas.microsoft.com/office/drawing/2016/SVG/main" r:embed="Rada1511ecfd84a0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AA79EBB-A38E-44D6-B4DE-B7D59BFA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4501256" y="6578297"/>
            <a:ext cx="3268163" cy="4531344"/>
          </a:xfrm>
          <a:custGeom xmlns:a="http://schemas.openxmlformats.org/drawingml/2006/main">
            <a:rect l="l" t="t" r="r" b="b"/>
            <a:pathLst>
              <a:path w="3268163" h="4531344">
                <a:moveTo>
                  <a:pt x="0" y="0"/>
                </a:moveTo>
                <a:lnTo>
                  <a:pt x="3268163" y="0"/>
                </a:lnTo>
                <a:lnTo>
                  <a:pt x="3268163" y="4531345"/>
                </a:lnTo>
                <a:lnTo>
                  <a:pt x="0" y="45313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8c4971c6eb43f0">
              <a:extLst>
                <a:ext uri="{96DAC541-7B7A-43D3-8B79-37D633B846F1}">
                  <asvg:svgBlip xmlns:asvg="http://schemas.microsoft.com/office/drawing/2016/SVG/main" r:embed="R7c901ede2eb1466a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F63A3E2-98FD-45C0-A812-6FCEB5B2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880789" y="637557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c3cedb54b84b57">
              <a:alphaModFix amt="25000"/>
              <a:extLst>
                <a:ext uri="{96DAC541-7B7A-43D3-8B79-37D633B846F1}">
                  <asvg:svgBlip xmlns:asvg="http://schemas.microsoft.com/office/drawing/2016/SVG/main" r:embed="R0f031a27c05f4b9d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49717A-A309-4D72-8CE6-CD81A125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8770" y="3709306"/>
            <a:ext cx="4409232" cy="2389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inter-state transfers involve management, unions and the Head Office; intra-region transfers are handled directly by the RO</a:t>
            </a:r>
          </a:p>
          <a:p xmlns:a="http://schemas.openxmlformats.org/drawingml/2006/main">
            <a:pPr algn="l">
              <a:lnSpc>
                <a:spcPts val="3220"/>
              </a:lnSpc>
              <a:buNone/>
            </a:p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A1F16AC-6529-4E0C-96CC-900F65F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066" y="2976680"/>
            <a:ext cx="4013913" cy="1099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80"/>
              </a:lnSpc>
              <a:buNone/>
            </a:pPr>
            <a:r>
              <a:rPr sz="32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Tr</a:t>
            </a:r>
            <a:r>
              <a:rPr sz="32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ansfer Policy</a:t>
            </a:r>
          </a:p>
          <a:p xmlns:a="http://schemas.openxmlformats.org/drawingml/2006/main">
            <a:pPr algn="ctr">
              <a:lnSpc>
                <a:spcPts val="4480"/>
              </a:lnSpc>
              <a:buNone/>
            </a:p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F13D8B6-2EC2-48EE-8BB4-AF87038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0953" y="2976680"/>
            <a:ext cx="4013913" cy="1099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79"/>
              </a:lnSpc>
              <a:buNone/>
            </a:pPr>
            <a:r>
              <a:rPr sz="31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Discipline</a:t>
            </a:r>
            <a:r>
              <a:rPr sz="31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/>
            </a:r>
          </a:p>
          <a:p xmlns:a="http://schemas.openxmlformats.org/drawingml/2006/main">
            <a:pPr algn="ctr">
              <a:lnSpc>
                <a:spcPts val="4479"/>
              </a:lnSpc>
              <a:buNone/>
            </a:p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54A878C-6354-4F14-81ED-965E18AF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4891" y="2976680"/>
            <a:ext cx="5451492" cy="1099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79"/>
              </a:lnSpc>
              <a:buNone/>
            </a:pPr>
            <a:r>
              <a:rPr sz="31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RABD &amp; PSL</a:t>
            </a:r>
          </a:p>
          <a:p xmlns:a="http://schemas.openxmlformats.org/drawingml/2006/main">
            <a:pPr algn="ctr">
              <a:lnSpc>
                <a:spcPts val="44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7CA6DFC-ABFE-4B69-A88C-638BE46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384" y="3709306"/>
            <a:ext cx="4409232" cy="1989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reporting of an issue, examination by the concerned authority, and a formal inquiry where necessary.</a:t>
            </a:r>
          </a:p>
          <a:p xmlns:a="http://schemas.openxmlformats.org/drawingml/2006/main">
            <a:pPr algn="l">
              <a:lnSpc>
                <a:spcPts val="3220"/>
              </a:lnSpc>
              <a:buNone/>
            </a:p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86194B3-82A0-40FD-8545-77D76126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4891" y="3709306"/>
            <a:ext cx="4409232" cy="2789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agricultural lending, rural development schemes, and mandatory credit to agriculture, MSMEs, education, housing and weaker sections — the bank's role in financial inclusion.</a:t>
            </a:r>
          </a:p>
          <a:p xmlns:a="http://schemas.openxmlformats.org/drawingml/2006/main">
            <a:pPr algn="l">
              <a:lnSpc>
                <a:spcPts val="322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984959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DA9FA02-94F1-4556-AB5F-FD0576A9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4718194" y="2189647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10cb50d7b44ec6">
              <a:alphaModFix amt="25000"/>
              <a:extLst>
                <a:ext uri="{96DAC541-7B7A-43D3-8B79-37D633B846F1}">
                  <asvg:svgBlip xmlns:asvg="http://schemas.microsoft.com/office/drawing/2016/SVG/main" r:embed="Rdb1c5c03b837461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A3ADEE7-CAEC-423E-AC96-C3BF19C9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Branch Visits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9E08326-F904-4EF7-9F59-3ACC18FD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4161100" y="-1059901"/>
            <a:ext cx="3433539" cy="5049322"/>
          </a:xfrm>
          <a:custGeom xmlns:a="http://schemas.openxmlformats.org/drawingml/2006/main">
            <a:rect l="l" t="t" r="r" b="b"/>
            <a:pathLst>
              <a:path w="3433539" h="5049322">
                <a:moveTo>
                  <a:pt x="0" y="0"/>
                </a:moveTo>
                <a:lnTo>
                  <a:pt x="3433538" y="0"/>
                </a:lnTo>
                <a:lnTo>
                  <a:pt x="3433538" y="5049321"/>
                </a:lnTo>
                <a:lnTo>
                  <a:pt x="0" y="50493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4f1dde4cdd4351">
              <a:extLst>
                <a:ext uri="{96DAC541-7B7A-43D3-8B79-37D633B846F1}">
                  <asvg:svgBlip xmlns:asvg="http://schemas.microsoft.com/office/drawing/2016/SVG/main" r:embed="Re36984b24de6438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B4F0A3D-957C-4CFA-A042-9E8394D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4584740" y="1698782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10cb50d7b44ec6">
              <a:alphaModFix amt="25000"/>
              <a:extLst>
                <a:ext uri="{96DAC541-7B7A-43D3-8B79-37D633B846F1}">
                  <asvg:svgBlip xmlns:asvg="http://schemas.microsoft.com/office/drawing/2016/SVG/main" r:embed="Rdb1c5c03b837461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820AED6-5D48-4AD3-AE66-0DEBDE7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72803" y="5351007"/>
            <a:ext cx="3559625" cy="5234743"/>
          </a:xfrm>
          <a:custGeom xmlns:a="http://schemas.openxmlformats.org/drawingml/2006/main">
            <a:rect l="l" t="t" r="r" b="b"/>
            <a:pathLst>
              <a:path w="3559625" h="5234743">
                <a:moveTo>
                  <a:pt x="3559626" y="0"/>
                </a:moveTo>
                <a:lnTo>
                  <a:pt x="0" y="0"/>
                </a:lnTo>
                <a:lnTo>
                  <a:pt x="0" y="5234744"/>
                </a:lnTo>
                <a:lnTo>
                  <a:pt x="3559626" y="5234744"/>
                </a:lnTo>
                <a:lnTo>
                  <a:pt x="355962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4f1dde4cdd4351">
              <a:extLst>
                <a:ext uri="{96DAC541-7B7A-43D3-8B79-37D633B846F1}">
                  <asvg:svgBlip xmlns:asvg="http://schemas.microsoft.com/office/drawing/2016/SVG/main" r:embed="Re36984b24de6438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A1AF89-3778-44C6-85FB-E8F85587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483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What I Did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1CC0DF-C3D9-470B-86AE-6A482495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5346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What I Found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FC378A-5CBD-4B48-BEEA-590AC39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3769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Visited 27 branches and Regional Office departments, including Retail Loans and Currency Chest, to collect responses for the training-effectiveness questionnaire.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FCE8ED9-0A0E-4600-A0EB-08964B43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205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Triplicane 2 had two officers and one cashier, which limited available time for training. Employees compared classroom, online and live-streamed learning and their use at work.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935299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C93110-1639-415E-A15F-6FC44091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1738" flipH="0" flipV="0">
            <a:off x="-474655" y="6127027"/>
            <a:ext cx="19237310" cy="7310178"/>
          </a:xfrm>
          <a:custGeom xmlns:a="http://schemas.openxmlformats.org/drawingml/2006/main">
            <a:rect l="l" t="t" r="r" b="b"/>
            <a:pathLst>
              <a:path w="19237310" h="7310178">
                <a:moveTo>
                  <a:pt x="0" y="0"/>
                </a:moveTo>
                <a:lnTo>
                  <a:pt x="19237310" y="0"/>
                </a:lnTo>
                <a:lnTo>
                  <a:pt x="19237310" y="7310177"/>
                </a:lnTo>
                <a:lnTo>
                  <a:pt x="0" y="73101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5b5e324e3b4cc2">
              <a:extLst>
                <a:ext uri="{96DAC541-7B7A-43D3-8B79-37D633B846F1}">
                  <asvg:svgBlip xmlns:asvg="http://schemas.microsoft.com/office/drawing/2016/SVG/main" r:embed="R332f151228ef4c0f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96BD0DC-0F23-4B5B-A651-EB86441E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2198120" y="-2779055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5fa4262dc64963">
              <a:alphaModFix amt="25000"/>
              <a:extLst>
                <a:ext uri="{96DAC541-7B7A-43D3-8B79-37D633B846F1}">
                  <asvg:svgBlip xmlns:asvg="http://schemas.microsoft.com/office/drawing/2016/SVG/main" r:embed="Rbfd8d65004454b2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2B82644-4D6A-4C0B-B051-52724BF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Change Management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2A1CC37-D33C-4468-9E0B-88EFD587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134247" y="-2342996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5fa4262dc64963">
              <a:alphaModFix amt="25000"/>
              <a:extLst>
                <a:ext uri="{96DAC541-7B7A-43D3-8B79-37D633B846F1}">
                  <asvg:svgBlip xmlns:asvg="http://schemas.microsoft.com/office/drawing/2016/SVG/main" r:embed="Rbfd8d65004454b2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51113B7-E37F-4C47-937F-533E0A9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2986205"/>
            <a:ext cx="5465474" cy="5189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The Merger: Andhra Bank and Corporation Bank amalgamated with Union Bank of India, bringing employees from different legacy systems together.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44F363-C1F4-48F8-9436-9E3D901E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SOP Adoption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21D811-73CF-49D8-9AED-8E950593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3708874"/>
            <a:ext cx="7665568" cy="1226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Staff described adapting to common Standard Operating Procedures for documentation, authorisation levels and customer service.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E910442-5A0F-4E8F-B508-20B9EEB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5420199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Ongoing Training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67B845-56FD-44FC-8DC9-3BAAF77A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6152394"/>
            <a:ext cx="7665568" cy="1189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Staff described ongoing training as important for adapting to the merged systems.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119066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C919723-730F-4A62-BB99-E97E509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5382268" y="-1274821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c743000fa64342">
              <a:alphaModFix amt="25000"/>
              <a:extLst>
                <a:ext uri="{96DAC541-7B7A-43D3-8B79-37D633B846F1}">
                  <asvg:svgBlip xmlns:asvg="http://schemas.microsoft.com/office/drawing/2016/SVG/main" r:embed="Re69ca5bed573417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35B5496-8B5D-4DC1-935A-3E896647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914400"/>
            <a:ext cx="9805176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00"/>
              </a:lnSpc>
              <a:buNone/>
            </a:pPr>
            <a:r>
              <a:rPr sz="6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Key Learnings</a:t>
            </a:r>
          </a:p>
          <a:p xmlns:a="http://schemas.openxmlformats.org/drawingml/2006/main">
            <a:pPr algn="ctr">
              <a:lnSpc>
                <a:spcPts val="8400"/>
              </a:lnSpc>
              <a:buNone/>
            </a:pP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DE4085C-F49C-4E46-B380-D191150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3784431" y="3582319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c743000fa64342">
              <a:alphaModFix amt="25000"/>
              <a:extLst>
                <a:ext uri="{96DAC541-7B7A-43D3-8B79-37D633B846F1}">
                  <asvg:svgBlip xmlns:asvg="http://schemas.microsoft.com/office/drawing/2016/SVG/main" r:embed="Re69ca5bed573417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0CD83C9-2C6C-4144-BA49-C99CEA6E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9769" y="2976680"/>
            <a:ext cx="13043344" cy="7415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604521" lvl="1" indent="-302261" algn="l">
              <a:lnSpc>
                <a:spcPts val="3920"/>
              </a:lnSpc>
              <a:buFont typeface="Arial"/>
              <a:buChar char="•"/>
              <a:defRPr sz="1950">
                <a:solidFill>
                  <a:srgbClr val="07315D"/>
                </a:solidFill>
              </a:defRPr>
            </a:pPr>
            <a:r>
              <a:rPr sz="1950" b="1">
                <a:solidFill>
                  <a:srgbClr val="07315D"/>
                </a:solidFill>
                <a:latin typeface="DM Sans Bold"/>
                <a:ea typeface="DM Sans Bold"/>
                <a:cs typeface="DM Sans Bold"/>
              </a:rPr>
              <a:t>• HR in a public-sector bank covers welfare, leave, transfers, training, internal communication and industrial relations.</a:t>
            </a:r>
          </a:p>
          <a:p xmlns:a="http://schemas.openxmlformats.org/drawingml/2006/main">
            <a:pPr marL="604521" lvl="1" indent="-302261" algn="l">
              <a:lnSpc>
                <a:spcPts val="3920"/>
              </a:lnSpc>
              <a:buFont typeface="Arial"/>
              <a:buChar char="•"/>
              <a:defRPr sz="1950">
                <a:solidFill>
                  <a:srgbClr val="07315D"/>
                </a:solidFill>
              </a:defRPr>
            </a:pPr>
            <a:r>
              <a:rPr sz="1950" b="1">
                <a:solidFill>
                  <a:srgbClr val="07315D"/>
                </a:solidFill>
                <a:latin typeface="DM Sans Bold"/>
                <a:ea typeface="DM Sans Bold"/>
                <a:cs typeface="DM Sans Bold"/>
              </a:rPr>
              <a:t>• Confidentiality and controlled access are central to handling employee records.</a:t>
            </a:r>
          </a:p>
          <a:p xmlns:a="http://schemas.openxmlformats.org/drawingml/2006/main">
            <a:pPr algn="l">
              <a:lnSpc>
                <a:spcPts val="3920"/>
              </a:lnSpc>
              <a:buNone/>
              <a:defRPr sz="1950">
                <a:solidFill>
                  <a:srgbClr val="07315D"/>
                </a:solidFill>
              </a:defRPr>
            </a:pPr>
            <a:r>
              <a:rPr sz="1950">
                <a:solidFill>
                  <a:srgbClr val="07315D"/>
                </a:solidFill>
              </a:rPr>
              <a:t>• Staffing levels and branch workload shape training participation.</a:t>
            </a:r>
          </a:p>
          <a:p xmlns:a="http://schemas.openxmlformats.org/drawingml/2006/main">
            <a:pPr algn="l">
              <a:lnSpc>
                <a:spcPts val="3920"/>
              </a:lnSpc>
              <a:buNone/>
              <a:defRPr sz="1950">
                <a:solidFill>
                  <a:srgbClr val="07315D"/>
                </a:solidFill>
              </a:defRPr>
            </a:pPr>
            <a:r>
              <a:rPr sz="1950">
                <a:solidFill>
                  <a:srgbClr val="07315D"/>
                </a:solidFill>
              </a:rPr>
              <a:t>• Hybrid learning works best when matched to the branch's operating conditions.</a:t>
            </a:r>
          </a:p>
          <a:p xmlns:a="http://schemas.openxmlformats.org/drawingml/2006/main">
            <a:pPr algn="l">
              <a:lnSpc>
                <a:spcPts val="3920"/>
              </a:lnSpc>
              <a:buNone/>
              <a:defRPr sz="1950">
                <a:solidFill>
                  <a:srgbClr val="07315D"/>
                </a:solidFill>
              </a:defRPr>
            </a:pPr>
            <a:r>
              <a:rPr sz="1950">
                <a:solidFill>
                  <a:srgbClr val="07315D"/>
                </a:solidFill>
              </a:rPr>
              <a:t>• The internship developed professional communication, research ethics and respectful data collection.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6487D78-2568-4173-A80B-51B5AFA6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1174" y="7270421"/>
            <a:ext cx="5458016" cy="3234380"/>
          </a:xfrm>
          <a:custGeom xmlns:a="http://schemas.openxmlformats.org/drawingml/2006/main">
            <a:rect l="l" t="t" r="r" b="b"/>
            <a:pathLst>
              <a:path w="5458016" h="3234380">
                <a:moveTo>
                  <a:pt x="0" y="0"/>
                </a:moveTo>
                <a:lnTo>
                  <a:pt x="5458016" y="0"/>
                </a:lnTo>
                <a:lnTo>
                  <a:pt x="5458016" y="3234379"/>
                </a:lnTo>
                <a:lnTo>
                  <a:pt x="0" y="32343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4e895c6e5c4547">
              <a:extLst>
                <a:ext uri="{96DAC541-7B7A-43D3-8B79-37D633B846F1}">
                  <asvg:svgBlip xmlns:asvg="http://schemas.microsoft.com/office/drawing/2016/SVG/main" r:embed="R185c3c71975747e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033E39E-A944-44F8-969F-C60FEDE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5579570" y="-717218"/>
            <a:ext cx="2708858" cy="3110380"/>
          </a:xfrm>
          <a:custGeom xmlns:a="http://schemas.openxmlformats.org/drawingml/2006/main">
            <a:rect l="l" t="t" r="r" b="b"/>
            <a:pathLst>
              <a:path w="2708858" h="3110380">
                <a:moveTo>
                  <a:pt x="0" y="0"/>
                </a:moveTo>
                <a:lnTo>
                  <a:pt x="2708859" y="0"/>
                </a:lnTo>
                <a:lnTo>
                  <a:pt x="2708859" y="3110380"/>
                </a:lnTo>
                <a:lnTo>
                  <a:pt x="0" y="31103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827f9e7cf842b7">
              <a:extLst>
                <a:ext uri="{96DAC541-7B7A-43D3-8B79-37D633B846F1}">
                  <asvg:svgBlip xmlns:asvg="http://schemas.microsoft.com/office/drawing/2016/SVG/main" r:embed="Reb9db4700afe4fc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81ECDA7-8A1E-4B43-AAA9-E96C078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6" y="-2984879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E61E26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3BAA75-D5F7-478A-8687-993E987F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498" y="-3165705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808B281-B3AD-4C6A-88F4-5C8C6691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456" y="-3369546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00497E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D808E90-BDBE-442F-9713-F4F9F951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694" y="-3550372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673059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7250773-DA29-475D-8FF0-D92DD4E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 flipH="0" flipV="0">
            <a:off x="13376033" y="6763973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39ac60459f485b">
              <a:alphaModFix amt="25000"/>
              <a:extLst>
                <a:ext uri="{96DAC541-7B7A-43D3-8B79-37D633B846F1}">
                  <asvg:svgBlip xmlns:asvg="http://schemas.microsoft.com/office/drawing/2016/SVG/main" r:embed="R48a692e03da7429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0AE88B7-5257-42CC-8282-0E538DD0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3241272" y="-5249286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39ac60459f485b">
              <a:alphaModFix amt="25000"/>
              <a:extLst>
                <a:ext uri="{96DAC541-7B7A-43D3-8B79-37D633B846F1}">
                  <asvg:svgBlip xmlns:asvg="http://schemas.microsoft.com/office/drawing/2016/SVG/main" r:embed="R48a692e03da7429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C538FF1-BA3A-4C03-9770-DA3A1715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410" flipH="0" flipV="0">
            <a:off x="1361661" y="9448173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6" y="0"/>
                </a:lnTo>
                <a:lnTo>
                  <a:pt x="5897366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3f6478351b4157">
              <a:extLst>
                <a:ext uri="{96DAC541-7B7A-43D3-8B79-37D633B846F1}">
                  <asvg:svgBlip xmlns:asvg="http://schemas.microsoft.com/office/drawing/2016/SVG/main" r:embed="Rc2d86d7a0a2b4a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00A21E5-6DA9-4FD3-8E2A-D35D201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58324" flipH="0" flipV="0">
            <a:off x="6142566" y="7119963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6" y="0"/>
                </a:lnTo>
                <a:lnTo>
                  <a:pt x="5897366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3f6478351b4157">
              <a:extLst>
                <a:ext uri="{96DAC541-7B7A-43D3-8B79-37D633B846F1}">
                  <asvg:svgBlip xmlns:asvg="http://schemas.microsoft.com/office/drawing/2016/SVG/main" r:embed="Rc2d86d7a0a2b4a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9972E8E-F652-413C-9A44-2323B4A8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22178" flipH="0" flipV="0">
            <a:off x="10395646" y="3881364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7" y="0"/>
                </a:lnTo>
                <a:lnTo>
                  <a:pt x="5897367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3f6478351b4157">
              <a:extLst>
                <a:ext uri="{96DAC541-7B7A-43D3-8B79-37D633B846F1}">
                  <asvg:svgBlip xmlns:asvg="http://schemas.microsoft.com/office/drawing/2016/SVG/main" r:embed="Rc2d86d7a0a2b4a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2BE5D8A-653E-4174-A550-CBDB6FA9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146091" flipH="0" flipV="0">
            <a:off x="13877716" y="-137692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7" y="0"/>
                </a:lnTo>
                <a:lnTo>
                  <a:pt x="5897367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3f6478351b4157">
              <a:extLst>
                <a:ext uri="{96DAC541-7B7A-43D3-8B79-37D633B846F1}">
                  <asvg:svgBlip xmlns:asvg="http://schemas.microsoft.com/office/drawing/2016/SVG/main" r:embed="Rc2d86d7a0a2b4a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B96E476-CBCF-4553-BF45-33AD22B0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186" y="888298"/>
            <a:ext cx="13924129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87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Conclusion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B26AC71-1C4B-4A67-9D6E-98A4B0C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07024" y="7669968"/>
            <a:ext cx="5337688" cy="2901761"/>
          </a:xfrm>
          <a:custGeom xmlns:a="http://schemas.openxmlformats.org/drawingml/2006/main">
            <a:rect l="l" t="t" r="r" b="b"/>
            <a:pathLst>
              <a:path w="5337688" h="2901761">
                <a:moveTo>
                  <a:pt x="0" y="0"/>
                </a:moveTo>
                <a:lnTo>
                  <a:pt x="5337688" y="0"/>
                </a:lnTo>
                <a:lnTo>
                  <a:pt x="5337688" y="2901761"/>
                </a:lnTo>
                <a:lnTo>
                  <a:pt x="0" y="29017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db29692df3459b">
              <a:extLst>
                <a:ext uri="{96DAC541-7B7A-43D3-8B79-37D633B846F1}">
                  <asvg:svgBlip xmlns:asvg="http://schemas.microsoft.com/office/drawing/2016/SVG/main" r:embed="R94a84f64745141a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4981E4D-BDD6-4010-A0FB-074FF5EB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581" y="5408804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3" y="0"/>
                </a:lnTo>
                <a:lnTo>
                  <a:pt x="921113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a2ea6c8ecc4523">
              <a:extLst>
                <a:ext uri="{96DAC541-7B7A-43D3-8B79-37D633B846F1}">
                  <asvg:svgBlip xmlns:asvg="http://schemas.microsoft.com/office/drawing/2016/SVG/main" r:embed="Ra54e0787fa73483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A0936B2-8302-4A9F-821E-EBCB89C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2013" y="5566571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9" y="0"/>
                </a:lnTo>
                <a:lnTo>
                  <a:pt x="660249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be0b639c6b402c">
              <a:extLst>
                <a:ext uri="{96DAC541-7B7A-43D3-8B79-37D633B846F1}">
                  <asvg:svgBlip xmlns:asvg="http://schemas.microsoft.com/office/drawing/2016/SVG/main" r:embed="R525970712e7f4c9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5565201-C1EF-4D52-983E-A9EDD542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503" y="6697046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3" y="0"/>
                </a:lnTo>
                <a:lnTo>
                  <a:pt x="921113" y="1498853"/>
                </a:lnTo>
                <a:lnTo>
                  <a:pt x="0" y="149885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a2ea6c8ecc4523">
              <a:extLst>
                <a:ext uri="{96DAC541-7B7A-43D3-8B79-37D633B846F1}">
                  <asvg:svgBlip xmlns:asvg="http://schemas.microsoft.com/office/drawing/2016/SVG/main" r:embed="Ra54e0787fa73483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8DBF8E9-FD87-4C68-8720-C07C6965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8662" y="6828943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2" y="0"/>
                </a:lnTo>
                <a:lnTo>
                  <a:pt x="921112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a2ea6c8ecc4523">
              <a:extLst>
                <a:ext uri="{96DAC541-7B7A-43D3-8B79-37D633B846F1}">
                  <asvg:svgBlip xmlns:asvg="http://schemas.microsoft.com/office/drawing/2016/SVG/main" r:embed="Ra54e0787fa73483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2020B06-3001-4B81-989B-266CB699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95268" y="5948646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3" y="0"/>
                </a:lnTo>
                <a:lnTo>
                  <a:pt x="921113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a2ea6c8ecc4523">
              <a:extLst>
                <a:ext uri="{96DAC541-7B7A-43D3-8B79-37D633B846F1}">
                  <asvg:svgBlip xmlns:asvg="http://schemas.microsoft.com/office/drawing/2016/SVG/main" r:embed="Ra54e0787fa73483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F38B760-2A99-411B-97E1-08C1A3E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4935" y="6827917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9" y="0"/>
                </a:lnTo>
                <a:lnTo>
                  <a:pt x="660249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be0b639c6b402c">
              <a:extLst>
                <a:ext uri="{96DAC541-7B7A-43D3-8B79-37D633B846F1}">
                  <asvg:svgBlip xmlns:asvg="http://schemas.microsoft.com/office/drawing/2016/SVG/main" r:embed="R525970712e7f4c9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3F7CA53-4ADB-470B-96D8-2E9710F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9094" y="6986002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8" y="0"/>
                </a:lnTo>
                <a:lnTo>
                  <a:pt x="660248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be0b639c6b402c">
              <a:extLst>
                <a:ext uri="{96DAC541-7B7A-43D3-8B79-37D633B846F1}">
                  <asvg:svgBlip xmlns:asvg="http://schemas.microsoft.com/office/drawing/2016/SVG/main" r:embed="R525970712e7f4c9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C855F01-DEF6-445E-BD94-350ABF41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25701" y="6079517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8" y="0"/>
                </a:lnTo>
                <a:lnTo>
                  <a:pt x="660248" y="660248"/>
                </a:lnTo>
                <a:lnTo>
                  <a:pt x="0" y="66024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be0b639c6b402c">
              <a:extLst>
                <a:ext uri="{96DAC541-7B7A-43D3-8B79-37D633B846F1}">
                  <asvg:svgBlip xmlns:asvg="http://schemas.microsoft.com/office/drawing/2016/SVG/main" r:embed="R525970712e7f4c9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111C0E-B137-4690-BFE0-089B8D41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9011" y="6906630"/>
            <a:ext cx="412096" cy="502822"/>
          </a:xfrm>
          <a:custGeom xmlns:a="http://schemas.openxmlformats.org/drawingml/2006/main">
            <a:rect l="l" t="t" r="r" b="b"/>
            <a:pathLst>
              <a:path w="412096" h="502822">
                <a:moveTo>
                  <a:pt x="0" y="0"/>
                </a:moveTo>
                <a:lnTo>
                  <a:pt x="412096" y="0"/>
                </a:lnTo>
                <a:lnTo>
                  <a:pt x="412096" y="502822"/>
                </a:lnTo>
                <a:lnTo>
                  <a:pt x="0" y="5028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5ddc53818f44d82">
              <a:extLst>
                <a:ext uri="{96DAC541-7B7A-43D3-8B79-37D633B846F1}">
                  <asvg:svgBlip xmlns:asvg="http://schemas.microsoft.com/office/drawing/2016/SVG/main" r:embed="Rb5bba704daf44f4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7A5A0D7-116C-4C5D-AED3-6799B3E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8524" y="7103889"/>
            <a:ext cx="421389" cy="424476"/>
          </a:xfrm>
          <a:custGeom xmlns:a="http://schemas.openxmlformats.org/drawingml/2006/main">
            <a:rect l="l" t="t" r="r" b="b"/>
            <a:pathLst>
              <a:path w="421389" h="424476">
                <a:moveTo>
                  <a:pt x="0" y="0"/>
                </a:moveTo>
                <a:lnTo>
                  <a:pt x="421388" y="0"/>
                </a:lnTo>
                <a:lnTo>
                  <a:pt x="421388" y="424476"/>
                </a:lnTo>
                <a:lnTo>
                  <a:pt x="0" y="42447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07284c2d5745e7">
              <a:extLst>
                <a:ext uri="{96DAC541-7B7A-43D3-8B79-37D633B846F1}">
                  <asvg:svgBlip xmlns:asvg="http://schemas.microsoft.com/office/drawing/2016/SVG/main" r:embed="Reb579d4bc045430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12105D9-23CF-4A69-93B0-72D61980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3387" y="5599322"/>
            <a:ext cx="597501" cy="594748"/>
          </a:xfrm>
          <a:custGeom xmlns:a="http://schemas.openxmlformats.org/drawingml/2006/main">
            <a:rect l="l" t="t" r="r" b="b"/>
            <a:pathLst>
              <a:path w="597501" h="594748">
                <a:moveTo>
                  <a:pt x="0" y="0"/>
                </a:moveTo>
                <a:lnTo>
                  <a:pt x="597501" y="0"/>
                </a:lnTo>
                <a:lnTo>
                  <a:pt x="597501" y="594748"/>
                </a:lnTo>
                <a:lnTo>
                  <a:pt x="0" y="59474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a402b6460da4d7a">
              <a:extLst>
                <a:ext uri="{96DAC541-7B7A-43D3-8B79-37D633B846F1}">
                  <asvg:svgBlip xmlns:asvg="http://schemas.microsoft.com/office/drawing/2016/SVG/main" r:embed="Rff89375c926b410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DEED41C-8D5D-4E00-8FA5-F98BE3BF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4161" y="6176765"/>
            <a:ext cx="483328" cy="465753"/>
          </a:xfrm>
          <a:custGeom xmlns:a="http://schemas.openxmlformats.org/drawingml/2006/main">
            <a:rect l="l" t="t" r="r" b="b"/>
            <a:pathLst>
              <a:path w="483328" h="465753">
                <a:moveTo>
                  <a:pt x="0" y="0"/>
                </a:moveTo>
                <a:lnTo>
                  <a:pt x="483328" y="0"/>
                </a:lnTo>
                <a:lnTo>
                  <a:pt x="483328" y="465752"/>
                </a:lnTo>
                <a:lnTo>
                  <a:pt x="0" y="4657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60084159014216">
              <a:extLst>
                <a:ext uri="{96DAC541-7B7A-43D3-8B79-37D633B846F1}">
                  <asvg:svgBlip xmlns:asvg="http://schemas.microsoft.com/office/drawing/2016/SVG/main" r:embed="Rc1c94c4032e44c5b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3C4F6AB-BCBB-465B-9465-1879A9E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5905500"/>
            <a:ext cx="342900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Professional Growth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F8B4154-395C-4D99-8EFA-38CD6E3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5953125"/>
            <a:ext cx="381000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Operational Grounding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49DBCEC-3C74-4D8B-A997-32D8CB82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5191125"/>
            <a:ext cx="31432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Dissertation Value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00CE8CDA-0C97-4FCF-96EE-00EA4FC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810125"/>
            <a:ext cx="29527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Theory to Practice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03B655B-D7A9-435E-8908-7D7AA09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3010261"/>
            <a:ext cx="14457325" cy="1189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The internship connected classroom learning with practical HR administration, fieldwork and change management, directly informing the dissertation on Hybrid Learning and Training Effectiveness.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614907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3FCCA31E-7793-4C4F-8120-AB278026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2951702"/>
            <a:ext cx="9805176" cy="21399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7499"/>
              </a:lnSpc>
              <a:buNone/>
            </a:pPr>
            <a:r>
              <a:rPr sz="124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Thank You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EE12EB7-1D8B-409E-A2A4-5A3FC54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7207283" y="7457070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8968ce9b1f4de9">
              <a:alphaModFix amt="25000"/>
              <a:extLst>
                <a:ext uri="{96DAC541-7B7A-43D3-8B79-37D633B846F1}">
                  <asvg:svgBlip xmlns:asvg="http://schemas.microsoft.com/office/drawing/2016/SVG/main" r:embed="Rf3ab680943564ac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5124643-0423-4929-990F-4664935F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69372" y="6989550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43de05a0754d71">
              <a:extLst>
                <a:ext uri="{96DAC541-7B7A-43D3-8B79-37D633B846F1}">
                  <asvg:svgBlip xmlns:asvg="http://schemas.microsoft.com/office/drawing/2016/SVG/main" r:embed="Rc71a659f79e64ce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A549527-77A2-4A1F-AA2E-7ED0595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136304" y="3113782"/>
            <a:ext cx="10952735" cy="4162039"/>
          </a:xfrm>
          <a:custGeom xmlns:a="http://schemas.openxmlformats.org/drawingml/2006/main">
            <a:rect l="l" t="t" r="r" b="b"/>
            <a:pathLst>
              <a:path w="10952735" h="4162039">
                <a:moveTo>
                  <a:pt x="0" y="0"/>
                </a:moveTo>
                <a:lnTo>
                  <a:pt x="10952735" y="0"/>
                </a:lnTo>
                <a:lnTo>
                  <a:pt x="10952735" y="4162039"/>
                </a:lnTo>
                <a:lnTo>
                  <a:pt x="0" y="41620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c4cee61b1a4180">
              <a:extLst>
                <a:ext uri="{96DAC541-7B7A-43D3-8B79-37D633B846F1}">
                  <asvg:svgBlip xmlns:asvg="http://schemas.microsoft.com/office/drawing/2016/SVG/main" r:embed="R6fd36ebfc649433f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677E9A-A4D5-4B7B-A028-8284DFDC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4414" y="5029226"/>
            <a:ext cx="6699172" cy="1057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3000" i="1">
                <a:solidFill>
                  <a:srgbClr val="042147"/>
                </a:solidFill>
                <a:latin typeface="DM Sans Italics"/>
                <a:ea typeface="DM Sans Italics"/>
                <a:cs typeface="DM Sans Italics"/>
              </a:rPr>
              <a:t>Presented by Sreetama Ghosh Ray</a:t>
            </a:r>
          </a:p>
          <a:p xmlns:a="http://schemas.openxmlformats.org/drawingml/2006/main">
            <a:pPr algn="ctr">
              <a:lnSpc>
                <a:spcPts val="42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572599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2026-09-27T18:31:59.6120000Z</dcterms:created>
  <dcterms:modified xsi:type="dcterms:W3CDTF">2026-09-27T18:31:59.6120000Z</dcterms:modified>
</coreProperties>
</file>