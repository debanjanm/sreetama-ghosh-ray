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87ea0f43844fcf" /><Relationship Type="http://schemas.openxmlformats.org/officeDocument/2006/relationships/extended-properties" Target="/docProps/app.xml" Id="R54fbe6fc8605495f" /><Relationship Type="http://schemas.openxmlformats.org/officeDocument/2006/relationships/officeDocument" Target="/ppt/presentation.xml" Id="R99903c9e188e4f4c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0fd898c72be04d6d"/>
  </p:sldMasterIdLst>
  <p:notesMasterIdLst>
    <p:notesMasterId xmlns:r="http://schemas.openxmlformats.org/officeDocument/2006/relationships" r:id="R49bb5802ede94854"/>
  </p:notesMasterIdLst>
  <p:sldIdLst>
    <p:sldId xmlns:r="http://schemas.openxmlformats.org/officeDocument/2006/relationships" id="256" r:id="R4271afad33044909"/>
    <p:sldId xmlns:r="http://schemas.openxmlformats.org/officeDocument/2006/relationships" id="257" r:id="R6e2a36fa13f6484f"/>
    <p:sldId xmlns:r="http://schemas.openxmlformats.org/officeDocument/2006/relationships" id="258" r:id="R192fbe517c254b00"/>
    <p:sldId xmlns:r="http://schemas.openxmlformats.org/officeDocument/2006/relationships" id="259" r:id="R411f822d57b44e51"/>
    <p:sldId xmlns:r="http://schemas.openxmlformats.org/officeDocument/2006/relationships" id="260" r:id="Re045e18c93594aaa"/>
    <p:sldId xmlns:r="http://schemas.openxmlformats.org/officeDocument/2006/relationships" id="261" r:id="R7d064e05b0dd45eb"/>
    <p:sldId xmlns:r="http://schemas.openxmlformats.org/officeDocument/2006/relationships" id="262" r:id="Rdb5c262cd1d949d1"/>
    <p:sldId xmlns:r="http://schemas.openxmlformats.org/officeDocument/2006/relationships" id="263" r:id="R47f3a449f4ca4c3f"/>
    <p:sldId xmlns:r="http://schemas.openxmlformats.org/officeDocument/2006/relationships" id="264" r:id="R314588d6a46f4e4b"/>
    <p:sldId xmlns:r="http://schemas.openxmlformats.org/officeDocument/2006/relationships" id="265" r:id="Re9e96703de1743ca"/>
  </p:sldIdLst>
  <p:sldSz cx="18288000" cy="10287000"/>
  <p:notesSz cx="6858000" cy="9144000"/>
  <p:embeddedFontLst>
    <p:embeddedFont>
      <p:font typeface="Cormorant Garamond Bold"/>
      <p:regular xmlns:r="http://schemas.openxmlformats.org/officeDocument/2006/relationships" r:id="R6b25b4ac8a474d57"/>
    </p:embeddedFont>
    <p:embeddedFont>
      <p:font typeface="DM Sans Italics"/>
      <p:regular xmlns:r="http://schemas.openxmlformats.org/officeDocument/2006/relationships" r:id="Rfd52018f122e4219"/>
    </p:embeddedFont>
    <p:embeddedFont>
      <p:font typeface="DM Sans Bold"/>
      <p:regular xmlns:r="http://schemas.openxmlformats.org/officeDocument/2006/relationships" r:id="R335c075be13b452b"/>
    </p:embeddedFont>
    <p:embeddedFont>
      <p:font typeface="DM Sans"/>
      <p:regular xmlns:r="http://schemas.openxmlformats.org/officeDocument/2006/relationships" r:id="Rf93e6700f3644b75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66666d9de542d7" /><Relationship Type="http://schemas.openxmlformats.org/officeDocument/2006/relationships/slideMaster" Target="/ppt/slideMasters/slideMaster1.xml" Id="R0fd898c72be04d6d" /><Relationship Type="http://schemas.openxmlformats.org/officeDocument/2006/relationships/notesMaster" Target="/ppt/notesMasters/notesMaster1.xml" Id="R49bb5802ede94854" /><Relationship Type="http://schemas.openxmlformats.org/officeDocument/2006/relationships/presProps" Target="/ppt/presProps.xml" Id="R6ef2b4bfb2e64fa0" /><Relationship Type="http://schemas.openxmlformats.org/officeDocument/2006/relationships/viewProps" Target="/ppt/viewProps.xml" Id="Rff6aa23737664592" /><Relationship Type="http://schemas.openxmlformats.org/officeDocument/2006/relationships/tableStyles" Target="/ppt/tableStyles.xml" Id="Rcf6725675bf64209" /><Relationship Type="http://schemas.openxmlformats.org/officeDocument/2006/relationships/font" Target="/ppt/fonts/font.dat" Id="R6b25b4ac8a474d57" /><Relationship Type="http://schemas.openxmlformats.org/officeDocument/2006/relationships/font" Target="/ppt/fonts/font2.dat" Id="Rfd52018f122e4219" /><Relationship Type="http://schemas.openxmlformats.org/officeDocument/2006/relationships/font" Target="/ppt/fonts/font3.dat" Id="R335c075be13b452b" /><Relationship Type="http://schemas.openxmlformats.org/officeDocument/2006/relationships/font" Target="/ppt/fonts/font4.dat" Id="Rf93e6700f3644b75" /><Relationship Type="http://schemas.openxmlformats.org/officeDocument/2006/relationships/slide" Target="/ppt/slides/slide1.xml" Id="R4271afad33044909" /><Relationship Type="http://schemas.openxmlformats.org/officeDocument/2006/relationships/slide" Target="/ppt/slides/slide2.xml" Id="R6e2a36fa13f6484f" /><Relationship Type="http://schemas.openxmlformats.org/officeDocument/2006/relationships/slide" Target="/ppt/slides/slide3.xml" Id="R192fbe517c254b00" /><Relationship Type="http://schemas.openxmlformats.org/officeDocument/2006/relationships/slide" Target="/ppt/slides/slide4.xml" Id="R411f822d57b44e51" /><Relationship Type="http://schemas.openxmlformats.org/officeDocument/2006/relationships/slide" Target="/ppt/slides/slide5.xml" Id="Re045e18c93594aaa" /><Relationship Type="http://schemas.openxmlformats.org/officeDocument/2006/relationships/slide" Target="/ppt/slides/slide6.xml" Id="R7d064e05b0dd45eb" /><Relationship Type="http://schemas.openxmlformats.org/officeDocument/2006/relationships/slide" Target="/ppt/slides/slide7.xml" Id="Rdb5c262cd1d949d1" /><Relationship Type="http://schemas.openxmlformats.org/officeDocument/2006/relationships/slide" Target="/ppt/slides/slide8.xml" Id="R47f3a449f4ca4c3f" /><Relationship Type="http://schemas.openxmlformats.org/officeDocument/2006/relationships/slide" Target="/ppt/slides/slide9.xml" Id="R314588d6a46f4e4b" /><Relationship Type="http://schemas.openxmlformats.org/officeDocument/2006/relationships/slide" Target="/ppt/slides/slide10.xml" Id="Re9e96703de1743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4c754bf7644b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a7b6f836524747" /><Relationship Type="http://schemas.openxmlformats.org/officeDocument/2006/relationships/notesMaster" Target="/ppt/notesMasters/notesMaster1.xml" Id="R30e1579aa8d547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22b61f5a464a04" /><Relationship Type="http://schemas.openxmlformats.org/officeDocument/2006/relationships/notesMaster" Target="/ppt/notesMasters/notesMaster1.xml" Id="R15d9d6c1b43c40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33d2cd2377450e" /><Relationship Type="http://schemas.openxmlformats.org/officeDocument/2006/relationships/notesMaster" Target="/ppt/notesMasters/notesMaster1.xml" Id="R696b7b748e7b42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37fa2e9ab14844" /><Relationship Type="http://schemas.openxmlformats.org/officeDocument/2006/relationships/notesMaster" Target="/ppt/notesMasters/notesMaster1.xml" Id="R2ef36d30a5be4bb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c51b4223134bbf" /><Relationship Type="http://schemas.openxmlformats.org/officeDocument/2006/relationships/notesMaster" Target="/ppt/notesMasters/notesMaster1.xml" Id="Rc1545560535a4f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a81cf3617a4cdf" /><Relationship Type="http://schemas.openxmlformats.org/officeDocument/2006/relationships/notesMaster" Target="/ppt/notesMasters/notesMaster1.xml" Id="R61a61096cbe8429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8e29513bf74d49" /><Relationship Type="http://schemas.openxmlformats.org/officeDocument/2006/relationships/notesMaster" Target="/ppt/notesMasters/notesMaster1.xml" Id="R18838ed8962847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78b7a51ae046d1" /><Relationship Type="http://schemas.openxmlformats.org/officeDocument/2006/relationships/notesMaster" Target="/ppt/notesMasters/notesMaster1.xml" Id="R4b7ec4bde4074d9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8745a0579b94349" /><Relationship Type="http://schemas.openxmlformats.org/officeDocument/2006/relationships/notesMaster" Target="/ppt/notesMasters/notesMaster1.xml" Id="R33575406ca364e4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1d5b8a06cd54195" /><Relationship Type="http://schemas.openxmlformats.org/officeDocument/2006/relationships/notesMaster" Target="/ppt/notesMasters/notesMaster1.xml" Id="Rcae49bf4808942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b9bf535b34425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dde1742cb3452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b4e9fdb3e3499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2ee3d70f634a9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6d16be2064432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c3c37c84dc40e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ffcac614d7458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8ba49a648a4ed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604a87f3044a5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503395d3244e1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c3ec804b434ccf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67165BE-0307-428F-98FE-059DE733ADA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19C4ED6D-42F1-4858-93F1-A042D20DE1C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9ED3ECC-90CF-4819-A118-43A1A56A02C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E6DCEBA-7AEA-4C86-97EE-1411F9A89A8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562BC03-A192-443C-9F7B-B70BA10329B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6B9ABB-28C5-40FE-AB58-C23F32BD3B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960CF96-37B0-471A-8FD3-9A07D915666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CCDF909-EF4E-43BE-B771-D41B576176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F87C9A6-6525-4E79-8BD7-82ABF78258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904CBB5-D6B8-46FE-BE72-F9E2FDB9531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5BFCE8D-2909-4620-9A46-22C62495BB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7C1A91B-05A5-4AB2-8574-5F032B4C81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5C58B2F-6E43-4CD3-B03B-C939693874E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767ABEB-54B2-404C-B150-AD11B63334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9BA0165-F99C-47BE-B18F-55E872CE7CF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F95669-F199-4E21-A02D-349BF9528A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704E46D-B704-48B2-A430-40DD149BB86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D4B82CC-B2BD-4560-B696-C1055F5FE84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26134D8-EDDE-42A2-8ED5-B6897037F7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6126F3A-2635-412A-AB0C-073E89B51A0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DBAF480-38D5-4FB0-88FE-080E3B0E09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F2591F1-0FC8-4FC7-8EC0-1FCC139E29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4A812B1-5D49-4AF6-84C7-DF70AE7DD0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CC9F373-D6FA-42E4-9720-00D497AE9D8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F8A50FD-0121-4464-900C-655864BEAE1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6076705C-E030-4612-9012-05D1F11AAF1F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4127037-C2B7-4F85-AE1B-592AC41D6F1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D0639D51-0A60-4863-9207-6194E032B28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EC33C786-DFA2-47B2-A1FE-146FFD1ACD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15AE787-2FDA-4E53-B3A2-D6F024EE10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5354A02-15C7-4F80-9425-4EECEDBD4EB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D9E4B9E-0B88-4166-9F71-9801008448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88325974-6B7A-494A-B5E6-2444AC95E7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1EAFCBB6-1541-4590-BD86-BDC5819640F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5AEC7CA4-E46F-4C5C-903A-6CBFD9A7C92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FB07F7A5-8D78-4AAC-BBFE-6CFB7493B9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E3BB04-716B-463B-AFED-E8B1798128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3480DF-FC03-4030-8A78-391B78A352D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9667F29-47A2-4ECC-838A-695E519F1EC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BED4A2A-A6FB-4258-9C3B-4DB023CAAD0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5828639-E145-4DF7-BE29-FCE5723A4AD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BCC7ED3-FBB8-436A-BFFD-0938F5F5C79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316BEB2-6947-4E34-A796-F5226C884F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926D011A-7D1A-40EE-875B-BA23E1D7BD7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07174EC-3510-44D7-AF3A-A7774C89310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B54F01F-6B8B-4C91-8FAF-1920C47A48F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C83F217-BE02-4AA4-81F6-63D2837243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EB37E73-67FF-4BE7-9160-9BE2FE85C43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421D3C-F745-47E4-BCD6-73EBEFE08E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CD14F05-8DD6-4B2B-A5C0-375ECD72FE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0B2577E-3B01-48C7-A3E8-B58F5CE376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5F227EB-5724-4B7F-8663-0F73B43C0D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B1968A-B1AF-4041-85CD-DF806E012F1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39BB733B-1DE4-4A50-A139-ADC45898A7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2977DEF-05AD-41A1-9038-AC4324E04C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5AF4250-8BA3-43C3-9B92-61AB30B9871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AAB3D99-2D96-48F5-B4E6-DEA07BA8E66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3C70454-606D-4CEB-91B1-C329E72CCEB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9f37d75f264ead" /><Relationship Type="http://schemas.openxmlformats.org/officeDocument/2006/relationships/slideLayout" Target="/ppt/slideLayouts/slideLayout1.xml" Id="R45a31966412c41f4" /><Relationship Type="http://schemas.openxmlformats.org/officeDocument/2006/relationships/slideLayout" Target="/ppt/slideLayouts/slideLayout2.xml" Id="R4edbac814e424fe0" /><Relationship Type="http://schemas.openxmlformats.org/officeDocument/2006/relationships/slideLayout" Target="/ppt/slideLayouts/slideLayout3.xml" Id="R34057b6d0b774d83" /><Relationship Type="http://schemas.openxmlformats.org/officeDocument/2006/relationships/slideLayout" Target="/ppt/slideLayouts/slideLayout4.xml" Id="R198aa5ee12be4d69" /><Relationship Type="http://schemas.openxmlformats.org/officeDocument/2006/relationships/slideLayout" Target="/ppt/slideLayouts/slideLayout5.xml" Id="R23f9a1f1ac014f39" /><Relationship Type="http://schemas.openxmlformats.org/officeDocument/2006/relationships/slideLayout" Target="/ppt/slideLayouts/slideLayout6.xml" Id="R548d5c0c1be34c4d" /><Relationship Type="http://schemas.openxmlformats.org/officeDocument/2006/relationships/slideLayout" Target="/ppt/slideLayouts/slideLayout7.xml" Id="Rc69ac8c1b5984b72" /><Relationship Type="http://schemas.openxmlformats.org/officeDocument/2006/relationships/slideLayout" Target="/ppt/slideLayouts/slideLayout8.xml" Id="R12834ba1947e496c" /><Relationship Type="http://schemas.openxmlformats.org/officeDocument/2006/relationships/slideLayout" Target="/ppt/slideLayouts/slideLayout9.xml" Id="Re82f2d2fbf8d412f" /><Relationship Type="http://schemas.openxmlformats.org/officeDocument/2006/relationships/slideLayout" Target="/ppt/slideLayouts/slideLayout10.xml" Id="Re7e51524bb9b4f78" /><Relationship Type="http://schemas.openxmlformats.org/officeDocument/2006/relationships/slideLayout" Target="/ppt/slideLayouts/slideLayout11.xml" Id="Ree47b662d6c5496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40C35A5-10B9-45CC-BEC6-F1B3F23FC3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78AC51D-27AC-4C6B-896D-3108190EAF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2191950-233E-496B-BC40-1736A89444C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4238552-C1D0-4AC5-9D48-3FBD0B6242F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FB54965-36FE-433D-B4A9-1CB4FA2995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a31966412c41f4"/>
    <p:sldLayoutId xmlns:r="http://schemas.openxmlformats.org/officeDocument/2006/relationships" id="2147483650" r:id="R4edbac814e424fe0"/>
    <p:sldLayoutId xmlns:r="http://schemas.openxmlformats.org/officeDocument/2006/relationships" id="2147483651" r:id="R34057b6d0b774d83"/>
    <p:sldLayoutId xmlns:r="http://schemas.openxmlformats.org/officeDocument/2006/relationships" id="2147483652" r:id="R198aa5ee12be4d69"/>
    <p:sldLayoutId xmlns:r="http://schemas.openxmlformats.org/officeDocument/2006/relationships" id="2147483653" r:id="R23f9a1f1ac014f39"/>
    <p:sldLayoutId xmlns:r="http://schemas.openxmlformats.org/officeDocument/2006/relationships" id="2147483654" r:id="R548d5c0c1be34c4d"/>
    <p:sldLayoutId xmlns:r="http://schemas.openxmlformats.org/officeDocument/2006/relationships" id="2147483655" r:id="Rc69ac8c1b5984b72"/>
    <p:sldLayoutId xmlns:r="http://schemas.openxmlformats.org/officeDocument/2006/relationships" id="2147483656" r:id="R12834ba1947e496c"/>
    <p:sldLayoutId xmlns:r="http://schemas.openxmlformats.org/officeDocument/2006/relationships" id="2147483657" r:id="Re82f2d2fbf8d412f"/>
    <p:sldLayoutId xmlns:r="http://schemas.openxmlformats.org/officeDocument/2006/relationships" id="2147483658" r:id="Re7e51524bb9b4f78"/>
    <p:sldLayoutId xmlns:r="http://schemas.openxmlformats.org/officeDocument/2006/relationships" id="2147483659" r:id="Ree47b662d6c54968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caa1ef9dff14987" /><Relationship Type="http://schemas.openxmlformats.org/officeDocument/2006/relationships/image" Target="/ppt/media/image.png" Id="R6b5e022a97f64801" /><Relationship Type="http://schemas.openxmlformats.org/officeDocument/2006/relationships/image" Target="/ppt/media/image.svg" Id="R0061efa024164175" /><Relationship Type="http://schemas.openxmlformats.org/officeDocument/2006/relationships/image" Target="/ppt/media/image2.png" Id="R23c25ea20f7749dc" /><Relationship Type="http://schemas.openxmlformats.org/officeDocument/2006/relationships/image" Target="/ppt/media/image2.svg" Id="R92ff8d23c3cf4e68" /><Relationship Type="http://schemas.openxmlformats.org/officeDocument/2006/relationships/image" Target="/ppt/media/image3.png" Id="R4358f76851ad49eb" /><Relationship Type="http://schemas.openxmlformats.org/officeDocument/2006/relationships/image" Target="/ppt/media/image3.svg" Id="Ra10fb822cfcb47bf" /><Relationship Type="http://schemas.openxmlformats.org/officeDocument/2006/relationships/notesSlide" Target="/ppt/notesSlides/notesSlide1.xml" Id="R850f02463f6a45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bb48f24a126446f" /><Relationship Type="http://schemas.openxmlformats.org/officeDocument/2006/relationships/image" Target="/ppt/media/image2.png" Id="R523eb734b104488f" /><Relationship Type="http://schemas.openxmlformats.org/officeDocument/2006/relationships/image" Target="/ppt/media/image2.svg" Id="Rf74c9040a30b48f0" /><Relationship Type="http://schemas.openxmlformats.org/officeDocument/2006/relationships/image" Target="/ppt/media/image.png" Id="Recb74e1518ab4327" /><Relationship Type="http://schemas.openxmlformats.org/officeDocument/2006/relationships/image" Target="/ppt/media/image.svg" Id="R37e3b82b4cb4462b" /><Relationship Type="http://schemas.openxmlformats.org/officeDocument/2006/relationships/image" Target="/ppt/media/image4.png" Id="Rcdd441227e824dac" /><Relationship Type="http://schemas.openxmlformats.org/officeDocument/2006/relationships/image" Target="/ppt/media/image4.svg" Id="R5825462827f04b83" /><Relationship Type="http://schemas.openxmlformats.org/officeDocument/2006/relationships/notesSlide" Target="/ppt/notesSlides/notesSlide2.xml" Id="R3d61b97ceac046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92effc5f14d4b0b" /><Relationship Type="http://schemas.openxmlformats.org/officeDocument/2006/relationships/image" Target="/ppt/media/image2.png" Id="Rc023f7bbeb544291" /><Relationship Type="http://schemas.openxmlformats.org/officeDocument/2006/relationships/image" Target="/ppt/media/image2.svg" Id="Rabc681f4c54d4692" /><Relationship Type="http://schemas.openxmlformats.org/officeDocument/2006/relationships/image" Target="/ppt/media/image5.png" Id="R1378addb4be548aa" /><Relationship Type="http://schemas.openxmlformats.org/officeDocument/2006/relationships/image" Target="/ppt/media/image5.svg" Id="R13da6657600d4ef5" /><Relationship Type="http://schemas.openxmlformats.org/officeDocument/2006/relationships/image" Target="/ppt/media/image6.png" Id="R417bd727594043b3" /><Relationship Type="http://schemas.openxmlformats.org/officeDocument/2006/relationships/image" Target="/ppt/media/image6.svg" Id="Rfe4acad1219f4f55" /><Relationship Type="http://schemas.openxmlformats.org/officeDocument/2006/relationships/notesSlide" Target="/ppt/notesSlides/notesSlide3.xml" Id="R2155d4084ef34b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2a89eb78a8d4d0d" /><Relationship Type="http://schemas.openxmlformats.org/officeDocument/2006/relationships/image" Target="/ppt/media/image2.png" Id="R73707a0957464f0a" /><Relationship Type="http://schemas.openxmlformats.org/officeDocument/2006/relationships/image" Target="/ppt/media/image2.svg" Id="R3ec56b3e794e4a0c" /><Relationship Type="http://schemas.openxmlformats.org/officeDocument/2006/relationships/image" Target="/ppt/media/image.png" Id="Re4aa7e41c79b43f3" /><Relationship Type="http://schemas.openxmlformats.org/officeDocument/2006/relationships/image" Target="/ppt/media/image.svg" Id="Rf5179bce86294c17" /><Relationship Type="http://schemas.openxmlformats.org/officeDocument/2006/relationships/image" Target="/ppt/media/image4.png" Id="R908e2f280fc74deb" /><Relationship Type="http://schemas.openxmlformats.org/officeDocument/2006/relationships/image" Target="/ppt/media/image4.svg" Id="R272d33c8e4fd4044" /><Relationship Type="http://schemas.openxmlformats.org/officeDocument/2006/relationships/notesSlide" Target="/ppt/notesSlides/notesSlide4.xml" Id="Rdf402d772dd54a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9d0b79574c14721" /><Relationship Type="http://schemas.openxmlformats.org/officeDocument/2006/relationships/image" Target="/ppt/media/image2.png" Id="R6acd1faf47134a4e" /><Relationship Type="http://schemas.openxmlformats.org/officeDocument/2006/relationships/image" Target="/ppt/media/image2.svg" Id="Rcd7c8cac4b3f4370" /><Relationship Type="http://schemas.openxmlformats.org/officeDocument/2006/relationships/image" Target="/ppt/media/image.png" Id="R10672bd8b1b84421" /><Relationship Type="http://schemas.openxmlformats.org/officeDocument/2006/relationships/image" Target="/ppt/media/image.svg" Id="R08b6b20dcb9b4ae5" /><Relationship Type="http://schemas.openxmlformats.org/officeDocument/2006/relationships/image" Target="/ppt/media/image4.png" Id="R06e923830636434e" /><Relationship Type="http://schemas.openxmlformats.org/officeDocument/2006/relationships/image" Target="/ppt/media/image4.svg" Id="Rf23fc0bf440f4221" /><Relationship Type="http://schemas.openxmlformats.org/officeDocument/2006/relationships/notesSlide" Target="/ppt/notesSlides/notesSlide5.xml" Id="Rf67d38a8dd8b49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c4364b0669246bf" /><Relationship Type="http://schemas.openxmlformats.org/officeDocument/2006/relationships/image" Target="/ppt/media/image2.png" Id="Rbfe8c5a2d6794a00" /><Relationship Type="http://schemas.openxmlformats.org/officeDocument/2006/relationships/image" Target="/ppt/media/image2.svg" Id="R0a845248313644b6" /><Relationship Type="http://schemas.openxmlformats.org/officeDocument/2006/relationships/image" Target="/ppt/media/image3.png" Id="R89232e640c5644fa" /><Relationship Type="http://schemas.openxmlformats.org/officeDocument/2006/relationships/image" Target="/ppt/media/image3.svg" Id="R5872c1e874be41b9" /><Relationship Type="http://schemas.openxmlformats.org/officeDocument/2006/relationships/notesSlide" Target="/ppt/notesSlides/notesSlide6.xml" Id="R7842a6c6001a49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ee35e9f3b1b49bd" /><Relationship Type="http://schemas.openxmlformats.org/officeDocument/2006/relationships/image" Target="/ppt/media/image7.png" Id="R0e094924019d4e1d" /><Relationship Type="http://schemas.openxmlformats.org/officeDocument/2006/relationships/image" Target="/ppt/media/image7.svg" Id="Rcb64ca25515f45b7" /><Relationship Type="http://schemas.openxmlformats.org/officeDocument/2006/relationships/image" Target="/ppt/media/image2.png" Id="R1224160517a44292" /><Relationship Type="http://schemas.openxmlformats.org/officeDocument/2006/relationships/image" Target="/ppt/media/image2.svg" Id="R927bcba4bf494266" /><Relationship Type="http://schemas.openxmlformats.org/officeDocument/2006/relationships/notesSlide" Target="/ppt/notesSlides/notesSlide7.xml" Id="Rc3fc0eea8a1e4c4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95a858f34ea4bfe" /><Relationship Type="http://schemas.openxmlformats.org/officeDocument/2006/relationships/image" Target="/ppt/media/image2.png" Id="R8d920ed80e4d48ce" /><Relationship Type="http://schemas.openxmlformats.org/officeDocument/2006/relationships/image" Target="/ppt/media/image2.svg" Id="Rc285ee84acbe43f1" /><Relationship Type="http://schemas.openxmlformats.org/officeDocument/2006/relationships/image" Target="/ppt/media/image5.png" Id="Rb61fb7dc0cef4b1f" /><Relationship Type="http://schemas.openxmlformats.org/officeDocument/2006/relationships/image" Target="/ppt/media/image5.svg" Id="Rb8ddff1238034e05" /><Relationship Type="http://schemas.openxmlformats.org/officeDocument/2006/relationships/image" Target="/ppt/media/image6.png" Id="Rb818a6b2c8d44802" /><Relationship Type="http://schemas.openxmlformats.org/officeDocument/2006/relationships/image" Target="/ppt/media/image6.svg" Id="Re561b7c63d7042e6" /><Relationship Type="http://schemas.openxmlformats.org/officeDocument/2006/relationships/notesSlide" Target="/ppt/notesSlides/notesSlide8.xml" Id="Ra68ef509d0044e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0efab707e6a47d7" /><Relationship Type="http://schemas.openxmlformats.org/officeDocument/2006/relationships/image" Target="/ppt/media/image2.png" Id="R7bc5eebd993a43ce" /><Relationship Type="http://schemas.openxmlformats.org/officeDocument/2006/relationships/image" Target="/ppt/media/image2.svg" Id="Ref30e10dba004978" /><Relationship Type="http://schemas.openxmlformats.org/officeDocument/2006/relationships/image" Target="/ppt/media/image8.png" Id="Rf77a8f04b98a4ec3" /><Relationship Type="http://schemas.openxmlformats.org/officeDocument/2006/relationships/image" Target="/ppt/media/image8.svg" Id="R41341725ae9e45d2" /><Relationship Type="http://schemas.openxmlformats.org/officeDocument/2006/relationships/image" Target="/ppt/media/image.png" Id="Rb317c65b53a54ab1" /><Relationship Type="http://schemas.openxmlformats.org/officeDocument/2006/relationships/image" Target="/ppt/media/image.svg" Id="Ra2ef999cdf304ab7" /><Relationship Type="http://schemas.openxmlformats.org/officeDocument/2006/relationships/image" Target="/ppt/media/image9.png" Id="R4fdb9ecbf93d48a5" /><Relationship Type="http://schemas.openxmlformats.org/officeDocument/2006/relationships/image" Target="/ppt/media/image9.svg" Id="Rad53116767f843f6" /><Relationship Type="http://schemas.openxmlformats.org/officeDocument/2006/relationships/image" Target="/ppt/media/image10.png" Id="Ra78978d399334e9b" /><Relationship Type="http://schemas.openxmlformats.org/officeDocument/2006/relationships/image" Target="/ppt/media/image10.svg" Id="R60e9fe70f3f64e72" /><Relationship Type="http://schemas.openxmlformats.org/officeDocument/2006/relationships/image" Target="/ppt/media/image11.png" Id="R2d9b340702e54cfc" /><Relationship Type="http://schemas.openxmlformats.org/officeDocument/2006/relationships/image" Target="/ppt/media/image11.svg" Id="R65eb5b581c0a4d3c" /><Relationship Type="http://schemas.openxmlformats.org/officeDocument/2006/relationships/image" Target="/ppt/media/image12.png" Id="R8d14c73c9c29424f" /><Relationship Type="http://schemas.openxmlformats.org/officeDocument/2006/relationships/image" Target="/ppt/media/image12.svg" Id="Rcf6b02541c594937" /><Relationship Type="http://schemas.openxmlformats.org/officeDocument/2006/relationships/image" Target="/ppt/media/image13.png" Id="Rf7dcd14b92a244a8" /><Relationship Type="http://schemas.openxmlformats.org/officeDocument/2006/relationships/image" Target="/ppt/media/image13.svg" Id="R2cbe9dc931fa45d2" /><Relationship Type="http://schemas.openxmlformats.org/officeDocument/2006/relationships/image" Target="/ppt/media/image14.png" Id="Ree600135158b420d" /><Relationship Type="http://schemas.openxmlformats.org/officeDocument/2006/relationships/image" Target="/ppt/media/image14.svg" Id="Rbd085413d54d4494" /><Relationship Type="http://schemas.openxmlformats.org/officeDocument/2006/relationships/notesSlide" Target="/ppt/notesSlides/notesSlide9.xml" Id="R41a80a7eb8bf475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5cc47a0c4754862" /><Relationship Type="http://schemas.openxmlformats.org/officeDocument/2006/relationships/image" Target="/ppt/media/image2.png" Id="Rad79134dcdc74b1a" /><Relationship Type="http://schemas.openxmlformats.org/officeDocument/2006/relationships/image" Target="/ppt/media/image2.svg" Id="R0c4c56668da346f7" /><Relationship Type="http://schemas.openxmlformats.org/officeDocument/2006/relationships/image" Target="/ppt/media/image.png" Id="Rf11ba0238b0e40c2" /><Relationship Type="http://schemas.openxmlformats.org/officeDocument/2006/relationships/image" Target="/ppt/media/image.svg" Id="R4e3650b4be584514" /><Relationship Type="http://schemas.openxmlformats.org/officeDocument/2006/relationships/image" Target="/ppt/media/image7.png" Id="Rc6b27667d81f411e" /><Relationship Type="http://schemas.openxmlformats.org/officeDocument/2006/relationships/image" Target="/ppt/media/image7.svg" Id="R1120172445dc4c4c" /><Relationship Type="http://schemas.openxmlformats.org/officeDocument/2006/relationships/notesSlide" Target="/ppt/notesSlides/notesSlide10.xml" Id="Rd2b81713098e473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A6114C7E-93D4-4746-92A9-43AECD67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01303" y="6765879"/>
            <a:ext cx="7183644" cy="3905290"/>
          </a:xfrm>
          <a:custGeom xmlns:a="http://schemas.openxmlformats.org/drawingml/2006/main">
            <a:rect l="l" t="t" r="r" b="b"/>
            <a:pathLst>
              <a:path w="7183644" h="3905290">
                <a:moveTo>
                  <a:pt x="0" y="0"/>
                </a:moveTo>
                <a:lnTo>
                  <a:pt x="7183644" y="0"/>
                </a:lnTo>
                <a:lnTo>
                  <a:pt x="7183644" y="3905290"/>
                </a:lnTo>
                <a:lnTo>
                  <a:pt x="0" y="390529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b5e022a97f64801">
              <a:extLst>
                <a:ext uri="{96DAC541-7B7A-43D3-8B79-37D633B846F1}">
                  <asvg:svgBlip xmlns:asvg="http://schemas.microsoft.com/office/drawing/2016/SVG/main" r:embed="R0061efa024164175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B04BE64D-2496-412A-926F-13133DD1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82574" flipH="0" flipV="0">
            <a:off x="-5761586" y="614973"/>
            <a:ext cx="7195419" cy="7615511"/>
          </a:xfrm>
          <a:custGeom xmlns:a="http://schemas.openxmlformats.org/drawingml/2006/main">
            <a:rect l="l" t="t" r="r" b="b"/>
            <a:pathLst>
              <a:path w="7195419" h="7615511">
                <a:moveTo>
                  <a:pt x="0" y="0"/>
                </a:moveTo>
                <a:lnTo>
                  <a:pt x="7195419" y="0"/>
                </a:lnTo>
                <a:lnTo>
                  <a:pt x="7195419" y="7615510"/>
                </a:lnTo>
                <a:lnTo>
                  <a:pt x="0" y="761551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3c25ea20f7749dc">
              <a:alphaModFix amt="25000"/>
              <a:extLst>
                <a:ext uri="{96DAC541-7B7A-43D3-8B79-37D633B846F1}">
                  <asvg:svgBlip xmlns:asvg="http://schemas.microsoft.com/office/drawing/2016/SVG/main" r:embed="R92ff8d23c3cf4e68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BEBE5800-1845-44C0-A69E-6BC131F1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6815" y="790575"/>
            <a:ext cx="11217858" cy="21234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7360"/>
              </a:lnSpc>
              <a:buNone/>
            </a:pPr>
            <a:r>
              <a:rPr sz="12400" b="1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</a:rPr>
              <a:t>INTERNSHIP </a:t>
            </a:r>
            <a:r>
              <a:rPr sz="12400" b="1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</a:rPr>
              <a:t> 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8F51CE9A-8F5F-4401-8D07-752E8C93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918093" flipH="0" flipV="0">
            <a:off x="12198120" y="-2779055"/>
            <a:ext cx="7195419" cy="7615511"/>
          </a:xfrm>
          <a:custGeom xmlns:a="http://schemas.openxmlformats.org/drawingml/2006/main">
            <a:rect l="l" t="t" r="r" b="b"/>
            <a:pathLst>
              <a:path w="7195419" h="7615511">
                <a:moveTo>
                  <a:pt x="0" y="0"/>
                </a:moveTo>
                <a:lnTo>
                  <a:pt x="7195419" y="0"/>
                </a:lnTo>
                <a:lnTo>
                  <a:pt x="7195419" y="7615510"/>
                </a:lnTo>
                <a:lnTo>
                  <a:pt x="0" y="761551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3c25ea20f7749dc">
              <a:alphaModFix amt="25000"/>
              <a:extLst>
                <a:ext uri="{96DAC541-7B7A-43D3-8B79-37D633B846F1}">
                  <asvg:svgBlip xmlns:asvg="http://schemas.microsoft.com/office/drawing/2016/SVG/main" r:embed="R92ff8d23c3cf4e68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D2ADC709-507F-4F23-955C-7B5307C9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024305" y="4998969"/>
            <a:ext cx="1543050" cy="6739091"/>
          </a:xfrm>
          <a:custGeom xmlns:a="http://schemas.openxmlformats.org/drawingml/2006/main">
            <a:rect l="l" t="t" r="r" b="b"/>
            <a:pathLst>
              <a:path w="406400" h="1774905">
                <a:moveTo>
                  <a:pt x="203200" y="0"/>
                </a:moveTo>
                <a:lnTo>
                  <a:pt x="406400" y="0"/>
                </a:lnTo>
                <a:lnTo>
                  <a:pt x="203200" y="1774905"/>
                </a:lnTo>
                <a:lnTo>
                  <a:pt x="0" y="1774905"/>
                </a:lnTo>
                <a:lnTo>
                  <a:pt x="203200" y="0"/>
                </a:lnTo>
                <a:close/>
              </a:path>
            </a:pathLst>
          </a:custGeom>
          <a:solidFill xmlns:a="http://schemas.openxmlformats.org/drawingml/2006/main">
            <a:srgbClr val="C5E0EF"/>
          </a:solid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2B4115DD-B8CE-46D3-851C-27E3A5BB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410067" y="4818143"/>
            <a:ext cx="771525" cy="69199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276"/>
              </a:lnSpc>
              <a:buNone/>
            </a:pP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D1581EFE-A26A-4EE3-91C8-CE5A5DC2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10300" y="553894"/>
            <a:ext cx="6990947" cy="10280804"/>
          </a:xfrm>
          <a:custGeom xmlns:a="http://schemas.openxmlformats.org/drawingml/2006/main">
            <a:rect l="l" t="t" r="r" b="b"/>
            <a:pathLst>
              <a:path w="6990947" h="10280804">
                <a:moveTo>
                  <a:pt x="0" y="0"/>
                </a:moveTo>
                <a:lnTo>
                  <a:pt x="6990946" y="0"/>
                </a:lnTo>
                <a:lnTo>
                  <a:pt x="6990946" y="10280804"/>
                </a:lnTo>
                <a:lnTo>
                  <a:pt x="0" y="1028080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358f76851ad49eb">
              <a:extLst>
                <a:ext uri="{96DAC541-7B7A-43D3-8B79-37D633B846F1}">
                  <asvg:svgBlip xmlns:asvg="http://schemas.microsoft.com/office/drawing/2016/SVG/main" r:embed="Ra10fb822cfcb47bf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89E14329-B6BF-413F-850D-247CBF62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25521" y="2299289"/>
            <a:ext cx="9033485" cy="21234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7360"/>
              </a:lnSpc>
              <a:buNone/>
            </a:pPr>
            <a:r>
              <a:rPr sz="12400" b="1">
                <a:solidFill>
                  <a:srgbClr val="E61E26"/>
                </a:solidFill>
                <a:latin typeface="Cormorant Garamond Bold"/>
                <a:ea typeface="Cormorant Garamond Bold"/>
                <a:cs typeface="Cormorant Garamond Bold"/>
              </a:rPr>
              <a:t>RE</a:t>
            </a:r>
            <a:r>
              <a:rPr sz="12400" b="1">
                <a:solidFill>
                  <a:srgbClr val="E61E26"/>
                </a:solidFill>
                <a:latin typeface="Cormorant Garamond Bold"/>
                <a:ea typeface="Cormorant Garamond Bold"/>
                <a:cs typeface="Cormorant Garamond Bold"/>
              </a:rPr>
              <a:t>PORT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F2F6DB14-1C23-4ED6-BC6B-F2AB259F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6815" y="4905479"/>
            <a:ext cx="7542218" cy="537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just">
              <a:lnSpc>
                <a:spcPts val="4480"/>
              </a:lnSpc>
              <a:buNone/>
            </a:pPr>
            <a:r>
              <a:rPr sz="3200" b="1" spc="2560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</a:rPr>
              <a:t>PRESENTATION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73A289F4-0BD6-47B0-922B-614F3BD9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6815" y="6521405"/>
            <a:ext cx="6699172" cy="4317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500"/>
              </a:lnSpc>
              <a:buNone/>
            </a:pPr>
            <a:r>
              <a:rPr sz="2500" i="1">
                <a:solidFill>
                  <a:srgbClr val="042147"/>
                </a:solidFill>
                <a:latin typeface="DM Sans Italics"/>
                <a:ea typeface="DM Sans Italics"/>
                <a:cs typeface="DM Sans Italics"/>
              </a:rPr>
              <a:t>Presented by : Sreetama Ghosh Ray</a:t>
            </a: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32A2394C-FE82-4C81-B0BD-CA017AB7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676815" y="6376773"/>
            <a:ext cx="857095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E61E2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93714504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1FD7ED10-7EC6-49C9-BC0A-EA14B5F1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918093" flipH="0" flipV="0">
            <a:off x="13447981" y="5059311"/>
            <a:ext cx="7928647" cy="8391547"/>
          </a:xfrm>
          <a:custGeom xmlns:a="http://schemas.openxmlformats.org/drawingml/2006/main">
            <a:rect l="l" t="t" r="r" b="b"/>
            <a:pathLst>
              <a:path w="7928647" h="8391547">
                <a:moveTo>
                  <a:pt x="0" y="0"/>
                </a:moveTo>
                <a:lnTo>
                  <a:pt x="7928647" y="0"/>
                </a:lnTo>
                <a:lnTo>
                  <a:pt x="7928647" y="8391547"/>
                </a:lnTo>
                <a:lnTo>
                  <a:pt x="0" y="839154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23eb734b104488f">
              <a:alphaModFix amt="25000"/>
              <a:extLst>
                <a:ext uri="{96DAC541-7B7A-43D3-8B79-37D633B846F1}">
                  <asvg:svgBlip xmlns:asvg="http://schemas.microsoft.com/office/drawing/2016/SVG/main" r:embed="Rf74c9040a30b48f0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A09D4EFD-E019-4FD8-B6D6-EE60D188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800000" flipH="0" flipV="0">
            <a:off x="12819770" y="-487885"/>
            <a:ext cx="6035013" cy="3280852"/>
          </a:xfrm>
          <a:custGeom xmlns:a="http://schemas.openxmlformats.org/drawingml/2006/main">
            <a:rect l="l" t="t" r="r" b="b"/>
            <a:pathLst>
              <a:path w="6035013" h="3280852">
                <a:moveTo>
                  <a:pt x="0" y="0"/>
                </a:moveTo>
                <a:lnTo>
                  <a:pt x="6035013" y="0"/>
                </a:lnTo>
                <a:lnTo>
                  <a:pt x="6035013" y="3280852"/>
                </a:lnTo>
                <a:lnTo>
                  <a:pt x="0" y="328085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cb74e1518ab4327">
              <a:extLst>
                <a:ext uri="{96DAC541-7B7A-43D3-8B79-37D633B846F1}">
                  <asvg:svgBlip xmlns:asvg="http://schemas.microsoft.com/office/drawing/2016/SVG/main" r:embed="R37e3b82b4cb4462b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68C6DD23-223B-485C-B0C6-598677F7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1412" y="866775"/>
            <a:ext cx="9805176" cy="15005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2319"/>
              </a:lnSpc>
              <a:buNone/>
            </a:pPr>
            <a:r>
              <a:rPr sz="5000" b="1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</a:rPr>
              <a:t>Organisation Profile</a:t>
            </a: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AA4E88FB-679E-468E-B87F-2FEA2B3E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42574" flipH="0" flipV="0">
            <a:off x="-5457186" y="158525"/>
            <a:ext cx="7195419" cy="7615511"/>
          </a:xfrm>
          <a:custGeom xmlns:a="http://schemas.openxmlformats.org/drawingml/2006/main">
            <a:rect l="l" t="t" r="r" b="b"/>
            <a:pathLst>
              <a:path w="7195419" h="7615511">
                <a:moveTo>
                  <a:pt x="0" y="0"/>
                </a:moveTo>
                <a:lnTo>
                  <a:pt x="7195419" y="0"/>
                </a:lnTo>
                <a:lnTo>
                  <a:pt x="7195419" y="7615511"/>
                </a:lnTo>
                <a:lnTo>
                  <a:pt x="0" y="761551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23eb734b104488f">
              <a:alphaModFix amt="25000"/>
              <a:extLst>
                <a:ext uri="{96DAC541-7B7A-43D3-8B79-37D633B846F1}">
                  <asvg:svgBlip xmlns:asvg="http://schemas.microsoft.com/office/drawing/2016/SVG/main" r:embed="Rf74c9040a30b48f0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F23166F2-01D7-4714-B8C3-BE87295A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54911" y="6044306"/>
            <a:ext cx="3158813" cy="4379730"/>
          </a:xfrm>
          <a:custGeom xmlns:a="http://schemas.openxmlformats.org/drawingml/2006/main">
            <a:rect l="l" t="t" r="r" b="b"/>
            <a:pathLst>
              <a:path w="3158813" h="4379730">
                <a:moveTo>
                  <a:pt x="0" y="0"/>
                </a:moveTo>
                <a:lnTo>
                  <a:pt x="3158814" y="0"/>
                </a:lnTo>
                <a:lnTo>
                  <a:pt x="3158814" y="4379730"/>
                </a:lnTo>
                <a:lnTo>
                  <a:pt x="0" y="437973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dd441227e824dac">
              <a:extLst>
                <a:ext uri="{96DAC541-7B7A-43D3-8B79-37D633B846F1}">
                  <asvg:svgBlip xmlns:asvg="http://schemas.microsoft.com/office/drawing/2016/SVG/main" r:embed="R5825462827f04b83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828F82B1-001C-48E6-9C90-E0EF9C3B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6815" y="3709306"/>
            <a:ext cx="6342025" cy="39897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20"/>
              </a:lnSpc>
              <a:buNone/>
            </a:pPr>
            <a:r>
              <a:rPr sz="2300">
                <a:solidFill>
                  <a:srgbClr val="042147"/>
                </a:solidFill>
                <a:latin typeface="DM Sans"/>
                <a:ea typeface="DM Sans"/>
                <a:cs typeface="DM Sans"/>
              </a:rPr>
              <a:t>A public-sector bank with Head/Central Office in Mumbai, operating through Zonal, Regional and Branch levels.</a:t>
            </a:r>
            <a:r>
              <a:rPr sz="2300">
                <a:solidFill>
                  <a:srgbClr val="042147"/>
                </a:solidFill>
                <a:latin typeface="DM Sans"/>
                <a:ea typeface="DM Sans"/>
                <a:cs typeface="DM Sans"/>
              </a:rPr>
              <a:t/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059AA2BD-FB4E-4FB9-85F7-71B843C8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95251" y="3709306"/>
            <a:ext cx="6342025" cy="39897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20"/>
              </a:lnSpc>
              <a:buNone/>
            </a:pPr>
            <a:r>
              <a:rPr sz="2300">
                <a:solidFill>
                  <a:srgbClr val="042147"/>
                </a:solidFill>
                <a:latin typeface="DM Sans"/>
                <a:ea typeface="DM Sans"/>
                <a:cs typeface="DM Sans"/>
              </a:rPr>
              <a:t>Administers ~75 branches - welfare, attendance, leave, transfers, salary and allowance processing. Its HR desk links Head Office policy to day-to-day branch administration, training, industrial relations and discipline.</a:t>
            </a:r>
            <a:r>
              <a:rPr sz="2300">
                <a:solidFill>
                  <a:srgbClr val="042147"/>
                </a:solidFill>
                <a:latin typeface="DM Sans"/>
                <a:ea typeface="DM Sans"/>
                <a:cs typeface="DM Sans"/>
              </a:rPr>
              <a:t/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0EEC38F4-95F3-4C3D-9D04-E0D93360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5483" y="2976680"/>
            <a:ext cx="6261835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199"/>
              </a:lnSpc>
              <a:buNone/>
            </a:pPr>
            <a:r>
              <a:rPr sz="2999" b="1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</a:rPr>
              <a:t>Union Bank of India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F3CE393C-74E2-47C3-86BB-D0EF7A2C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35346" y="2976680"/>
            <a:ext cx="6261835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199"/>
              </a:lnSpc>
              <a:buNone/>
            </a:pPr>
            <a:r>
              <a:rPr sz="2999" b="1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</a:rPr>
              <a:t>Regional Office Chennai South</a:t>
            </a:r>
          </a:p>
        </p:txBody>
      </p:sp>
    </p:spTree>
    <p:extLst>
      <p:ext uri="{BB962C8B-B14F-4D97-AF65-F5344CB8AC3E}">
        <p14:creationId xmlns:p14="http://schemas.microsoft.com/office/powerpoint/2010/main" val="158951494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4F91B10F-2C14-4851-8929-BCC5F29F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918093" flipH="0" flipV="0">
            <a:off x="15382268" y="-1274821"/>
            <a:ext cx="7195419" cy="7615511"/>
          </a:xfrm>
          <a:custGeom xmlns:a="http://schemas.openxmlformats.org/drawingml/2006/main">
            <a:rect l="l" t="t" r="r" b="b"/>
            <a:pathLst>
              <a:path w="7195419" h="7615511">
                <a:moveTo>
                  <a:pt x="0" y="0"/>
                </a:moveTo>
                <a:lnTo>
                  <a:pt x="7195419" y="0"/>
                </a:lnTo>
                <a:lnTo>
                  <a:pt x="7195419" y="7615511"/>
                </a:lnTo>
                <a:lnTo>
                  <a:pt x="0" y="761551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023f7bbeb544291">
              <a:alphaModFix amt="25000"/>
              <a:extLst>
                <a:ext uri="{96DAC541-7B7A-43D3-8B79-37D633B846F1}">
                  <asvg:svgBlip xmlns:asvg="http://schemas.microsoft.com/office/drawing/2016/SVG/main" r:embed="Rabc681f4c54d4692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96258851-0920-45E8-B21F-8DA52CD3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1412" y="914400"/>
            <a:ext cx="9805176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8400"/>
              </a:lnSpc>
              <a:buNone/>
            </a:pPr>
            <a:r>
              <a:rPr sz="6000" b="1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</a:rPr>
              <a:t>Internship Scope</a:t>
            </a:r>
          </a:p>
          <a:p xmlns:a="http://schemas.openxmlformats.org/drawingml/2006/main">
            <a:pPr algn="ctr">
              <a:lnSpc>
                <a:spcPts val="8400"/>
              </a:lnSpc>
              <a:buNone/>
            </a:pPr>
          </a:p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A98333B0-EC36-4375-B63E-2AC231CB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82574" flipH="0" flipV="0">
            <a:off x="-3784431" y="3582319"/>
            <a:ext cx="7195419" cy="7615511"/>
          </a:xfrm>
          <a:custGeom xmlns:a="http://schemas.openxmlformats.org/drawingml/2006/main">
            <a:rect l="l" t="t" r="r" b="b"/>
            <a:pathLst>
              <a:path w="7195419" h="7615511">
                <a:moveTo>
                  <a:pt x="0" y="0"/>
                </a:moveTo>
                <a:lnTo>
                  <a:pt x="7195419" y="0"/>
                </a:lnTo>
                <a:lnTo>
                  <a:pt x="7195419" y="7615511"/>
                </a:lnTo>
                <a:lnTo>
                  <a:pt x="0" y="761551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023f7bbeb544291">
              <a:alphaModFix amt="25000"/>
              <a:extLst>
                <a:ext uri="{96DAC541-7B7A-43D3-8B79-37D633B846F1}">
                  <asvg:svgBlip xmlns:asvg="http://schemas.microsoft.com/office/drawing/2016/SVG/main" r:embed="Rabc681f4c54d4692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0D6DE102-9FBA-4810-BEEE-D548451F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39769" y="2967155"/>
            <a:ext cx="13043344" cy="6391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sz="3000" b="1">
                <a:solidFill>
                  <a:srgbClr val="042147"/>
                </a:solidFill>
                <a:latin typeface="DM Sans Bold"/>
                <a:ea typeface="DM Sans Bold"/>
                <a:cs typeface="DM Sans Bold"/>
              </a:rPr>
              <a:t>Object</a:t>
            </a:r>
            <a:r>
              <a:rPr sz="3000" b="1">
                <a:solidFill>
                  <a:srgbClr val="042147"/>
                </a:solidFill>
                <a:latin typeface="DM Sans Bold"/>
                <a:ea typeface="DM Sans Bold"/>
                <a:cs typeface="DM Sans Bold"/>
              </a:rPr>
              <a:t>ive</a:t>
            </a:r>
            <a:r>
              <a:rPr sz="3000">
                <a:solidFill>
                  <a:srgbClr val="042147"/>
                </a:solidFill>
                <a:latin typeface="DM Sans"/>
                <a:ea typeface="DM Sans"/>
                <a:cs typeface="DM Sans"/>
              </a:rPr>
              <a:t>: to gain practical exposure to HR operations in a public-sector bank, alongside primary data collection for the dissertation on Hybrid Learning and Training Effectiveness.</a:t>
            </a:r>
          </a:p>
          <a:p xmlns:a="http://schemas.openxmlformats.org/drawingml/2006/main"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sz="3000" b="1">
                <a:solidFill>
                  <a:srgbClr val="042147"/>
                </a:solidFill>
                <a:latin typeface="DM Sans Bold"/>
                <a:ea typeface="DM Sans Bold"/>
                <a:cs typeface="DM Sans Bold"/>
              </a:rPr>
              <a:t>Divisional Exposure</a:t>
            </a:r>
            <a:r>
              <a:rPr sz="3000">
                <a:solidFill>
                  <a:srgbClr val="042147"/>
                </a:solidFill>
                <a:latin typeface="DM Sans"/>
                <a:ea typeface="DM Sans"/>
                <a:cs typeface="DM Sans"/>
              </a:rPr>
              <a:t>: involved in orientation across the RO's HR desk, the Rural and Agriculture Business Department (RABD), Currency Chest, and the branch network.</a:t>
            </a:r>
          </a:p>
          <a:p xmlns:a="http://schemas.openxmlformats.org/drawingml/2006/main">
            <a:pPr algn="just">
              <a:lnSpc>
                <a:spcPts val="4200"/>
              </a:lnSpc>
              <a:buNone/>
            </a:pP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6B9AB4CE-A0A7-46A5-B976-0482F447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31174" y="7270421"/>
            <a:ext cx="5458016" cy="3234380"/>
          </a:xfrm>
          <a:custGeom xmlns:a="http://schemas.openxmlformats.org/drawingml/2006/main">
            <a:rect l="l" t="t" r="r" b="b"/>
            <a:pathLst>
              <a:path w="5458016" h="3234380">
                <a:moveTo>
                  <a:pt x="0" y="0"/>
                </a:moveTo>
                <a:lnTo>
                  <a:pt x="5458016" y="0"/>
                </a:lnTo>
                <a:lnTo>
                  <a:pt x="5458016" y="3234379"/>
                </a:lnTo>
                <a:lnTo>
                  <a:pt x="0" y="32343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378addb4be548aa">
              <a:extLst>
                <a:ext uri="{96DAC541-7B7A-43D3-8B79-37D633B846F1}">
                  <asvg:svgBlip xmlns:asvg="http://schemas.microsoft.com/office/drawing/2016/SVG/main" r:embed="R13da6657600d4ef5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B31F737F-14E2-41DE-8251-5809F5C8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5579570" y="-717218"/>
            <a:ext cx="2708858" cy="3110380"/>
          </a:xfrm>
          <a:custGeom xmlns:a="http://schemas.openxmlformats.org/drawingml/2006/main">
            <a:rect l="l" t="t" r="r" b="b"/>
            <a:pathLst>
              <a:path w="2708858" h="3110380">
                <a:moveTo>
                  <a:pt x="0" y="0"/>
                </a:moveTo>
                <a:lnTo>
                  <a:pt x="2708859" y="0"/>
                </a:lnTo>
                <a:lnTo>
                  <a:pt x="2708859" y="3110380"/>
                </a:lnTo>
                <a:lnTo>
                  <a:pt x="0" y="311038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17bd727594043b3">
              <a:extLst>
                <a:ext uri="{96DAC541-7B7A-43D3-8B79-37D633B846F1}">
                  <asvg:svgBlip xmlns:asvg="http://schemas.microsoft.com/office/drawing/2016/SVG/main" r:embed="Rfe4acad1219f4f55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C4BB9D82-59AB-400F-81F8-6EBF3D4B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736" y="-2984879"/>
            <a:ext cx="1543050" cy="6739091"/>
          </a:xfrm>
          <a:custGeom xmlns:a="http://schemas.openxmlformats.org/drawingml/2006/main">
            <a:rect l="l" t="t" r="r" b="b"/>
            <a:pathLst>
              <a:path w="406400" h="1774905">
                <a:moveTo>
                  <a:pt x="203200" y="0"/>
                </a:moveTo>
                <a:lnTo>
                  <a:pt x="406400" y="0"/>
                </a:lnTo>
                <a:lnTo>
                  <a:pt x="203200" y="1774905"/>
                </a:lnTo>
                <a:lnTo>
                  <a:pt x="0" y="1774905"/>
                </a:lnTo>
                <a:lnTo>
                  <a:pt x="203200" y="0"/>
                </a:lnTo>
                <a:close/>
              </a:path>
            </a:pathLst>
          </a:custGeom>
          <a:solidFill xmlns:a="http://schemas.openxmlformats.org/drawingml/2006/main">
            <a:srgbClr val="E61E26"/>
          </a:solid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F8D02537-E590-44A2-9AA3-EA1C61B8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8498" y="-3165705"/>
            <a:ext cx="771525" cy="69199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276"/>
              </a:lnSpc>
              <a:buNone/>
            </a:pP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F65DF664-BDE2-4975-97D1-47EEC370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438456" y="-3369546"/>
            <a:ext cx="1543050" cy="6739091"/>
          </a:xfrm>
          <a:custGeom xmlns:a="http://schemas.openxmlformats.org/drawingml/2006/main">
            <a:rect l="l" t="t" r="r" b="b"/>
            <a:pathLst>
              <a:path w="406400" h="1774905">
                <a:moveTo>
                  <a:pt x="203200" y="0"/>
                </a:moveTo>
                <a:lnTo>
                  <a:pt x="406400" y="0"/>
                </a:lnTo>
                <a:lnTo>
                  <a:pt x="203200" y="1774905"/>
                </a:lnTo>
                <a:lnTo>
                  <a:pt x="0" y="1774905"/>
                </a:lnTo>
                <a:lnTo>
                  <a:pt x="203200" y="0"/>
                </a:lnTo>
                <a:close/>
              </a:path>
            </a:pathLst>
          </a:custGeom>
          <a:solidFill xmlns:a="http://schemas.openxmlformats.org/drawingml/2006/main">
            <a:srgbClr val="00497E"/>
          </a:solid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F1D428E-C128-42BD-9EBF-A191D96C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52694" y="-3550372"/>
            <a:ext cx="771525" cy="69199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276"/>
              </a:lnSpc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75771467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5AA81586-40DB-48A6-BA8D-A2EEBB93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822080" flipH="0" flipV="0">
            <a:off x="7449287" y="8094480"/>
            <a:ext cx="7195419" cy="7615511"/>
          </a:xfrm>
          <a:custGeom xmlns:a="http://schemas.openxmlformats.org/drawingml/2006/main">
            <a:rect l="l" t="t" r="r" b="b"/>
            <a:pathLst>
              <a:path w="7195419" h="7615511">
                <a:moveTo>
                  <a:pt x="0" y="0"/>
                </a:moveTo>
                <a:lnTo>
                  <a:pt x="7195419" y="0"/>
                </a:lnTo>
                <a:lnTo>
                  <a:pt x="7195419" y="7615510"/>
                </a:lnTo>
                <a:lnTo>
                  <a:pt x="0" y="761551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3707a0957464f0a">
              <a:alphaModFix amt="25000"/>
              <a:extLst>
                <a:ext uri="{96DAC541-7B7A-43D3-8B79-37D633B846F1}">
                  <asvg:svgBlip xmlns:asvg="http://schemas.microsoft.com/office/drawing/2016/SVG/main" r:embed="R3ec56b3e794e4a0c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7264AEBF-B470-4ED4-83CF-CADFDC8D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1412" y="866775"/>
            <a:ext cx="9805176" cy="15005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2319"/>
              </a:lnSpc>
              <a:buNone/>
            </a:pPr>
            <a:r>
              <a:rPr sz="5000" b="1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</a:rPr>
              <a:t>HR Administration</a:t>
            </a:r>
          </a:p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B0B408E4-2774-4862-973B-D8FACBA2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492690" y="7305655"/>
            <a:ext cx="7183644" cy="3905290"/>
          </a:xfrm>
          <a:custGeom xmlns:a="http://schemas.openxmlformats.org/drawingml/2006/main">
            <a:rect l="l" t="t" r="r" b="b"/>
            <a:pathLst>
              <a:path w="7183644" h="3905290">
                <a:moveTo>
                  <a:pt x="0" y="0"/>
                </a:moveTo>
                <a:lnTo>
                  <a:pt x="7183643" y="0"/>
                </a:lnTo>
                <a:lnTo>
                  <a:pt x="7183643" y="3905290"/>
                </a:lnTo>
                <a:lnTo>
                  <a:pt x="0" y="390529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4aa7e41c79b43f3">
              <a:extLst>
                <a:ext uri="{96DAC541-7B7A-43D3-8B79-37D633B846F1}">
                  <asvg:svgBlip xmlns:asvg="http://schemas.microsoft.com/office/drawing/2016/SVG/main" r:embed="Rf5179bce86294c17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BFE5E79F-8591-43F4-89A6-B0DB077D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4501256" y="6578297"/>
            <a:ext cx="3268163" cy="4531344"/>
          </a:xfrm>
          <a:custGeom xmlns:a="http://schemas.openxmlformats.org/drawingml/2006/main">
            <a:rect l="l" t="t" r="r" b="b"/>
            <a:pathLst>
              <a:path w="3268163" h="4531344">
                <a:moveTo>
                  <a:pt x="0" y="0"/>
                </a:moveTo>
                <a:lnTo>
                  <a:pt x="3268163" y="0"/>
                </a:lnTo>
                <a:lnTo>
                  <a:pt x="3268163" y="4531345"/>
                </a:lnTo>
                <a:lnTo>
                  <a:pt x="0" y="453134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08e2f280fc74deb">
              <a:extLst>
                <a:ext uri="{96DAC541-7B7A-43D3-8B79-37D633B846F1}">
                  <asvg:svgBlip xmlns:asvg="http://schemas.microsoft.com/office/drawing/2016/SVG/main" r:embed="R272d33c8e4fd4044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0398797F-E30B-43CE-BE31-53D91D7F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82574" flipH="0" flipV="0">
            <a:off x="-5880789" y="637557"/>
            <a:ext cx="7195419" cy="7615511"/>
          </a:xfrm>
          <a:custGeom xmlns:a="http://schemas.openxmlformats.org/drawingml/2006/main">
            <a:rect l="l" t="t" r="r" b="b"/>
            <a:pathLst>
              <a:path w="7195419" h="7615511">
                <a:moveTo>
                  <a:pt x="0" y="0"/>
                </a:moveTo>
                <a:lnTo>
                  <a:pt x="7195419" y="0"/>
                </a:lnTo>
                <a:lnTo>
                  <a:pt x="7195419" y="7615511"/>
                </a:lnTo>
                <a:lnTo>
                  <a:pt x="0" y="761551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3707a0957464f0a">
              <a:alphaModFix amt="25000"/>
              <a:extLst>
                <a:ext uri="{96DAC541-7B7A-43D3-8B79-37D633B846F1}">
                  <asvg:svgBlip xmlns:asvg="http://schemas.microsoft.com/office/drawing/2016/SVG/main" r:embed="R3ec56b3e794e4a0c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F1A64457-C991-4E48-8F30-B9807F77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68770" y="3709306"/>
            <a:ext cx="4409232" cy="43897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220"/>
              </a:lnSpc>
              <a:buNone/>
            </a:pPr>
            <a:r>
              <a:rPr sz="2300">
                <a:solidFill>
                  <a:srgbClr val="042147"/>
                </a:solidFill>
                <a:latin typeface="DM Sans"/>
                <a:ea typeface="DM Sans"/>
                <a:cs typeface="DM Sans"/>
              </a:rPr>
              <a:t>Morning prayer followed by reading of circulars on performance, NPAs, policy updates and training requirements.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5CEBF305-B32F-4090-A341-74B228C5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6430" y="2976680"/>
            <a:ext cx="4013913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199"/>
              </a:lnSpc>
              <a:buNone/>
            </a:pPr>
            <a:r>
              <a:rPr sz="2999" b="1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</a:rPr>
              <a:t>Daily Circulars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EB05259A-1900-4966-807C-74EE290C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51971" y="2976680"/>
            <a:ext cx="4013913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199"/>
              </a:lnSpc>
              <a:buNone/>
            </a:pPr>
            <a:r>
              <a:rPr sz="2999" b="1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</a:rPr>
              <a:t>Leave Sanctioning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28DAF0C3-DD7F-437E-AB94-7CA88A36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37512" y="2976680"/>
            <a:ext cx="4013913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199"/>
              </a:lnSpc>
              <a:buNone/>
            </a:pPr>
            <a:r>
              <a:rPr sz="2999" b="1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</a:rPr>
              <a:t>Salary &amp; Allowances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35A0FDA6-AD0B-45A3-ADE9-DFA3421C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9384" y="3709306"/>
            <a:ext cx="4409232" cy="43897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220"/>
              </a:lnSpc>
              <a:buNone/>
            </a:pPr>
            <a:r>
              <a:rPr sz="2300">
                <a:solidFill>
                  <a:srgbClr val="042147"/>
                </a:solidFill>
                <a:latin typeface="DM Sans"/>
                <a:ea typeface="DM Sans"/>
                <a:cs typeface="DM Sans"/>
              </a:rPr>
              <a:t>Routine leave sanctioned at the RO; maternity, sabbatical and study leave need higher approval.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06A2ED03-71DD-4BAB-8068-942F8867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39852" y="3709306"/>
            <a:ext cx="4409232" cy="43897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220"/>
              </a:lnSpc>
              <a:buNone/>
            </a:pPr>
            <a:r>
              <a:rPr sz="2300">
                <a:solidFill>
                  <a:srgbClr val="042147"/>
                </a:solidFill>
                <a:latin typeface="DM Sans"/>
                <a:ea typeface="DM Sans"/>
                <a:cs typeface="DM Sans"/>
              </a:rPr>
              <a:t>RO's role in processing pay, permissible allowances, and TA/conveyance claims for official travel between branches.</a:t>
            </a:r>
          </a:p>
        </p:txBody>
      </p:sp>
    </p:spTree>
    <p:extLst>
      <p:ext uri="{BB962C8B-B14F-4D97-AF65-F5344CB8AC3E}">
        <p14:creationId xmlns:p14="http://schemas.microsoft.com/office/powerpoint/2010/main" val="74644203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92313D88-3DB7-4ADA-81FC-EE2E5D76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822080" flipH="0" flipV="0">
            <a:off x="7449287" y="8094480"/>
            <a:ext cx="7195419" cy="7615511"/>
          </a:xfrm>
          <a:custGeom xmlns:a="http://schemas.openxmlformats.org/drawingml/2006/main">
            <a:rect l="l" t="t" r="r" b="b"/>
            <a:pathLst>
              <a:path w="7195419" h="7615511">
                <a:moveTo>
                  <a:pt x="0" y="0"/>
                </a:moveTo>
                <a:lnTo>
                  <a:pt x="7195419" y="0"/>
                </a:lnTo>
                <a:lnTo>
                  <a:pt x="7195419" y="7615510"/>
                </a:lnTo>
                <a:lnTo>
                  <a:pt x="0" y="761551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acd1faf47134a4e">
              <a:alphaModFix amt="25000"/>
              <a:extLst>
                <a:ext uri="{96DAC541-7B7A-43D3-8B79-37D633B846F1}">
                  <asvg:svgBlip xmlns:asvg="http://schemas.microsoft.com/office/drawing/2016/SVG/main" r:embed="Rcd7c8cac4b3f4370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28D704C0-A7B7-4799-B72B-CD6BC662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1412" y="1123950"/>
            <a:ext cx="9805176" cy="177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000"/>
              </a:lnSpc>
              <a:buNone/>
            </a:pPr>
            <a:r>
              <a:rPr sz="5000" b="1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</a:rPr>
              <a:t>Transfers, Discipline &amp; RABD</a:t>
            </a:r>
          </a:p>
          <a:p xmlns:a="http://schemas.openxmlformats.org/drawingml/2006/main">
            <a:pPr algn="ctr">
              <a:lnSpc>
                <a:spcPts val="7000"/>
              </a:lnSpc>
              <a:buNone/>
            </a:pPr>
          </a:p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E4B71560-54A4-4B96-B3B0-A9C2D9A8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492690" y="7305655"/>
            <a:ext cx="7183644" cy="3905290"/>
          </a:xfrm>
          <a:custGeom xmlns:a="http://schemas.openxmlformats.org/drawingml/2006/main">
            <a:rect l="l" t="t" r="r" b="b"/>
            <a:pathLst>
              <a:path w="7183644" h="3905290">
                <a:moveTo>
                  <a:pt x="0" y="0"/>
                </a:moveTo>
                <a:lnTo>
                  <a:pt x="7183643" y="0"/>
                </a:lnTo>
                <a:lnTo>
                  <a:pt x="7183643" y="3905290"/>
                </a:lnTo>
                <a:lnTo>
                  <a:pt x="0" y="390529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0672bd8b1b84421">
              <a:extLst>
                <a:ext uri="{96DAC541-7B7A-43D3-8B79-37D633B846F1}">
                  <asvg:svgBlip xmlns:asvg="http://schemas.microsoft.com/office/drawing/2016/SVG/main" r:embed="R08b6b20dcb9b4ae5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0DF5B3AB-DDBF-44A7-8EF5-438CE8B3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4501256" y="6578297"/>
            <a:ext cx="3268163" cy="4531344"/>
          </a:xfrm>
          <a:custGeom xmlns:a="http://schemas.openxmlformats.org/drawingml/2006/main">
            <a:rect l="l" t="t" r="r" b="b"/>
            <a:pathLst>
              <a:path w="3268163" h="4531344">
                <a:moveTo>
                  <a:pt x="0" y="0"/>
                </a:moveTo>
                <a:lnTo>
                  <a:pt x="3268163" y="0"/>
                </a:lnTo>
                <a:lnTo>
                  <a:pt x="3268163" y="4531345"/>
                </a:lnTo>
                <a:lnTo>
                  <a:pt x="0" y="453134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6e923830636434e">
              <a:extLst>
                <a:ext uri="{96DAC541-7B7A-43D3-8B79-37D633B846F1}">
                  <asvg:svgBlip xmlns:asvg="http://schemas.microsoft.com/office/drawing/2016/SVG/main" r:embed="Rf23fc0bf440f4221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1B2959A3-A190-4EB2-B6EE-A03DA549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82574" flipH="0" flipV="0">
            <a:off x="-5880789" y="637557"/>
            <a:ext cx="7195419" cy="7615511"/>
          </a:xfrm>
          <a:custGeom xmlns:a="http://schemas.openxmlformats.org/drawingml/2006/main">
            <a:rect l="l" t="t" r="r" b="b"/>
            <a:pathLst>
              <a:path w="7195419" h="7615511">
                <a:moveTo>
                  <a:pt x="0" y="0"/>
                </a:moveTo>
                <a:lnTo>
                  <a:pt x="7195419" y="0"/>
                </a:lnTo>
                <a:lnTo>
                  <a:pt x="7195419" y="7615511"/>
                </a:lnTo>
                <a:lnTo>
                  <a:pt x="0" y="761551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acd1faf47134a4e">
              <a:alphaModFix amt="25000"/>
              <a:extLst>
                <a:ext uri="{96DAC541-7B7A-43D3-8B79-37D633B846F1}">
                  <asvg:svgBlip xmlns:asvg="http://schemas.microsoft.com/office/drawing/2016/SVG/main" r:embed="Rcd7c8cac4b3f4370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D157BD93-97C2-4EA5-9FCE-DCBBE6A7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68770" y="3709306"/>
            <a:ext cx="4409232" cy="23895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20"/>
              </a:lnSpc>
              <a:buNone/>
            </a:pPr>
            <a:r>
              <a:rPr sz="2300">
                <a:solidFill>
                  <a:srgbClr val="042147"/>
                </a:solidFill>
                <a:latin typeface="DM Sans"/>
                <a:ea typeface="DM Sans"/>
                <a:cs typeface="DM Sans"/>
              </a:rPr>
              <a:t>inter-state transfers involve management, unions and the Head Office; intra-region transfers are handled directly by the RO</a:t>
            </a:r>
          </a:p>
          <a:p xmlns:a="http://schemas.openxmlformats.org/drawingml/2006/main">
            <a:pPr algn="l">
              <a:lnSpc>
                <a:spcPts val="3220"/>
              </a:lnSpc>
              <a:buNone/>
            </a:pP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EE8971A5-4F6D-41B9-8FA0-AD63C681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3066" y="2976680"/>
            <a:ext cx="4013913" cy="10998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480"/>
              </a:lnSpc>
              <a:buNone/>
            </a:pPr>
            <a:r>
              <a:rPr sz="3200" b="1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</a:rPr>
              <a:t>Tr</a:t>
            </a:r>
            <a:r>
              <a:rPr sz="3200" b="1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</a:rPr>
              <a:t>ansfer Policy</a:t>
            </a:r>
          </a:p>
          <a:p xmlns:a="http://schemas.openxmlformats.org/drawingml/2006/main">
            <a:pPr algn="ctr">
              <a:lnSpc>
                <a:spcPts val="4480"/>
              </a:lnSpc>
              <a:buNone/>
            </a:pP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DFA5AC96-F55B-4C34-8D66-5E8D2B32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0953" y="2976680"/>
            <a:ext cx="4013913" cy="10998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479"/>
              </a:lnSpc>
              <a:buNone/>
            </a:pPr>
            <a:r>
              <a:rPr sz="3199" b="1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</a:rPr>
              <a:t>Discipline</a:t>
            </a:r>
            <a:r>
              <a:rPr sz="3199" b="1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</a:rPr>
              <a:t/>
            </a:r>
          </a:p>
          <a:p xmlns:a="http://schemas.openxmlformats.org/drawingml/2006/main">
            <a:pPr algn="ctr">
              <a:lnSpc>
                <a:spcPts val="4479"/>
              </a:lnSpc>
              <a:buNone/>
            </a:pP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819DDB7D-5095-4E29-9299-645ABEAC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24891" y="2976680"/>
            <a:ext cx="5451492" cy="10998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479"/>
              </a:lnSpc>
              <a:buNone/>
            </a:pPr>
            <a:r>
              <a:rPr sz="3199" b="1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</a:rPr>
              <a:t>RABD &amp; PSL</a:t>
            </a:r>
          </a:p>
          <a:p xmlns:a="http://schemas.openxmlformats.org/drawingml/2006/main">
            <a:pPr algn="ctr">
              <a:lnSpc>
                <a:spcPts val="4479"/>
              </a:lnSpc>
              <a:buNone/>
            </a:pP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5F4ECF92-C310-4889-A524-AED8CB18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9384" y="3709306"/>
            <a:ext cx="4409232" cy="1989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20"/>
              </a:lnSpc>
              <a:buNone/>
            </a:pPr>
            <a:r>
              <a:rPr sz="2300">
                <a:solidFill>
                  <a:srgbClr val="042147"/>
                </a:solidFill>
                <a:latin typeface="DM Sans"/>
                <a:ea typeface="DM Sans"/>
                <a:cs typeface="DM Sans"/>
              </a:rPr>
              <a:t>reporting of an issue, examination by the concerned authority, and a formal inquiry where necessary.</a:t>
            </a:r>
          </a:p>
          <a:p xmlns:a="http://schemas.openxmlformats.org/drawingml/2006/main">
            <a:pPr algn="l">
              <a:lnSpc>
                <a:spcPts val="3220"/>
              </a:lnSpc>
              <a:buNone/>
            </a:pP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5FCAB6A8-0FDC-424D-A038-DE2D86CE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24891" y="3709306"/>
            <a:ext cx="4409232" cy="27895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20"/>
              </a:lnSpc>
              <a:buNone/>
            </a:pPr>
            <a:r>
              <a:rPr sz="2300">
                <a:solidFill>
                  <a:srgbClr val="042147"/>
                </a:solidFill>
                <a:latin typeface="DM Sans"/>
                <a:ea typeface="DM Sans"/>
                <a:cs typeface="DM Sans"/>
              </a:rPr>
              <a:t>agricultural lending, rural development schemes, and mandatory credit to agriculture, MSMEs, education, housing and weaker sections — the bank's role in financial inclusion.</a:t>
            </a:r>
          </a:p>
          <a:p xmlns:a="http://schemas.openxmlformats.org/drawingml/2006/main">
            <a:pPr algn="l">
              <a:lnSpc>
                <a:spcPts val="3220"/>
              </a:lnSpc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48993658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E440608E-76FF-4FFA-99C6-B127D54B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918093" flipH="0" flipV="0">
            <a:off x="14718194" y="2189647"/>
            <a:ext cx="7195419" cy="7615511"/>
          </a:xfrm>
          <a:custGeom xmlns:a="http://schemas.openxmlformats.org/drawingml/2006/main">
            <a:rect l="l" t="t" r="r" b="b"/>
            <a:pathLst>
              <a:path w="7195419" h="7615511">
                <a:moveTo>
                  <a:pt x="0" y="0"/>
                </a:moveTo>
                <a:lnTo>
                  <a:pt x="7195419" y="0"/>
                </a:lnTo>
                <a:lnTo>
                  <a:pt x="7195419" y="7615511"/>
                </a:lnTo>
                <a:lnTo>
                  <a:pt x="0" y="761551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fe8c5a2d6794a00">
              <a:alphaModFix amt="25000"/>
              <a:extLst>
                <a:ext uri="{96DAC541-7B7A-43D3-8B79-37D633B846F1}">
                  <asvg:svgBlip xmlns:asvg="http://schemas.microsoft.com/office/drawing/2016/SVG/main" r:embed="R0a845248313644b6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88DF5F08-50A7-4588-BB5C-FC2A1E7F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1412" y="866775"/>
            <a:ext cx="9805176" cy="15005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2319"/>
              </a:lnSpc>
              <a:buNone/>
            </a:pPr>
            <a:r>
              <a:rPr sz="5000" b="1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</a:rPr>
              <a:t>Branch Visits</a:t>
            </a:r>
          </a:p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C7230F5E-BCA5-4062-8AAD-BE3D7E65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4161100" y="-1059901"/>
            <a:ext cx="3433539" cy="5049322"/>
          </a:xfrm>
          <a:custGeom xmlns:a="http://schemas.openxmlformats.org/drawingml/2006/main">
            <a:rect l="l" t="t" r="r" b="b"/>
            <a:pathLst>
              <a:path w="3433539" h="5049322">
                <a:moveTo>
                  <a:pt x="0" y="0"/>
                </a:moveTo>
                <a:lnTo>
                  <a:pt x="3433538" y="0"/>
                </a:lnTo>
                <a:lnTo>
                  <a:pt x="3433538" y="5049321"/>
                </a:lnTo>
                <a:lnTo>
                  <a:pt x="0" y="504932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9232e640c5644fa">
              <a:extLst>
                <a:ext uri="{96DAC541-7B7A-43D3-8B79-37D633B846F1}">
                  <asvg:svgBlip xmlns:asvg="http://schemas.microsoft.com/office/drawing/2016/SVG/main" r:embed="R5872c1e874be41b9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74874B2E-786E-4E9A-B2E0-93A883D4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82574" flipH="0" flipV="0">
            <a:off x="-4584740" y="1698782"/>
            <a:ext cx="7195419" cy="7615511"/>
          </a:xfrm>
          <a:custGeom xmlns:a="http://schemas.openxmlformats.org/drawingml/2006/main">
            <a:rect l="l" t="t" r="r" b="b"/>
            <a:pathLst>
              <a:path w="7195419" h="7615511">
                <a:moveTo>
                  <a:pt x="0" y="0"/>
                </a:moveTo>
                <a:lnTo>
                  <a:pt x="7195419" y="0"/>
                </a:lnTo>
                <a:lnTo>
                  <a:pt x="7195419" y="7615511"/>
                </a:lnTo>
                <a:lnTo>
                  <a:pt x="0" y="761551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fe8c5a2d6794a00">
              <a:alphaModFix amt="25000"/>
              <a:extLst>
                <a:ext uri="{96DAC541-7B7A-43D3-8B79-37D633B846F1}">
                  <asvg:svgBlip xmlns:asvg="http://schemas.microsoft.com/office/drawing/2016/SVG/main" r:embed="R0a845248313644b6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C8AA253B-F9EF-49A4-947E-869BE02A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272803" y="5351007"/>
            <a:ext cx="3559625" cy="5234743"/>
          </a:xfrm>
          <a:custGeom xmlns:a="http://schemas.openxmlformats.org/drawingml/2006/main">
            <a:rect l="l" t="t" r="r" b="b"/>
            <a:pathLst>
              <a:path w="3559625" h="5234743">
                <a:moveTo>
                  <a:pt x="3559626" y="0"/>
                </a:moveTo>
                <a:lnTo>
                  <a:pt x="0" y="0"/>
                </a:lnTo>
                <a:lnTo>
                  <a:pt x="0" y="5234744"/>
                </a:lnTo>
                <a:lnTo>
                  <a:pt x="3559626" y="5234744"/>
                </a:lnTo>
                <a:lnTo>
                  <a:pt x="3559626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9232e640c5644fa">
              <a:extLst>
                <a:ext uri="{96DAC541-7B7A-43D3-8B79-37D633B846F1}">
                  <asvg:svgBlip xmlns:asvg="http://schemas.microsoft.com/office/drawing/2016/SVG/main" r:embed="R5872c1e874be41b9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21E16BAC-3820-4F61-91E2-E18EB2EF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5483" y="2976680"/>
            <a:ext cx="6261835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199"/>
              </a:lnSpc>
              <a:buNone/>
            </a:pPr>
            <a:r>
              <a:rPr sz="2999" b="1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</a:rPr>
              <a:t>What I Did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F3FAD1E5-E0B1-4A58-A03A-EBD42D11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35346" y="2976680"/>
            <a:ext cx="6261835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199"/>
              </a:lnSpc>
              <a:buNone/>
            </a:pPr>
            <a:r>
              <a:rPr sz="2999" b="1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</a:rPr>
              <a:t>What I Found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4ECB8DE7-2492-4AC8-BB7F-2F3907C0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63769" y="3709306"/>
            <a:ext cx="6342025" cy="39897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20"/>
              </a:lnSpc>
              <a:buNone/>
            </a:pPr>
            <a:r>
              <a:rPr sz="2300">
                <a:solidFill>
                  <a:srgbClr val="042147"/>
                </a:solidFill>
                <a:latin typeface="DM Sans"/>
                <a:ea typeface="DM Sans"/>
                <a:cs typeface="DM Sans"/>
              </a:rPr>
              <a:t>Visited 27 branches and Regional Office departments, including Retail Loans and Currency Chest, to collect responses for the training-effectiveness questionnaire.</a:t>
            </a:r>
            <a:r>
              <a:rPr sz="2300">
                <a:solidFill>
                  <a:srgbClr val="042147"/>
                </a:solidFill>
                <a:latin typeface="DM Sans"/>
                <a:ea typeface="DM Sans"/>
                <a:cs typeface="DM Sans"/>
              </a:rPr>
              <a:t/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DB64ABBB-7975-4958-80B1-D7B61D75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82205" y="3709306"/>
            <a:ext cx="6342025" cy="39897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20"/>
              </a:lnSpc>
              <a:buNone/>
            </a:pPr>
            <a:r>
              <a:rPr sz="2300">
                <a:solidFill>
                  <a:srgbClr val="042147"/>
                </a:solidFill>
                <a:latin typeface="DM Sans"/>
                <a:ea typeface="DM Sans"/>
                <a:cs typeface="DM Sans"/>
              </a:rPr>
              <a:t>Triplicane 2 had two officers and one cashier, which limited available time for training. Employees compared classroom, online and live-streamed learning and their use at work.</a:t>
            </a:r>
            <a:r>
              <a:rPr sz="2300">
                <a:solidFill>
                  <a:srgbClr val="042147"/>
                </a:solidFill>
                <a:latin typeface="DM Sans"/>
                <a:ea typeface="DM Sans"/>
                <a:cs typeface="DM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8028135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A6CF1F75-E69F-4FAA-9011-98E7AE2C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51738" flipH="0" flipV="0">
            <a:off x="-474655" y="6127027"/>
            <a:ext cx="19237310" cy="7310178"/>
          </a:xfrm>
          <a:custGeom xmlns:a="http://schemas.openxmlformats.org/drawingml/2006/main">
            <a:rect l="l" t="t" r="r" b="b"/>
            <a:pathLst>
              <a:path w="19237310" h="7310178">
                <a:moveTo>
                  <a:pt x="0" y="0"/>
                </a:moveTo>
                <a:lnTo>
                  <a:pt x="19237310" y="0"/>
                </a:lnTo>
                <a:lnTo>
                  <a:pt x="19237310" y="7310177"/>
                </a:lnTo>
                <a:lnTo>
                  <a:pt x="0" y="731017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e094924019d4e1d">
              <a:extLst>
                <a:ext uri="{96DAC541-7B7A-43D3-8B79-37D633B846F1}">
                  <asvg:svgBlip xmlns:asvg="http://schemas.microsoft.com/office/drawing/2016/SVG/main" r:embed="Rcb64ca25515f45b7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FDB35633-696A-48E1-AB7E-E0EB3533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918093" flipH="0" flipV="0">
            <a:off x="12198120" y="-2779055"/>
            <a:ext cx="7195419" cy="7615511"/>
          </a:xfrm>
          <a:custGeom xmlns:a="http://schemas.openxmlformats.org/drawingml/2006/main">
            <a:rect l="l" t="t" r="r" b="b"/>
            <a:pathLst>
              <a:path w="7195419" h="7615511">
                <a:moveTo>
                  <a:pt x="0" y="0"/>
                </a:moveTo>
                <a:lnTo>
                  <a:pt x="7195419" y="0"/>
                </a:lnTo>
                <a:lnTo>
                  <a:pt x="7195419" y="7615510"/>
                </a:lnTo>
                <a:lnTo>
                  <a:pt x="0" y="761551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224160517a44292">
              <a:alphaModFix amt="25000"/>
              <a:extLst>
                <a:ext uri="{96DAC541-7B7A-43D3-8B79-37D633B846F1}">
                  <asvg:svgBlip xmlns:asvg="http://schemas.microsoft.com/office/drawing/2016/SVG/main" r:embed="R927bcba4bf494266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659E17C1-AB6F-4A6A-A547-440DEBDA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1412" y="866775"/>
            <a:ext cx="9805176" cy="15005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2319"/>
              </a:lnSpc>
              <a:buNone/>
            </a:pPr>
            <a:r>
              <a:rPr sz="5000" b="1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</a:rPr>
              <a:t>Change Management</a:t>
            </a: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DFB7AAF3-39D7-48E9-BD4E-2577D3C3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82574" flipH="0" flipV="0">
            <a:off x="-5134247" y="-2342996"/>
            <a:ext cx="7195419" cy="7615511"/>
          </a:xfrm>
          <a:custGeom xmlns:a="http://schemas.openxmlformats.org/drawingml/2006/main">
            <a:rect l="l" t="t" r="r" b="b"/>
            <a:pathLst>
              <a:path w="7195419" h="7615511">
                <a:moveTo>
                  <a:pt x="0" y="0"/>
                </a:moveTo>
                <a:lnTo>
                  <a:pt x="7195419" y="0"/>
                </a:lnTo>
                <a:lnTo>
                  <a:pt x="7195419" y="7615511"/>
                </a:lnTo>
                <a:lnTo>
                  <a:pt x="0" y="761551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224160517a44292">
              <a:alphaModFix amt="25000"/>
              <a:extLst>
                <a:ext uri="{96DAC541-7B7A-43D3-8B79-37D633B846F1}">
                  <asvg:svgBlip xmlns:asvg="http://schemas.microsoft.com/office/drawing/2016/SVG/main" r:embed="R927bcba4bf494266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26666362-A4C3-434E-A109-66B98081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6815" y="2986205"/>
            <a:ext cx="5465474" cy="51898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20"/>
              </a:lnSpc>
              <a:buNone/>
            </a:pPr>
            <a:r>
              <a:rPr sz="2300">
                <a:solidFill>
                  <a:srgbClr val="042147"/>
                </a:solidFill>
                <a:latin typeface="DM Sans"/>
                <a:ea typeface="DM Sans"/>
                <a:cs typeface="DM Sans"/>
              </a:rPr>
              <a:t>The Merger: Andhra Bank and Corporation Bank amalgamated with Union Bank of India, bringing employees from different legacy systems together.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1F4600E3-B40E-472B-BE24-478BED90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039" y="2976680"/>
            <a:ext cx="4013913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199"/>
              </a:lnSpc>
              <a:buNone/>
            </a:pPr>
            <a:r>
              <a:rPr sz="2999" b="1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</a:rPr>
              <a:t>SOP Adoption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D9216BA7-5EF6-41F9-AC72-599258D5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039" y="3708874"/>
            <a:ext cx="7665568" cy="12268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20"/>
              </a:lnSpc>
              <a:buNone/>
            </a:pPr>
            <a:r>
              <a:rPr sz="2300">
                <a:solidFill>
                  <a:srgbClr val="042147"/>
                </a:solidFill>
                <a:latin typeface="DM Sans"/>
                <a:ea typeface="DM Sans"/>
                <a:cs typeface="DM Sans"/>
              </a:rPr>
              <a:t>Staff described adapting to common Standard Operating Procedures for documentation, authorisation levels and customer service.</a:t>
            </a:r>
            <a:r>
              <a:rPr sz="2300">
                <a:solidFill>
                  <a:srgbClr val="042147"/>
                </a:solidFill>
                <a:latin typeface="DM Sans"/>
                <a:ea typeface="DM Sans"/>
                <a:cs typeface="DM Sans"/>
              </a:rPr>
              <a:t/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8F8C2BB1-140E-48FA-89F8-BF2CD922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039" y="5420199"/>
            <a:ext cx="4013913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199"/>
              </a:lnSpc>
              <a:buNone/>
            </a:pPr>
            <a:r>
              <a:rPr sz="2999" b="1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</a:rPr>
              <a:t>Ongoing Training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3E86002-0BBA-44F1-BA01-ED0F0B7E8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039" y="6152394"/>
            <a:ext cx="7665568" cy="11893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20"/>
              </a:lnSpc>
              <a:buNone/>
            </a:pPr>
            <a:r>
              <a:rPr sz="2300">
                <a:solidFill>
                  <a:srgbClr val="042147"/>
                </a:solidFill>
                <a:latin typeface="DM Sans"/>
                <a:ea typeface="DM Sans"/>
                <a:cs typeface="DM Sans"/>
              </a:rPr>
              <a:t>Staff described ongoing training as important for adapting to the merged systems.</a:t>
            </a:r>
            <a:r>
              <a:rPr sz="2300">
                <a:solidFill>
                  <a:srgbClr val="042147"/>
                </a:solidFill>
                <a:latin typeface="DM Sans"/>
                <a:ea typeface="DM Sans"/>
                <a:cs typeface="DM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10598779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9E084F90-503B-49B2-AE79-83DA5D67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918093" flipH="0" flipV="0">
            <a:off x="15382268" y="-1274821"/>
            <a:ext cx="7195419" cy="7615511"/>
          </a:xfrm>
          <a:custGeom xmlns:a="http://schemas.openxmlformats.org/drawingml/2006/main">
            <a:rect l="l" t="t" r="r" b="b"/>
            <a:pathLst>
              <a:path w="7195419" h="7615511">
                <a:moveTo>
                  <a:pt x="0" y="0"/>
                </a:moveTo>
                <a:lnTo>
                  <a:pt x="7195419" y="0"/>
                </a:lnTo>
                <a:lnTo>
                  <a:pt x="7195419" y="7615511"/>
                </a:lnTo>
                <a:lnTo>
                  <a:pt x="0" y="761551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d920ed80e4d48ce">
              <a:alphaModFix amt="25000"/>
              <a:extLst>
                <a:ext uri="{96DAC541-7B7A-43D3-8B79-37D633B846F1}">
                  <asvg:svgBlip xmlns:asvg="http://schemas.microsoft.com/office/drawing/2016/SVG/main" r:embed="Rc285ee84acbe43f1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BCC67208-25CC-4797-9A81-FEF80BE8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1412" y="914400"/>
            <a:ext cx="9805176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8400"/>
              </a:lnSpc>
              <a:buNone/>
            </a:pPr>
            <a:r>
              <a:rPr sz="6000" b="1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</a:rPr>
              <a:t>Key Learnings</a:t>
            </a:r>
          </a:p>
          <a:p xmlns:a="http://schemas.openxmlformats.org/drawingml/2006/main">
            <a:pPr algn="ctr">
              <a:lnSpc>
                <a:spcPts val="8400"/>
              </a:lnSpc>
              <a:buNone/>
            </a:pPr>
          </a:p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1ABF379D-B97D-4A99-8937-58FC1E9C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82574" flipH="0" flipV="0">
            <a:off x="-3784431" y="3582319"/>
            <a:ext cx="7195419" cy="7615511"/>
          </a:xfrm>
          <a:custGeom xmlns:a="http://schemas.openxmlformats.org/drawingml/2006/main">
            <a:rect l="l" t="t" r="r" b="b"/>
            <a:pathLst>
              <a:path w="7195419" h="7615511">
                <a:moveTo>
                  <a:pt x="0" y="0"/>
                </a:moveTo>
                <a:lnTo>
                  <a:pt x="7195419" y="0"/>
                </a:lnTo>
                <a:lnTo>
                  <a:pt x="7195419" y="7615511"/>
                </a:lnTo>
                <a:lnTo>
                  <a:pt x="0" y="761551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d920ed80e4d48ce">
              <a:alphaModFix amt="25000"/>
              <a:extLst>
                <a:ext uri="{96DAC541-7B7A-43D3-8B79-37D633B846F1}">
                  <asvg:svgBlip xmlns:asvg="http://schemas.microsoft.com/office/drawing/2016/SVG/main" r:embed="Rc285ee84acbe43f1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19C09B45-48EF-47B4-A2D6-0A7ED1DE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31174" y="7270421"/>
            <a:ext cx="5458016" cy="3234380"/>
          </a:xfrm>
          <a:custGeom xmlns:a="http://schemas.openxmlformats.org/drawingml/2006/main">
            <a:rect l="l" t="t" r="r" b="b"/>
            <a:pathLst>
              <a:path w="5458016" h="3234380">
                <a:moveTo>
                  <a:pt x="0" y="0"/>
                </a:moveTo>
                <a:lnTo>
                  <a:pt x="5458016" y="0"/>
                </a:lnTo>
                <a:lnTo>
                  <a:pt x="5458016" y="3234379"/>
                </a:lnTo>
                <a:lnTo>
                  <a:pt x="0" y="32343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61fb7dc0cef4b1f">
              <a:extLst>
                <a:ext uri="{96DAC541-7B7A-43D3-8B79-37D633B846F1}">
                  <asvg:svgBlip xmlns:asvg="http://schemas.microsoft.com/office/drawing/2016/SVG/main" r:embed="Rb8ddff1238034e05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CC6185B4-B5F7-47D2-851E-21118ED8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5579570" y="-717218"/>
            <a:ext cx="2708858" cy="3110380"/>
          </a:xfrm>
          <a:custGeom xmlns:a="http://schemas.openxmlformats.org/drawingml/2006/main">
            <a:rect l="l" t="t" r="r" b="b"/>
            <a:pathLst>
              <a:path w="2708858" h="3110380">
                <a:moveTo>
                  <a:pt x="0" y="0"/>
                </a:moveTo>
                <a:lnTo>
                  <a:pt x="2708859" y="0"/>
                </a:lnTo>
                <a:lnTo>
                  <a:pt x="2708859" y="3110380"/>
                </a:lnTo>
                <a:lnTo>
                  <a:pt x="0" y="311038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818a6b2c8d44802">
              <a:extLst>
                <a:ext uri="{96DAC541-7B7A-43D3-8B79-37D633B846F1}">
                  <asvg:svgBlip xmlns:asvg="http://schemas.microsoft.com/office/drawing/2016/SVG/main" r:embed="Re561b7c63d7042e6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2245F174-1549-42D5-A41F-AB342ED0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736" y="-2984879"/>
            <a:ext cx="1543050" cy="6739091"/>
          </a:xfrm>
          <a:custGeom xmlns:a="http://schemas.openxmlformats.org/drawingml/2006/main">
            <a:rect l="l" t="t" r="r" b="b"/>
            <a:pathLst>
              <a:path w="406400" h="1774905">
                <a:moveTo>
                  <a:pt x="203200" y="0"/>
                </a:moveTo>
                <a:lnTo>
                  <a:pt x="406400" y="0"/>
                </a:lnTo>
                <a:lnTo>
                  <a:pt x="203200" y="1774905"/>
                </a:lnTo>
                <a:lnTo>
                  <a:pt x="0" y="1774905"/>
                </a:lnTo>
                <a:lnTo>
                  <a:pt x="203200" y="0"/>
                </a:lnTo>
                <a:close/>
              </a:path>
            </a:pathLst>
          </a:custGeom>
          <a:solidFill xmlns:a="http://schemas.openxmlformats.org/drawingml/2006/main">
            <a:srgbClr val="E61E26"/>
          </a:solid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516C3AA6-D732-4CAD-883A-F8BBA4A7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8498" y="-3165705"/>
            <a:ext cx="771525" cy="69199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276"/>
              </a:lnSpc>
              <a:buNone/>
            </a:pP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C0D32878-B2EC-483A-A18E-77415E3C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438456" y="-3369546"/>
            <a:ext cx="1543050" cy="6739091"/>
          </a:xfrm>
          <a:custGeom xmlns:a="http://schemas.openxmlformats.org/drawingml/2006/main">
            <a:rect l="l" t="t" r="r" b="b"/>
            <a:pathLst>
              <a:path w="406400" h="1774905">
                <a:moveTo>
                  <a:pt x="203200" y="0"/>
                </a:moveTo>
                <a:lnTo>
                  <a:pt x="406400" y="0"/>
                </a:lnTo>
                <a:lnTo>
                  <a:pt x="203200" y="1774905"/>
                </a:lnTo>
                <a:lnTo>
                  <a:pt x="0" y="1774905"/>
                </a:lnTo>
                <a:lnTo>
                  <a:pt x="203200" y="0"/>
                </a:lnTo>
                <a:close/>
              </a:path>
            </a:pathLst>
          </a:custGeom>
          <a:solidFill xmlns:a="http://schemas.openxmlformats.org/drawingml/2006/main">
            <a:srgbClr val="00497E"/>
          </a:solid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B77DE3DA-C342-4A92-8E2E-BF1FA2B9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52694" y="-3550372"/>
            <a:ext cx="771525" cy="69199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276"/>
              </a:lnSpc>
              <a:buNone/>
            </a:pP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57791C-9AAF-44EA-B0AF-FA7C2136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095625"/>
            <a:ext cx="1381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07315D"/>
                </a:solidFill>
                <a:latin typeface="DM Sans"/>
                <a:ea typeface="DM Sans"/>
                <a:cs typeface="DM Sans"/>
              </a:defRPr>
            </a:pPr>
            <a:r>
              <a:rPr sz="1950">
                <a:solidFill>
                  <a:srgbClr val="07315D"/>
                </a:solidFill>
                <a:latin typeface="DM Sans"/>
                <a:ea typeface="DM Sans"/>
                <a:cs typeface="DM Sans"/>
              </a:rPr>
              <a:t>• HR functions cover welfare, leave, transfers, training, internal communication and industrial relations.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9CB8A4-481F-42A6-AD75-CE862E86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914775"/>
            <a:ext cx="1381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07315D"/>
                </a:solidFill>
                <a:latin typeface="DM Sans"/>
                <a:ea typeface="DM Sans"/>
                <a:cs typeface="DM Sans"/>
              </a:defRPr>
            </a:pPr>
            <a:r>
              <a:rPr sz="1950">
                <a:solidFill>
                  <a:srgbClr val="07315D"/>
                </a:solidFill>
                <a:latin typeface="DM Sans"/>
                <a:ea typeface="DM Sans"/>
                <a:cs typeface="DM Sans"/>
              </a:rPr>
              <a:t>• Confidentiality and controlled access protect employee records.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EB433C-58F5-4251-AE2D-6A9F5C35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733925"/>
            <a:ext cx="1381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07315D"/>
                </a:solidFill>
                <a:latin typeface="DM Sans"/>
                <a:ea typeface="DM Sans"/>
                <a:cs typeface="DM Sans"/>
              </a:defRPr>
            </a:pPr>
            <a:r>
              <a:rPr sz="1950">
                <a:solidFill>
                  <a:srgbClr val="07315D"/>
                </a:solidFill>
                <a:latin typeface="DM Sans"/>
                <a:ea typeface="DM Sans"/>
                <a:cs typeface="DM Sans"/>
              </a:rPr>
              <a:t>• Staffing and branch workload shape training participation.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F40FD3-E320-42B5-B8FE-8B15BCA7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553075"/>
            <a:ext cx="1381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07315D"/>
                </a:solidFill>
                <a:latin typeface="DM Sans"/>
                <a:ea typeface="DM Sans"/>
                <a:cs typeface="DM Sans"/>
              </a:defRPr>
            </a:pPr>
            <a:r>
              <a:rPr sz="1950">
                <a:solidFill>
                  <a:srgbClr val="07315D"/>
                </a:solidFill>
                <a:latin typeface="DM Sans"/>
                <a:ea typeface="DM Sans"/>
                <a:cs typeface="DM Sans"/>
              </a:rPr>
              <a:t>• Hybrid learning works best when matched to branch operating conditions.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9B74C1-6D44-43B0-A58F-E3A1FF20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6372225"/>
            <a:ext cx="1381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07315D"/>
                </a:solidFill>
                <a:latin typeface="DM Sans"/>
                <a:ea typeface="DM Sans"/>
                <a:cs typeface="DM Sans"/>
              </a:defRPr>
            </a:pPr>
            <a:r>
              <a:rPr sz="1950">
                <a:solidFill>
                  <a:srgbClr val="07315D"/>
                </a:solidFill>
                <a:latin typeface="DM Sans"/>
                <a:ea typeface="DM Sans"/>
                <a:cs typeface="DM Sans"/>
              </a:rPr>
              <a:t>• The internship strengthened professional communication, research ethics and respectful data collection.</a:t>
            </a:r>
          </a:p>
        </p:txBody>
      </p:sp>
    </p:spTree>
    <p:extLst>
      <p:ext uri="{BB962C8B-B14F-4D97-AF65-F5344CB8AC3E}">
        <p14:creationId xmlns:p14="http://schemas.microsoft.com/office/powerpoint/2010/main" val="72176377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E53D4320-1324-4109-A2AC-7C9EFD78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 flipH="0" flipV="0">
            <a:off x="13376033" y="6763973"/>
            <a:ext cx="7195419" cy="7615511"/>
          </a:xfrm>
          <a:custGeom xmlns:a="http://schemas.openxmlformats.org/drawingml/2006/main">
            <a:rect l="l" t="t" r="r" b="b"/>
            <a:pathLst>
              <a:path w="7195419" h="7615511">
                <a:moveTo>
                  <a:pt x="0" y="0"/>
                </a:moveTo>
                <a:lnTo>
                  <a:pt x="7195419" y="0"/>
                </a:lnTo>
                <a:lnTo>
                  <a:pt x="7195419" y="7615511"/>
                </a:lnTo>
                <a:lnTo>
                  <a:pt x="0" y="761551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bc5eebd993a43ce">
              <a:alphaModFix amt="25000"/>
              <a:extLst>
                <a:ext uri="{96DAC541-7B7A-43D3-8B79-37D633B846F1}">
                  <asvg:svgBlip xmlns:asvg="http://schemas.microsoft.com/office/drawing/2016/SVG/main" r:embed="Ref30e10dba004978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C85DDEE7-2ADB-46D1-B6B0-3AA39B7D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918093" flipH="0" flipV="0">
            <a:off x="13241272" y="-5249286"/>
            <a:ext cx="7195419" cy="7615511"/>
          </a:xfrm>
          <a:custGeom xmlns:a="http://schemas.openxmlformats.org/drawingml/2006/main">
            <a:rect l="l" t="t" r="r" b="b"/>
            <a:pathLst>
              <a:path w="7195419" h="7615511">
                <a:moveTo>
                  <a:pt x="0" y="0"/>
                </a:moveTo>
                <a:lnTo>
                  <a:pt x="7195419" y="0"/>
                </a:lnTo>
                <a:lnTo>
                  <a:pt x="7195419" y="7615510"/>
                </a:lnTo>
                <a:lnTo>
                  <a:pt x="0" y="761551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bc5eebd993a43ce">
              <a:alphaModFix amt="25000"/>
              <a:extLst>
                <a:ext uri="{96DAC541-7B7A-43D3-8B79-37D633B846F1}">
                  <asvg:svgBlip xmlns:asvg="http://schemas.microsoft.com/office/drawing/2016/SVG/main" r:embed="Ref30e10dba004978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3B8F2254-8442-4E7B-92FB-1191E077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034410" flipH="0" flipV="0">
            <a:off x="1361661" y="9448173"/>
            <a:ext cx="4423024" cy="4114800"/>
          </a:xfrm>
          <a:custGeom xmlns:a="http://schemas.openxmlformats.org/drawingml/2006/main">
            <a:rect l="l" t="t" r="r" b="b"/>
            <a:pathLst>
              <a:path w="5897366" h="5486400">
                <a:moveTo>
                  <a:pt x="0" y="0"/>
                </a:moveTo>
                <a:lnTo>
                  <a:pt x="5897366" y="0"/>
                </a:lnTo>
                <a:lnTo>
                  <a:pt x="5897366" y="5486400"/>
                </a:lnTo>
                <a:lnTo>
                  <a:pt x="0" y="54864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77a8f04b98a4ec3">
              <a:extLst>
                <a:ext uri="{96DAC541-7B7A-43D3-8B79-37D633B846F1}">
                  <asvg:svgBlip xmlns:asvg="http://schemas.microsoft.com/office/drawing/2016/SVG/main" r:embed="R41341725ae9e45d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2CD4E5EC-1A75-426D-A92C-863330D5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758324" flipH="0" flipV="0">
            <a:off x="6142566" y="7119963"/>
            <a:ext cx="4423024" cy="4114800"/>
          </a:xfrm>
          <a:custGeom xmlns:a="http://schemas.openxmlformats.org/drawingml/2006/main">
            <a:rect l="l" t="t" r="r" b="b"/>
            <a:pathLst>
              <a:path w="5897366" h="5486400">
                <a:moveTo>
                  <a:pt x="0" y="0"/>
                </a:moveTo>
                <a:lnTo>
                  <a:pt x="5897366" y="0"/>
                </a:lnTo>
                <a:lnTo>
                  <a:pt x="5897366" y="5486400"/>
                </a:lnTo>
                <a:lnTo>
                  <a:pt x="0" y="54864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77a8f04b98a4ec3">
              <a:extLst>
                <a:ext uri="{96DAC541-7B7A-43D3-8B79-37D633B846F1}">
                  <asvg:svgBlip xmlns:asvg="http://schemas.microsoft.com/office/drawing/2016/SVG/main" r:embed="R41341725ae9e45d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EE707D82-E0AF-4707-AC14-50AE6CF3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22178" flipH="0" flipV="0">
            <a:off x="10395646" y="3881364"/>
            <a:ext cx="4423024" cy="4114800"/>
          </a:xfrm>
          <a:custGeom xmlns:a="http://schemas.openxmlformats.org/drawingml/2006/main">
            <a:rect l="l" t="t" r="r" b="b"/>
            <a:pathLst>
              <a:path w="5897366" h="5486400">
                <a:moveTo>
                  <a:pt x="0" y="0"/>
                </a:moveTo>
                <a:lnTo>
                  <a:pt x="5897367" y="0"/>
                </a:lnTo>
                <a:lnTo>
                  <a:pt x="5897367" y="5486400"/>
                </a:lnTo>
                <a:lnTo>
                  <a:pt x="0" y="54864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77a8f04b98a4ec3">
              <a:extLst>
                <a:ext uri="{96DAC541-7B7A-43D3-8B79-37D633B846F1}">
                  <asvg:svgBlip xmlns:asvg="http://schemas.microsoft.com/office/drawing/2016/SVG/main" r:embed="R41341725ae9e45d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A4009B57-040D-45CC-B91C-BF28268D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146091" flipH="0" flipV="0">
            <a:off x="13877716" y="-137692"/>
            <a:ext cx="4423024" cy="4114800"/>
          </a:xfrm>
          <a:custGeom xmlns:a="http://schemas.openxmlformats.org/drawingml/2006/main">
            <a:rect l="l" t="t" r="r" b="b"/>
            <a:pathLst>
              <a:path w="5897366" h="5486400">
                <a:moveTo>
                  <a:pt x="0" y="0"/>
                </a:moveTo>
                <a:lnTo>
                  <a:pt x="5897367" y="0"/>
                </a:lnTo>
                <a:lnTo>
                  <a:pt x="5897367" y="5486400"/>
                </a:lnTo>
                <a:lnTo>
                  <a:pt x="0" y="54864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77a8f04b98a4ec3">
              <a:extLst>
                <a:ext uri="{96DAC541-7B7A-43D3-8B79-37D633B846F1}">
                  <asvg:svgBlip xmlns:asvg="http://schemas.microsoft.com/office/drawing/2016/SVG/main" r:embed="R41341725ae9e45d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0308E5A8-6AE5-4893-A191-CF484A8E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33186" y="888298"/>
            <a:ext cx="13924129" cy="15005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2319"/>
              </a:lnSpc>
              <a:buNone/>
            </a:pPr>
            <a:r>
              <a:rPr sz="8799" b="1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</a:rPr>
              <a:t>Conclusion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BFDE76BC-29C7-48C8-B91E-66D2F091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07024" y="7669968"/>
            <a:ext cx="5337688" cy="2901761"/>
          </a:xfrm>
          <a:custGeom xmlns:a="http://schemas.openxmlformats.org/drawingml/2006/main">
            <a:rect l="l" t="t" r="r" b="b"/>
            <a:pathLst>
              <a:path w="5337688" h="2901761">
                <a:moveTo>
                  <a:pt x="0" y="0"/>
                </a:moveTo>
                <a:lnTo>
                  <a:pt x="5337688" y="0"/>
                </a:lnTo>
                <a:lnTo>
                  <a:pt x="5337688" y="2901761"/>
                </a:lnTo>
                <a:lnTo>
                  <a:pt x="0" y="290176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317c65b53a54ab1">
              <a:extLst>
                <a:ext uri="{96DAC541-7B7A-43D3-8B79-37D633B846F1}">
                  <asvg:svgBlip xmlns:asvg="http://schemas.microsoft.com/office/drawing/2016/SVG/main" r:embed="Ra2ef999cdf304ab7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08CF4FE4-6CFA-4568-8A16-CA91D9D5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31581" y="5408804"/>
            <a:ext cx="921113" cy="1498852"/>
          </a:xfrm>
          <a:custGeom xmlns:a="http://schemas.openxmlformats.org/drawingml/2006/main">
            <a:rect l="l" t="t" r="r" b="b"/>
            <a:pathLst>
              <a:path w="921113" h="1498852">
                <a:moveTo>
                  <a:pt x="0" y="0"/>
                </a:moveTo>
                <a:lnTo>
                  <a:pt x="921113" y="0"/>
                </a:lnTo>
                <a:lnTo>
                  <a:pt x="921113" y="1498852"/>
                </a:lnTo>
                <a:lnTo>
                  <a:pt x="0" y="149885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fdb9ecbf93d48a5">
              <a:extLst>
                <a:ext uri="{96DAC541-7B7A-43D3-8B79-37D633B846F1}">
                  <asvg:svgBlip xmlns:asvg="http://schemas.microsoft.com/office/drawing/2016/SVG/main" r:embed="Rad53116767f843f6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768D2A3B-1E2F-4173-A57D-B81568AE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2013" y="5566571"/>
            <a:ext cx="660249" cy="660249"/>
          </a:xfrm>
          <a:custGeom xmlns:a="http://schemas.openxmlformats.org/drawingml/2006/main">
            <a:rect l="l" t="t" r="r" b="b"/>
            <a:pathLst>
              <a:path w="660249" h="660249">
                <a:moveTo>
                  <a:pt x="0" y="0"/>
                </a:moveTo>
                <a:lnTo>
                  <a:pt x="660249" y="0"/>
                </a:lnTo>
                <a:lnTo>
                  <a:pt x="660249" y="660249"/>
                </a:lnTo>
                <a:lnTo>
                  <a:pt x="0" y="66024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78978d399334e9b">
              <a:extLst>
                <a:ext uri="{96DAC541-7B7A-43D3-8B79-37D633B846F1}">
                  <asvg:svgBlip xmlns:asvg="http://schemas.microsoft.com/office/drawing/2016/SVG/main" r:embed="R60e9fe70f3f64e72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3866D689-1C8D-4D35-A901-F036169E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4503" y="6697046"/>
            <a:ext cx="921113" cy="1498852"/>
          </a:xfrm>
          <a:custGeom xmlns:a="http://schemas.openxmlformats.org/drawingml/2006/main">
            <a:rect l="l" t="t" r="r" b="b"/>
            <a:pathLst>
              <a:path w="921113" h="1498852">
                <a:moveTo>
                  <a:pt x="0" y="0"/>
                </a:moveTo>
                <a:lnTo>
                  <a:pt x="921113" y="0"/>
                </a:lnTo>
                <a:lnTo>
                  <a:pt x="921113" y="1498853"/>
                </a:lnTo>
                <a:lnTo>
                  <a:pt x="0" y="149885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fdb9ecbf93d48a5">
              <a:extLst>
                <a:ext uri="{96DAC541-7B7A-43D3-8B79-37D633B846F1}">
                  <asvg:svgBlip xmlns:asvg="http://schemas.microsoft.com/office/drawing/2016/SVG/main" r:embed="Rad53116767f843f6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91CF0636-251D-4206-AF24-5B46B09B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28662" y="6828943"/>
            <a:ext cx="921113" cy="1498852"/>
          </a:xfrm>
          <a:custGeom xmlns:a="http://schemas.openxmlformats.org/drawingml/2006/main">
            <a:rect l="l" t="t" r="r" b="b"/>
            <a:pathLst>
              <a:path w="921113" h="1498852">
                <a:moveTo>
                  <a:pt x="0" y="0"/>
                </a:moveTo>
                <a:lnTo>
                  <a:pt x="921112" y="0"/>
                </a:lnTo>
                <a:lnTo>
                  <a:pt x="921112" y="1498852"/>
                </a:lnTo>
                <a:lnTo>
                  <a:pt x="0" y="149885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fdb9ecbf93d48a5">
              <a:extLst>
                <a:ext uri="{96DAC541-7B7A-43D3-8B79-37D633B846F1}">
                  <asvg:svgBlip xmlns:asvg="http://schemas.microsoft.com/office/drawing/2016/SVG/main" r:embed="Rad53116767f843f6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C82BC94B-03E0-4E11-AC37-A7F3AB12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495268" y="5948646"/>
            <a:ext cx="921113" cy="1498852"/>
          </a:xfrm>
          <a:custGeom xmlns:a="http://schemas.openxmlformats.org/drawingml/2006/main">
            <a:rect l="l" t="t" r="r" b="b"/>
            <a:pathLst>
              <a:path w="921113" h="1498852">
                <a:moveTo>
                  <a:pt x="0" y="0"/>
                </a:moveTo>
                <a:lnTo>
                  <a:pt x="921113" y="0"/>
                </a:lnTo>
                <a:lnTo>
                  <a:pt x="921113" y="1498852"/>
                </a:lnTo>
                <a:lnTo>
                  <a:pt x="0" y="149885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fdb9ecbf93d48a5">
              <a:extLst>
                <a:ext uri="{96DAC541-7B7A-43D3-8B79-37D633B846F1}">
                  <asvg:svgBlip xmlns:asvg="http://schemas.microsoft.com/office/drawing/2016/SVG/main" r:embed="Rad53116767f843f6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55E9E51B-F16E-4469-9D16-2A17726C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4935" y="6827917"/>
            <a:ext cx="660249" cy="660249"/>
          </a:xfrm>
          <a:custGeom xmlns:a="http://schemas.openxmlformats.org/drawingml/2006/main">
            <a:rect l="l" t="t" r="r" b="b"/>
            <a:pathLst>
              <a:path w="660249" h="660249">
                <a:moveTo>
                  <a:pt x="0" y="0"/>
                </a:moveTo>
                <a:lnTo>
                  <a:pt x="660249" y="0"/>
                </a:lnTo>
                <a:lnTo>
                  <a:pt x="660249" y="660249"/>
                </a:lnTo>
                <a:lnTo>
                  <a:pt x="0" y="66024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78978d399334e9b">
              <a:extLst>
                <a:ext uri="{96DAC541-7B7A-43D3-8B79-37D633B846F1}">
                  <asvg:svgBlip xmlns:asvg="http://schemas.microsoft.com/office/drawing/2016/SVG/main" r:embed="R60e9fe70f3f64e72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3256D28F-6E21-4108-99D6-3ADA3466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59094" y="6986002"/>
            <a:ext cx="660249" cy="660249"/>
          </a:xfrm>
          <a:custGeom xmlns:a="http://schemas.openxmlformats.org/drawingml/2006/main">
            <a:rect l="l" t="t" r="r" b="b"/>
            <a:pathLst>
              <a:path w="660249" h="660249">
                <a:moveTo>
                  <a:pt x="0" y="0"/>
                </a:moveTo>
                <a:lnTo>
                  <a:pt x="660248" y="0"/>
                </a:lnTo>
                <a:lnTo>
                  <a:pt x="660248" y="660249"/>
                </a:lnTo>
                <a:lnTo>
                  <a:pt x="0" y="66024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78978d399334e9b">
              <a:extLst>
                <a:ext uri="{96DAC541-7B7A-43D3-8B79-37D633B846F1}">
                  <asvg:svgBlip xmlns:asvg="http://schemas.microsoft.com/office/drawing/2016/SVG/main" r:embed="R60e9fe70f3f64e72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3CD57F10-6532-4E20-9D29-19E4ABEF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625701" y="6079517"/>
            <a:ext cx="660249" cy="660249"/>
          </a:xfrm>
          <a:custGeom xmlns:a="http://schemas.openxmlformats.org/drawingml/2006/main">
            <a:rect l="l" t="t" r="r" b="b"/>
            <a:pathLst>
              <a:path w="660249" h="660249">
                <a:moveTo>
                  <a:pt x="0" y="0"/>
                </a:moveTo>
                <a:lnTo>
                  <a:pt x="660248" y="0"/>
                </a:lnTo>
                <a:lnTo>
                  <a:pt x="660248" y="660248"/>
                </a:lnTo>
                <a:lnTo>
                  <a:pt x="0" y="66024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78978d399334e9b">
              <a:extLst>
                <a:ext uri="{96DAC541-7B7A-43D3-8B79-37D633B846F1}">
                  <asvg:svgBlip xmlns:asvg="http://schemas.microsoft.com/office/drawing/2016/SVG/main" r:embed="R60e9fe70f3f64e72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BEBA38A1-EC0B-4095-A7C8-EA677881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59011" y="6906630"/>
            <a:ext cx="412096" cy="502822"/>
          </a:xfrm>
          <a:custGeom xmlns:a="http://schemas.openxmlformats.org/drawingml/2006/main">
            <a:rect l="l" t="t" r="r" b="b"/>
            <a:pathLst>
              <a:path w="412096" h="502822">
                <a:moveTo>
                  <a:pt x="0" y="0"/>
                </a:moveTo>
                <a:lnTo>
                  <a:pt x="412096" y="0"/>
                </a:lnTo>
                <a:lnTo>
                  <a:pt x="412096" y="502822"/>
                </a:lnTo>
                <a:lnTo>
                  <a:pt x="0" y="50282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d9b340702e54cfc">
              <a:extLst>
                <a:ext uri="{96DAC541-7B7A-43D3-8B79-37D633B846F1}">
                  <asvg:svgBlip xmlns:asvg="http://schemas.microsoft.com/office/drawing/2016/SVG/main" r:embed="R65eb5b581c0a4d3c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A1E52E1C-0510-41B4-8984-E649EC05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78524" y="7103889"/>
            <a:ext cx="421389" cy="424476"/>
          </a:xfrm>
          <a:custGeom xmlns:a="http://schemas.openxmlformats.org/drawingml/2006/main">
            <a:rect l="l" t="t" r="r" b="b"/>
            <a:pathLst>
              <a:path w="421389" h="424476">
                <a:moveTo>
                  <a:pt x="0" y="0"/>
                </a:moveTo>
                <a:lnTo>
                  <a:pt x="421388" y="0"/>
                </a:lnTo>
                <a:lnTo>
                  <a:pt x="421388" y="424476"/>
                </a:lnTo>
                <a:lnTo>
                  <a:pt x="0" y="42447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d14c73c9c29424f">
              <a:extLst>
                <a:ext uri="{96DAC541-7B7A-43D3-8B79-37D633B846F1}">
                  <asvg:svgBlip xmlns:asvg="http://schemas.microsoft.com/office/drawing/2016/SVG/main" r:embed="Rcf6b02541c594937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F0B1FF6E-23D3-4515-AAA8-19BC124C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93387" y="5599322"/>
            <a:ext cx="597501" cy="594748"/>
          </a:xfrm>
          <a:custGeom xmlns:a="http://schemas.openxmlformats.org/drawingml/2006/main">
            <a:rect l="l" t="t" r="r" b="b"/>
            <a:pathLst>
              <a:path w="597501" h="594748">
                <a:moveTo>
                  <a:pt x="0" y="0"/>
                </a:moveTo>
                <a:lnTo>
                  <a:pt x="597501" y="0"/>
                </a:lnTo>
                <a:lnTo>
                  <a:pt x="597501" y="594748"/>
                </a:lnTo>
                <a:lnTo>
                  <a:pt x="0" y="59474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7dcd14b92a244a8">
              <a:extLst>
                <a:ext uri="{96DAC541-7B7A-43D3-8B79-37D633B846F1}">
                  <asvg:svgBlip xmlns:asvg="http://schemas.microsoft.com/office/drawing/2016/SVG/main" r:embed="R2cbe9dc931fa45d2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8CDF1CE5-306E-4A67-B93B-F025BCD9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714161" y="6176765"/>
            <a:ext cx="483328" cy="465753"/>
          </a:xfrm>
          <a:custGeom xmlns:a="http://schemas.openxmlformats.org/drawingml/2006/main">
            <a:rect l="l" t="t" r="r" b="b"/>
            <a:pathLst>
              <a:path w="483328" h="465753">
                <a:moveTo>
                  <a:pt x="0" y="0"/>
                </a:moveTo>
                <a:lnTo>
                  <a:pt x="483328" y="0"/>
                </a:lnTo>
                <a:lnTo>
                  <a:pt x="483328" y="465752"/>
                </a:lnTo>
                <a:lnTo>
                  <a:pt x="0" y="46575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e600135158b420d">
              <a:extLst>
                <a:ext uri="{96DAC541-7B7A-43D3-8B79-37D633B846F1}">
                  <asvg:svgBlip xmlns:asvg="http://schemas.microsoft.com/office/drawing/2016/SVG/main" r:embed="Rbd085413d54d4494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FB18241-A96B-48C6-9F60-01940C90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67875" y="5905500"/>
            <a:ext cx="3429000" cy="4089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220"/>
              </a:lnSpc>
              <a:spcBef>
                <a:spcPct val="0"/>
              </a:spcBef>
              <a:buNone/>
            </a:pPr>
            <a:r>
              <a:rPr sz="2300">
                <a:solidFill>
                  <a:srgbClr val="042147"/>
                </a:solidFill>
                <a:latin typeface="DM Sans"/>
                <a:ea typeface="DM Sans"/>
                <a:cs typeface="DM Sans"/>
              </a:rPr>
              <a:t>Professional Growth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E58A46E8-EFB9-41EE-80AB-1C10B169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24375" y="5953125"/>
            <a:ext cx="3810000" cy="4089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220"/>
              </a:lnSpc>
              <a:spcBef>
                <a:spcPct val="0"/>
              </a:spcBef>
              <a:buNone/>
            </a:pPr>
            <a:r>
              <a:rPr sz="2300">
                <a:solidFill>
                  <a:srgbClr val="042147"/>
                </a:solidFill>
                <a:latin typeface="DM Sans"/>
                <a:ea typeface="DM Sans"/>
                <a:cs typeface="DM Sans"/>
              </a:rPr>
              <a:t>Operational Grounding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765F6CF1-E2F2-43ED-80EA-2A840552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35125" y="5191125"/>
            <a:ext cx="3143250" cy="4089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220"/>
              </a:lnSpc>
              <a:spcBef>
                <a:spcPct val="0"/>
              </a:spcBef>
              <a:buNone/>
            </a:pPr>
            <a:r>
              <a:rPr sz="2300">
                <a:solidFill>
                  <a:srgbClr val="042147"/>
                </a:solidFill>
                <a:latin typeface="DM Sans"/>
                <a:ea typeface="DM Sans"/>
                <a:cs typeface="DM Sans"/>
              </a:rPr>
              <a:t>Dissertation Value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38FC1F0B-84C5-47C1-8A9F-D6D5F90C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0250" y="4810125"/>
            <a:ext cx="2952750" cy="4089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220"/>
              </a:lnSpc>
              <a:spcBef>
                <a:spcPct val="0"/>
              </a:spcBef>
              <a:buNone/>
            </a:pPr>
            <a:r>
              <a:rPr sz="2300">
                <a:solidFill>
                  <a:srgbClr val="042147"/>
                </a:solidFill>
                <a:latin typeface="DM Sans"/>
                <a:ea typeface="DM Sans"/>
                <a:cs typeface="DM Sans"/>
              </a:rPr>
              <a:t>Theory to Practice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35E67FD0-74B9-42FF-B359-29434C94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6815" y="3010261"/>
            <a:ext cx="14457325" cy="11893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20"/>
              </a:lnSpc>
              <a:buNone/>
            </a:pPr>
            <a:r>
              <a:rPr sz="2300">
                <a:solidFill>
                  <a:srgbClr val="042147"/>
                </a:solidFill>
                <a:latin typeface="DM Sans"/>
                <a:ea typeface="DM Sans"/>
                <a:cs typeface="DM Sans"/>
              </a:rPr>
              <a:t>The internship connected classroom learning with practical HR administration, fieldwork and change management, directly informing the dissertation on Hybrid Learning and Training Effectiveness.</a:t>
            </a:r>
            <a:r>
              <a:rPr sz="2300">
                <a:solidFill>
                  <a:srgbClr val="042147"/>
                </a:solidFill>
                <a:latin typeface="DM Sans"/>
                <a:ea typeface="DM Sans"/>
                <a:cs typeface="DM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63149822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FCBE3C3F-6976-41C7-B8E1-C08CE02E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1412" y="2951702"/>
            <a:ext cx="9805176" cy="21399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7499"/>
              </a:lnSpc>
              <a:buNone/>
            </a:pPr>
            <a:r>
              <a:rPr sz="12499" b="1">
                <a:solidFill>
                  <a:srgbClr val="042147"/>
                </a:solidFill>
                <a:latin typeface="Cormorant Garamond Bold"/>
                <a:ea typeface="Cormorant Garamond Bold"/>
                <a:cs typeface="Cormorant Garamond Bold"/>
              </a:rPr>
              <a:t>Thank You</a:t>
            </a:r>
          </a:p>
        </p:txBody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8704EC77-F44B-4E76-814E-292EEA4F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918093" flipH="0" flipV="0">
            <a:off x="7207283" y="7457070"/>
            <a:ext cx="7195419" cy="7615511"/>
          </a:xfrm>
          <a:custGeom xmlns:a="http://schemas.openxmlformats.org/drawingml/2006/main">
            <a:rect l="l" t="t" r="r" b="b"/>
            <a:pathLst>
              <a:path w="7195419" h="7615511">
                <a:moveTo>
                  <a:pt x="0" y="0"/>
                </a:moveTo>
                <a:lnTo>
                  <a:pt x="7195419" y="0"/>
                </a:lnTo>
                <a:lnTo>
                  <a:pt x="7195419" y="7615511"/>
                </a:lnTo>
                <a:lnTo>
                  <a:pt x="0" y="761551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d79134dcdc74b1a">
              <a:alphaModFix amt="25000"/>
              <a:extLst>
                <a:ext uri="{96DAC541-7B7A-43D3-8B79-37D633B846F1}">
                  <asvg:svgBlip xmlns:asvg="http://schemas.microsoft.com/office/drawing/2016/SVG/main" r:embed="R0c4c56668da346f7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AEEC92DB-30B7-4E5B-8D42-178215C1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69372" y="6989550"/>
            <a:ext cx="7183644" cy="3905290"/>
          </a:xfrm>
          <a:custGeom xmlns:a="http://schemas.openxmlformats.org/drawingml/2006/main">
            <a:rect l="l" t="t" r="r" b="b"/>
            <a:pathLst>
              <a:path w="7183644" h="3905290">
                <a:moveTo>
                  <a:pt x="0" y="0"/>
                </a:moveTo>
                <a:lnTo>
                  <a:pt x="7183644" y="0"/>
                </a:lnTo>
                <a:lnTo>
                  <a:pt x="7183644" y="3905290"/>
                </a:lnTo>
                <a:lnTo>
                  <a:pt x="0" y="390529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11ba0238b0e40c2">
              <a:extLst>
                <a:ext uri="{96DAC541-7B7A-43D3-8B79-37D633B846F1}">
                  <asvg:svgBlip xmlns:asvg="http://schemas.microsoft.com/office/drawing/2016/SVG/main" r:embed="R4e3650b4be584514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E85437DB-B7C4-4119-B84E-12E60E38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1136304" y="3113782"/>
            <a:ext cx="10952735" cy="4162039"/>
          </a:xfrm>
          <a:custGeom xmlns:a="http://schemas.openxmlformats.org/drawingml/2006/main">
            <a:rect l="l" t="t" r="r" b="b"/>
            <a:pathLst>
              <a:path w="10952735" h="4162039">
                <a:moveTo>
                  <a:pt x="0" y="0"/>
                </a:moveTo>
                <a:lnTo>
                  <a:pt x="10952735" y="0"/>
                </a:lnTo>
                <a:lnTo>
                  <a:pt x="10952735" y="4162039"/>
                </a:lnTo>
                <a:lnTo>
                  <a:pt x="0" y="416203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6b27667d81f411e">
              <a:extLst>
                <a:ext uri="{96DAC541-7B7A-43D3-8B79-37D633B846F1}">
                  <asvg:svgBlip xmlns:asvg="http://schemas.microsoft.com/office/drawing/2016/SVG/main" r:embed="R1120172445dc4c4c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1588CD64-0180-45A5-B5FA-27815A05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4414" y="5029226"/>
            <a:ext cx="6699172" cy="105727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200"/>
              </a:lnSpc>
              <a:buNone/>
            </a:pPr>
            <a:r>
              <a:rPr sz="3000" i="1">
                <a:solidFill>
                  <a:srgbClr val="042147"/>
                </a:solidFill>
                <a:latin typeface="DM Sans Italics"/>
                <a:ea typeface="DM Sans Italics"/>
                <a:cs typeface="DM Sans Italics"/>
              </a:rPr>
              <a:t>Presented by Sreetama Ghosh Ray</a:t>
            </a:r>
          </a:p>
          <a:p xmlns:a="http://schemas.openxmlformats.org/drawingml/2006/main">
            <a:pPr algn="ctr">
              <a:lnSpc>
                <a:spcPts val="4200"/>
              </a:lnSpc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97574215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2026-09-27T18:34:35.1250000Z</dcterms:created>
  <dcterms:modified xsi:type="dcterms:W3CDTF">2026-09-27T18:34:35.1250000Z</dcterms:modified>
</coreProperties>
</file>